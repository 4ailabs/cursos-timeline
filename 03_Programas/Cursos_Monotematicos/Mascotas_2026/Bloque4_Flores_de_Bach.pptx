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2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9A85C"/>
          </a:solidFill>
          <a:ln w="12700">
            <a:solidFill>
              <a:srgbClr val="C9A85C"/>
            </a:solidFill>
            <a:prstDash val="solid"/>
          </a:ln>
        </p:spPr>
      </p:sp>
      <p:sp>
        <p:nvSpPr>
          <p:cNvPr id="3" name="Shape 1"/>
          <p:cNvSpPr/>
          <p:nvPr/>
        </p:nvSpPr>
        <p:spPr>
          <a:xfrm>
            <a:off x="128016" y="0"/>
            <a:ext cx="9015984" cy="64008"/>
          </a:xfrm>
          <a:prstGeom prst="rect">
            <a:avLst/>
          </a:prstGeom>
          <a:solidFill>
            <a:srgbClr val="6B9E78"/>
          </a:solidFill>
          <a:ln w="12700">
            <a:solidFill>
              <a:srgbClr val="6B9E78"/>
            </a:solidFill>
            <a:prstDash val="solid"/>
          </a:ln>
        </p:spPr>
      </p:sp>
      <p:pic>
        <p:nvPicPr>
          <p:cNvPr id="4" name="Image 0" descr="/sessions/focused-admiring-fermi/mnt/Mascotas_2026/Programa/logo centro.png">    </p:cNvPr>
          <p:cNvPicPr>
            <a:picLocks noChangeAspect="1"/>
          </p:cNvPicPr>
          <p:nvPr/>
        </p:nvPicPr>
        <p:blipFill>
          <a:blip r:embed="rId1"/>
          <a:stretch>
            <a:fillRect/>
          </a:stretch>
        </p:blipFill>
        <p:spPr>
          <a:xfrm>
            <a:off x="4114800" y="274320"/>
            <a:ext cx="914400" cy="914400"/>
          </a:xfrm>
          <a:prstGeom prst="rect">
            <a:avLst/>
          </a:prstGeom>
        </p:spPr>
      </p:pic>
      <p:sp>
        <p:nvSpPr>
          <p:cNvPr id="5" name="Text 2"/>
          <p:cNvSpPr/>
          <p:nvPr/>
        </p:nvSpPr>
        <p:spPr>
          <a:xfrm>
            <a:off x="411480" y="1371600"/>
            <a:ext cx="8321040" cy="1554480"/>
          </a:xfrm>
          <a:prstGeom prst="rect">
            <a:avLst/>
          </a:prstGeom>
          <a:noFill/>
          <a:ln/>
        </p:spPr>
        <p:txBody>
          <a:bodyPr wrap="square" lIns="0" tIns="0" rIns="0" bIns="0" rtlCol="0" anchor="ctr"/>
          <a:lstStyle/>
          <a:p>
            <a:pPr algn="ctr" indent="0" marL="0">
              <a:buNone/>
            </a:pPr>
            <a:r>
              <a:rPr lang="en-US" sz="4600" b="1" dirty="0">
                <a:solidFill>
                  <a:srgbClr val="FFFFFF"/>
                </a:solidFill>
                <a:latin typeface="Georgia" pitchFamily="34" charset="0"/>
                <a:ea typeface="Georgia" pitchFamily="34" charset="-122"/>
                <a:cs typeface="Georgia" pitchFamily="34" charset="-120"/>
              </a:rPr>
              <a:t>Flores de Bach</a:t>
            </a:r>
            <a:endParaRPr lang="en-US" sz="4600" dirty="0"/>
          </a:p>
          <a:p>
            <a:pPr algn="ctr" indent="0" marL="0">
              <a:buNone/>
            </a:pPr>
            <a:r>
              <a:rPr lang="en-US" sz="4600" b="1" dirty="0">
                <a:solidFill>
                  <a:srgbClr val="FFFFFF"/>
                </a:solidFill>
                <a:latin typeface="Georgia" pitchFamily="34" charset="0"/>
                <a:ea typeface="Georgia" pitchFamily="34" charset="-122"/>
                <a:cs typeface="Georgia" pitchFamily="34" charset="-120"/>
              </a:rPr>
              <a:t>para Tu Mascota</a:t>
            </a:r>
            <a:endParaRPr lang="en-US" sz="4600" dirty="0"/>
          </a:p>
        </p:txBody>
      </p:sp>
      <p:sp>
        <p:nvSpPr>
          <p:cNvPr id="6" name="Text 3"/>
          <p:cNvSpPr/>
          <p:nvPr/>
        </p:nvSpPr>
        <p:spPr>
          <a:xfrm>
            <a:off x="411480" y="3063240"/>
            <a:ext cx="8321040" cy="411480"/>
          </a:xfrm>
          <a:prstGeom prst="rect">
            <a:avLst/>
          </a:prstGeom>
          <a:noFill/>
          <a:ln/>
        </p:spPr>
        <p:txBody>
          <a:bodyPr wrap="square" lIns="0" tIns="0" rIns="0" bIns="0" rtlCol="0" anchor="ctr"/>
          <a:lstStyle/>
          <a:p>
            <a:pPr algn="ctr" indent="0" marL="0">
              <a:buNone/>
            </a:pPr>
            <a:r>
              <a:rPr lang="en-US" sz="1700" dirty="0">
                <a:solidFill>
                  <a:srgbClr val="A8D5BA"/>
                </a:solidFill>
                <a:latin typeface="Calibri" pitchFamily="34" charset="0"/>
                <a:ea typeface="Calibri" pitchFamily="34" charset="-122"/>
                <a:cs typeface="Calibri" pitchFamily="34" charset="-120"/>
              </a:rPr>
              <a:t>Módulo 1  ·  Lo Que Tu Mascota Quiere Decirte</a:t>
            </a:r>
            <a:endParaRPr lang="en-US" sz="1700" dirty="0"/>
          </a:p>
        </p:txBody>
      </p:sp>
      <p:sp>
        <p:nvSpPr>
          <p:cNvPr id="7" name="Shape 4"/>
          <p:cNvSpPr/>
          <p:nvPr/>
        </p:nvSpPr>
        <p:spPr>
          <a:xfrm>
            <a:off x="3200400" y="3611880"/>
            <a:ext cx="2743200" cy="36576"/>
          </a:xfrm>
          <a:prstGeom prst="rect">
            <a:avLst/>
          </a:prstGeom>
          <a:solidFill>
            <a:srgbClr val="C9A85C"/>
          </a:solidFill>
          <a:ln w="12700">
            <a:solidFill>
              <a:srgbClr val="C9A85C"/>
            </a:solidFill>
            <a:prstDash val="solid"/>
          </a:ln>
        </p:spPr>
      </p:sp>
      <p:sp>
        <p:nvSpPr>
          <p:cNvPr id="8" name="Text 5"/>
          <p:cNvSpPr/>
          <p:nvPr/>
        </p:nvSpPr>
        <p:spPr>
          <a:xfrm>
            <a:off x="411480" y="3749040"/>
            <a:ext cx="832104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Instituto Centrobioenergetica</a:t>
            </a:r>
            <a:endParaRPr lang="en-US" sz="1400" dirty="0"/>
          </a:p>
        </p:txBody>
      </p:sp>
      <p:sp>
        <p:nvSpPr>
          <p:cNvPr id="9" name="Text 6"/>
          <p:cNvSpPr/>
          <p:nvPr/>
        </p:nvSpPr>
        <p:spPr>
          <a:xfrm>
            <a:off x="411480" y="4187952"/>
            <a:ext cx="8321040" cy="292608"/>
          </a:xfrm>
          <a:prstGeom prst="rect">
            <a:avLst/>
          </a:prstGeom>
          <a:noFill/>
          <a:ln/>
        </p:spPr>
        <p:txBody>
          <a:bodyPr wrap="square" lIns="0" tIns="0" rIns="0" bIns="0" rtlCol="0" anchor="ctr"/>
          <a:lstStyle/>
          <a:p>
            <a:pPr algn="ctr" indent="0" marL="0">
              <a:buNone/>
            </a:pPr>
            <a:r>
              <a:rPr lang="en-US" sz="1200" dirty="0">
                <a:solidFill>
                  <a:srgbClr val="A8D5BA"/>
                </a:solidFill>
                <a:latin typeface="Calibri" pitchFamily="34" charset="0"/>
                <a:ea typeface="Calibri" pitchFamily="34" charset="-122"/>
                <a:cs typeface="Calibri" pitchFamily="34" charset="-120"/>
              </a:rPr>
              <a:t>Dr. Miguel Ojeda Rios  ·  Viernes 27 de marzo 2026  ·  5:00 – 5:45 pm</a:t>
            </a:r>
            <a:endParaRPr lang="en-US" sz="1200" dirty="0"/>
          </a:p>
        </p:txBody>
      </p:sp>
      <p:sp>
        <p:nvSpPr>
          <p:cNvPr id="10" name="Shape 7"/>
          <p:cNvSpPr/>
          <p:nvPr/>
        </p:nvSpPr>
        <p:spPr>
          <a:xfrm>
            <a:off x="3749040" y="4617720"/>
            <a:ext cx="1645920" cy="402336"/>
          </a:xfrm>
          <a:prstGeom prst="rect">
            <a:avLst/>
          </a:prstGeom>
          <a:solidFill>
            <a:srgbClr val="C9A85C"/>
          </a:solidFill>
          <a:ln w="12700">
            <a:solidFill>
              <a:srgbClr val="C9A85C"/>
            </a:solidFill>
            <a:prstDash val="solid"/>
          </a:ln>
        </p:spPr>
      </p:sp>
      <p:sp>
        <p:nvSpPr>
          <p:cNvPr id="11" name="Text 8"/>
          <p:cNvSpPr/>
          <p:nvPr/>
        </p:nvSpPr>
        <p:spPr>
          <a:xfrm>
            <a:off x="3749040" y="4617720"/>
            <a:ext cx="1645920" cy="402336"/>
          </a:xfrm>
          <a:prstGeom prst="rect">
            <a:avLst/>
          </a:prstGeom>
          <a:noFill/>
          <a:ln/>
        </p:spPr>
        <p:txBody>
          <a:bodyPr wrap="square" lIns="0" tIns="0" rIns="0" bIns="0" rtlCol="0" anchor="ctr"/>
          <a:lstStyle/>
          <a:p>
            <a:pPr algn="ctr" indent="0" marL="0">
              <a:buNone/>
            </a:pPr>
            <a:r>
              <a:rPr lang="en-US" sz="1200" b="1" dirty="0">
                <a:solidFill>
                  <a:srgbClr val="1E3A2F"/>
                </a:solidFill>
                <a:latin typeface="Calibri" pitchFamily="34" charset="0"/>
                <a:ea typeface="Calibri" pitchFamily="34" charset="-122"/>
                <a:cs typeface="Calibri" pitchFamily="34" charset="-120"/>
              </a:rPr>
              <a:t>BLOQUE 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3A2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5C"/>
          </a:solidFill>
          <a:ln w="12700">
            <a:solidFill>
              <a:srgbClr val="C9A85C"/>
            </a:solidFill>
            <a:prstDash val="solid"/>
          </a:ln>
        </p:spPr>
      </p:sp>
      <p:sp>
        <p:nvSpPr>
          <p:cNvPr id="3" name="Shape 1"/>
          <p:cNvSpPr/>
          <p:nvPr/>
        </p:nvSpPr>
        <p:spPr>
          <a:xfrm>
            <a:off x="0" y="0"/>
            <a:ext cx="128016" cy="5143500"/>
          </a:xfrm>
          <a:prstGeom prst="rect">
            <a:avLst/>
          </a:prstGeom>
          <a:solidFill>
            <a:srgbClr val="C9A85C"/>
          </a:solidFill>
          <a:ln w="12700">
            <a:solidFill>
              <a:srgbClr val="C9A85C"/>
            </a:solidFill>
            <a:prstDash val="solid"/>
          </a:ln>
        </p:spPr>
      </p:sp>
      <p:pic>
        <p:nvPicPr>
          <p:cNvPr id="4" name="Image 0" descr="/sessions/focused-admiring-fermi/mnt/Mascotas_2026/Programa/logo centro.png">    </p:cNvPr>
          <p:cNvPicPr>
            <a:picLocks noChangeAspect="1"/>
          </p:cNvPicPr>
          <p:nvPr/>
        </p:nvPicPr>
        <p:blipFill>
          <a:blip r:embed="rId1"/>
          <a:stretch>
            <a:fillRect/>
          </a:stretch>
        </p:blipFill>
        <p:spPr>
          <a:xfrm>
            <a:off x="8485632" y="109728"/>
            <a:ext cx="347472" cy="347472"/>
          </a:xfrm>
          <a:prstGeom prst="rect">
            <a:avLst/>
          </a:prstGeom>
        </p:spPr>
      </p:pic>
      <p:sp>
        <p:nvSpPr>
          <p:cNvPr id="5" name="Shape 2"/>
          <p:cNvSpPr/>
          <p:nvPr/>
        </p:nvSpPr>
        <p:spPr>
          <a:xfrm>
            <a:off x="411480" y="256032"/>
            <a:ext cx="868680" cy="274320"/>
          </a:xfrm>
          <a:prstGeom prst="rect">
            <a:avLst/>
          </a:prstGeom>
          <a:solidFill>
            <a:srgbClr val="6B9E78"/>
          </a:solidFill>
          <a:ln w="12700">
            <a:solidFill>
              <a:srgbClr val="6B9E78"/>
            </a:solidFill>
            <a:prstDash val="solid"/>
          </a:ln>
        </p:spPr>
      </p:sp>
      <p:sp>
        <p:nvSpPr>
          <p:cNvPr id="6" name="Text 3"/>
          <p:cNvSpPr/>
          <p:nvPr/>
        </p:nvSpPr>
        <p:spPr>
          <a:xfrm>
            <a:off x="411480" y="256032"/>
            <a:ext cx="86868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PASO 1</a:t>
            </a:r>
            <a:endParaRPr lang="en-US" sz="800" dirty="0"/>
          </a:p>
        </p:txBody>
      </p:sp>
      <p:sp>
        <p:nvSpPr>
          <p:cNvPr id="7" name="Text 4"/>
          <p:cNvSpPr/>
          <p:nvPr/>
        </p:nvSpPr>
        <p:spPr>
          <a:xfrm>
            <a:off x="411480" y="658368"/>
            <a:ext cx="8321040" cy="566928"/>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Eduard Bach: La Historia</a:t>
            </a:r>
            <a:endParaRPr lang="en-US" sz="3600" dirty="0"/>
          </a:p>
        </p:txBody>
      </p:sp>
      <p:sp>
        <p:nvSpPr>
          <p:cNvPr id="8" name="Text 5"/>
          <p:cNvSpPr/>
          <p:nvPr/>
        </p:nvSpPr>
        <p:spPr>
          <a:xfrm>
            <a:off x="411480" y="1325880"/>
            <a:ext cx="7772400" cy="384048"/>
          </a:xfrm>
          <a:prstGeom prst="rect">
            <a:avLst/>
          </a:prstGeom>
          <a:noFill/>
          <a:ln/>
        </p:spPr>
        <p:txBody>
          <a:bodyPr wrap="square" lIns="0" tIns="0" rIns="0" bIns="0" rtlCol="0" anchor="ctr"/>
          <a:lstStyle/>
          <a:p>
            <a:pPr indent="0" marL="0">
              <a:buNone/>
            </a:pPr>
            <a:r>
              <a:rPr lang="en-US" sz="1300" i="1" dirty="0">
                <a:solidFill>
                  <a:srgbClr val="A8D5BA"/>
                </a:solidFill>
                <a:latin typeface="Calibri" pitchFamily="34" charset="0"/>
                <a:ea typeface="Calibri" pitchFamily="34" charset="-122"/>
                <a:cs typeface="Calibri" pitchFamily="34" charset="-120"/>
              </a:rPr>
              <a:t>Médico. Cirujano. Patólogo. Bacteriólogo. Formado en la medicina más convencional de su época.</a:t>
            </a:r>
            <a:endParaRPr lang="en-US" sz="1300" dirty="0"/>
          </a:p>
        </p:txBody>
      </p:sp>
      <p:sp>
        <p:nvSpPr>
          <p:cNvPr id="9" name="Shape 6"/>
          <p:cNvSpPr/>
          <p:nvPr/>
        </p:nvSpPr>
        <p:spPr>
          <a:xfrm>
            <a:off x="365760" y="1828800"/>
            <a:ext cx="8412480" cy="1188720"/>
          </a:xfrm>
          <a:prstGeom prst="rect">
            <a:avLst/>
          </a:prstGeom>
          <a:solidFill>
            <a:srgbClr val="2A5040"/>
          </a:solidFill>
          <a:ln w="12700">
            <a:solidFill>
              <a:srgbClr val="2A5040"/>
            </a:solidFill>
            <a:prstDash val="solid"/>
          </a:ln>
          <a:effectLst>
            <a:outerShdw sx="100000" sy="100000" kx="0" ky="0" algn="bl" rotWithShape="0" blurRad="101600" dist="38100" dir="8100000">
              <a:srgbClr val="000000">
                <a:alpha val="12000"/>
              </a:srgbClr>
            </a:outerShdw>
          </a:effectLst>
        </p:spPr>
      </p:sp>
      <p:sp>
        <p:nvSpPr>
          <p:cNvPr id="10" name="Text 7"/>
          <p:cNvSpPr/>
          <p:nvPr/>
        </p:nvSpPr>
        <p:spPr>
          <a:xfrm>
            <a:off x="566928" y="1920240"/>
            <a:ext cx="7955280" cy="256032"/>
          </a:xfrm>
          <a:prstGeom prst="rect">
            <a:avLst/>
          </a:prstGeom>
          <a:noFill/>
          <a:ln/>
        </p:spPr>
        <p:txBody>
          <a:bodyPr wrap="square" lIns="0" tIns="0" rIns="0" bIns="0" rtlCol="0" anchor="ctr"/>
          <a:lstStyle/>
          <a:p>
            <a:pPr indent="0" marL="0">
              <a:buNone/>
            </a:pPr>
            <a:r>
              <a:rPr lang="en-US" sz="900" b="1" spc="150" kern="0" dirty="0">
                <a:solidFill>
                  <a:srgbClr val="C9A85C"/>
                </a:solidFill>
                <a:latin typeface="Calibri" pitchFamily="34" charset="0"/>
                <a:ea typeface="Calibri" pitchFamily="34" charset="-122"/>
                <a:cs typeface="Calibri" pitchFamily="34" charset="-120"/>
              </a:rPr>
              <a:t>EL PROBLEMA</a:t>
            </a:r>
            <a:endParaRPr lang="en-US" sz="900" dirty="0"/>
          </a:p>
        </p:txBody>
      </p:sp>
      <p:sp>
        <p:nvSpPr>
          <p:cNvPr id="11" name="Text 8"/>
          <p:cNvSpPr/>
          <p:nvPr/>
        </p:nvSpPr>
        <p:spPr>
          <a:xfrm>
            <a:off x="566928" y="2231136"/>
            <a:ext cx="7955280" cy="65836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Los medicamentos que recetaba aliviaban. No curaban. El paciente mejoraba y a los meses volvía con lo mismo — o peor.</a:t>
            </a:r>
            <a:endParaRPr lang="en-US" sz="1400" dirty="0"/>
          </a:p>
        </p:txBody>
      </p:sp>
      <p:sp>
        <p:nvSpPr>
          <p:cNvPr id="12" name="Shape 9"/>
          <p:cNvSpPr/>
          <p:nvPr/>
        </p:nvSpPr>
        <p:spPr>
          <a:xfrm>
            <a:off x="365760" y="3154680"/>
            <a:ext cx="8412480" cy="1188720"/>
          </a:xfrm>
          <a:prstGeom prst="rect">
            <a:avLst/>
          </a:prstGeom>
          <a:solidFill>
            <a:srgbClr val="2A5040"/>
          </a:solidFill>
          <a:ln w="12700">
            <a:solidFill>
              <a:srgbClr val="2A5040"/>
            </a:solidFill>
            <a:prstDash val="solid"/>
          </a:ln>
          <a:effectLst>
            <a:outerShdw sx="100000" sy="100000" kx="0" ky="0" algn="bl" rotWithShape="0" blurRad="101600" dist="38100" dir="8100000">
              <a:srgbClr val="000000">
                <a:alpha val="12000"/>
              </a:srgbClr>
            </a:outerShdw>
          </a:effectLst>
        </p:spPr>
      </p:sp>
      <p:sp>
        <p:nvSpPr>
          <p:cNvPr id="13" name="Text 10"/>
          <p:cNvSpPr/>
          <p:nvPr/>
        </p:nvSpPr>
        <p:spPr>
          <a:xfrm>
            <a:off x="566928" y="3246120"/>
            <a:ext cx="7955280" cy="256032"/>
          </a:xfrm>
          <a:prstGeom prst="rect">
            <a:avLst/>
          </a:prstGeom>
          <a:noFill/>
          <a:ln/>
        </p:spPr>
        <p:txBody>
          <a:bodyPr wrap="square" lIns="0" tIns="0" rIns="0" bIns="0" rtlCol="0" anchor="ctr"/>
          <a:lstStyle/>
          <a:p>
            <a:pPr indent="0" marL="0">
              <a:buNone/>
            </a:pPr>
            <a:r>
              <a:rPr lang="en-US" sz="900" b="1" spc="150" kern="0" dirty="0">
                <a:solidFill>
                  <a:srgbClr val="C9A85C"/>
                </a:solidFill>
                <a:latin typeface="Calibri" pitchFamily="34" charset="0"/>
                <a:ea typeface="Calibri" pitchFamily="34" charset="-122"/>
                <a:cs typeface="Calibri" pitchFamily="34" charset="-120"/>
              </a:rPr>
              <a:t>LA CONSECUENCIA</a:t>
            </a:r>
            <a:endParaRPr lang="en-US" sz="900" dirty="0"/>
          </a:p>
        </p:txBody>
      </p:sp>
      <p:sp>
        <p:nvSpPr>
          <p:cNvPr id="14" name="Text 11"/>
          <p:cNvSpPr/>
          <p:nvPr/>
        </p:nvSpPr>
        <p:spPr>
          <a:xfrm>
            <a:off x="566928" y="3557016"/>
            <a:ext cx="7955280" cy="65836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La Asociación de Médicos de Londres le exigió abandonar sus investigaciones o perdería su licencia. Bach renunció. Prefirió declararse terapeuta herbolario y seguir su trabajo.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3A2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5C"/>
          </a:solidFill>
          <a:ln w="12700">
            <a:solidFill>
              <a:srgbClr val="C9A85C"/>
            </a:solidFill>
            <a:prstDash val="solid"/>
          </a:ln>
        </p:spPr>
      </p:sp>
      <p:sp>
        <p:nvSpPr>
          <p:cNvPr id="3" name="Shape 1"/>
          <p:cNvSpPr/>
          <p:nvPr/>
        </p:nvSpPr>
        <p:spPr>
          <a:xfrm>
            <a:off x="0" y="0"/>
            <a:ext cx="128016" cy="5143500"/>
          </a:xfrm>
          <a:prstGeom prst="rect">
            <a:avLst/>
          </a:prstGeom>
          <a:solidFill>
            <a:srgbClr val="C9A85C"/>
          </a:solidFill>
          <a:ln w="12700">
            <a:solidFill>
              <a:srgbClr val="C9A85C"/>
            </a:solidFill>
            <a:prstDash val="solid"/>
          </a:ln>
        </p:spPr>
      </p:sp>
      <p:pic>
        <p:nvPicPr>
          <p:cNvPr id="4" name="Image 0" descr="/sessions/focused-admiring-fermi/mnt/Mascotas_2026/Programa/logo centro.png">    </p:cNvPr>
          <p:cNvPicPr>
            <a:picLocks noChangeAspect="1"/>
          </p:cNvPicPr>
          <p:nvPr/>
        </p:nvPicPr>
        <p:blipFill>
          <a:blip r:embed="rId1"/>
          <a:stretch>
            <a:fillRect/>
          </a:stretch>
        </p:blipFill>
        <p:spPr>
          <a:xfrm>
            <a:off x="8485632" y="109728"/>
            <a:ext cx="347472" cy="347472"/>
          </a:xfrm>
          <a:prstGeom prst="rect">
            <a:avLst/>
          </a:prstGeom>
        </p:spPr>
      </p:pic>
      <p:sp>
        <p:nvSpPr>
          <p:cNvPr id="5" name="Text 2"/>
          <p:cNvSpPr/>
          <p:nvPr/>
        </p:nvSpPr>
        <p:spPr>
          <a:xfrm>
            <a:off x="256032" y="164592"/>
            <a:ext cx="1280160" cy="1371600"/>
          </a:xfrm>
          <a:prstGeom prst="rect">
            <a:avLst/>
          </a:prstGeom>
          <a:noFill/>
          <a:ln/>
        </p:spPr>
        <p:txBody>
          <a:bodyPr wrap="square" lIns="0" tIns="0" rIns="0" bIns="0" rtlCol="0" anchor="t"/>
          <a:lstStyle/>
          <a:p>
            <a:pPr indent="0" marL="0">
              <a:buNone/>
            </a:pPr>
            <a:r>
              <a:rPr lang="en-US" sz="11000" dirty="0">
                <a:solidFill>
                  <a:srgbClr val="C9A85C"/>
                </a:solidFill>
                <a:latin typeface="Georgia" pitchFamily="34" charset="0"/>
                <a:ea typeface="Georgia" pitchFamily="34" charset="-122"/>
                <a:cs typeface="Georgia" pitchFamily="34" charset="-120"/>
              </a:rPr>
              <a:t>“</a:t>
            </a:r>
            <a:endParaRPr lang="en-US" sz="11000" dirty="0"/>
          </a:p>
        </p:txBody>
      </p:sp>
      <p:sp>
        <p:nvSpPr>
          <p:cNvPr id="6" name="Text 3"/>
          <p:cNvSpPr/>
          <p:nvPr/>
        </p:nvSpPr>
        <p:spPr>
          <a:xfrm>
            <a:off x="548640" y="1005840"/>
            <a:ext cx="8046720" cy="1920240"/>
          </a:xfrm>
          <a:prstGeom prst="rect">
            <a:avLst/>
          </a:prstGeom>
          <a:noFill/>
          <a:ln/>
        </p:spPr>
        <p:txBody>
          <a:bodyPr wrap="square" lIns="0" tIns="0" rIns="0" bIns="0" rtlCol="0" anchor="ctr"/>
          <a:lstStyle/>
          <a:p>
            <a:pPr algn="ctr" indent="0" marL="0">
              <a:buNone/>
            </a:pPr>
            <a:r>
              <a:rPr lang="en-US" sz="2200" i="1" dirty="0">
                <a:solidFill>
                  <a:srgbClr val="FFFFFF"/>
                </a:solidFill>
                <a:latin typeface="Georgia" pitchFamily="34" charset="0"/>
                <a:ea typeface="Georgia" pitchFamily="34" charset="-122"/>
                <a:cs typeface="Georgia" pitchFamily="34" charset="-120"/>
              </a:rPr>
              <a:t>La enfermedad no es material en su origen. Lo que conocemos como enfermedad es el último resultado producido en el cuerpo. La enfermedad es un desequilibrio emocional que se produce en el campo energético del ser vivo.</a:t>
            </a:r>
            <a:endParaRPr lang="en-US" sz="2200" dirty="0"/>
          </a:p>
        </p:txBody>
      </p:sp>
      <p:sp>
        <p:nvSpPr>
          <p:cNvPr id="7" name="Shape 4"/>
          <p:cNvSpPr/>
          <p:nvPr/>
        </p:nvSpPr>
        <p:spPr>
          <a:xfrm>
            <a:off x="3200400" y="3017520"/>
            <a:ext cx="2743200" cy="36576"/>
          </a:xfrm>
          <a:prstGeom prst="rect">
            <a:avLst/>
          </a:prstGeom>
          <a:solidFill>
            <a:srgbClr val="C9A85C"/>
          </a:solidFill>
          <a:ln w="12700">
            <a:solidFill>
              <a:srgbClr val="C9A85C"/>
            </a:solidFill>
            <a:prstDash val="solid"/>
          </a:ln>
        </p:spPr>
      </p:sp>
      <p:sp>
        <p:nvSpPr>
          <p:cNvPr id="8" name="Text 5"/>
          <p:cNvSpPr/>
          <p:nvPr/>
        </p:nvSpPr>
        <p:spPr>
          <a:xfrm>
            <a:off x="411480" y="3163824"/>
            <a:ext cx="8321040" cy="347472"/>
          </a:xfrm>
          <a:prstGeom prst="rect">
            <a:avLst/>
          </a:prstGeom>
          <a:noFill/>
          <a:ln/>
        </p:spPr>
        <p:txBody>
          <a:bodyPr wrap="square" lIns="0" tIns="0" rIns="0" bIns="0" rtlCol="0" anchor="ctr"/>
          <a:lstStyle/>
          <a:p>
            <a:pPr algn="ctr" indent="0" marL="0">
              <a:buNone/>
            </a:pPr>
            <a:r>
              <a:rPr lang="en-US" sz="1400" i="1" dirty="0">
                <a:solidFill>
                  <a:srgbClr val="A8D5BA"/>
                </a:solidFill>
                <a:latin typeface="Calibri" pitchFamily="34" charset="0"/>
                <a:ea typeface="Calibri" pitchFamily="34" charset="-122"/>
                <a:cs typeface="Calibri" pitchFamily="34" charset="-120"/>
              </a:rPr>
              <a:t>— Eduard Bach, años treinta</a:t>
            </a:r>
            <a:endParaRPr lang="en-US" sz="1400" dirty="0"/>
          </a:p>
        </p:txBody>
      </p:sp>
      <p:sp>
        <p:nvSpPr>
          <p:cNvPr id="9" name="Shape 6"/>
          <p:cNvSpPr/>
          <p:nvPr/>
        </p:nvSpPr>
        <p:spPr>
          <a:xfrm>
            <a:off x="411480" y="3749040"/>
            <a:ext cx="8321040" cy="713232"/>
          </a:xfrm>
          <a:prstGeom prst="rect">
            <a:avLst/>
          </a:prstGeom>
          <a:solidFill>
            <a:srgbClr val="2A5040"/>
          </a:solidFill>
          <a:ln w="12700">
            <a:solidFill>
              <a:srgbClr val="2A5040"/>
            </a:solidFill>
            <a:prstDash val="solid"/>
          </a:ln>
          <a:effectLst>
            <a:outerShdw sx="100000" sy="100000" kx="0" ky="0" algn="bl" rotWithShape="0" blurRad="101600" dist="38100" dir="8100000">
              <a:srgbClr val="000000">
                <a:alpha val="12000"/>
              </a:srgbClr>
            </a:outerShdw>
          </a:effectLst>
        </p:spPr>
      </p:sp>
      <p:sp>
        <p:nvSpPr>
          <p:cNvPr id="10" name="Text 7"/>
          <p:cNvSpPr/>
          <p:nvPr/>
        </p:nvSpPr>
        <p:spPr>
          <a:xfrm>
            <a:off x="594360" y="3749040"/>
            <a:ext cx="7955280" cy="713232"/>
          </a:xfrm>
          <a:prstGeom prst="rect">
            <a:avLst/>
          </a:prstGeom>
          <a:noFill/>
          <a:ln/>
        </p:spPr>
        <p:txBody>
          <a:bodyPr wrap="square" lIns="0" tIns="0" rIns="0" bIns="0" rtlCol="0" anchor="ctr"/>
          <a:lstStyle/>
          <a:p>
            <a:pPr algn="ctr" indent="0" marL="0">
              <a:buNone/>
            </a:pPr>
            <a:r>
              <a:rPr lang="en-US" sz="1600" i="1" dirty="0">
                <a:solidFill>
                  <a:srgbClr val="C9A85C"/>
                </a:solidFill>
                <a:latin typeface="Georgia" pitchFamily="34" charset="0"/>
                <a:ea typeface="Georgia" pitchFamily="34" charset="-122"/>
                <a:cs typeface="Georgia" pitchFamily="34" charset="-120"/>
              </a:rPr>
              <a:t>Noventa años después, el Instituto trabaja exactamente desde esa misma premisa.</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3A2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5C"/>
          </a:solidFill>
          <a:ln w="12700">
            <a:solidFill>
              <a:srgbClr val="C9A85C"/>
            </a:solidFill>
            <a:prstDash val="solid"/>
          </a:ln>
        </p:spPr>
      </p:sp>
      <p:sp>
        <p:nvSpPr>
          <p:cNvPr id="3" name="Shape 1"/>
          <p:cNvSpPr/>
          <p:nvPr/>
        </p:nvSpPr>
        <p:spPr>
          <a:xfrm>
            <a:off x="0" y="0"/>
            <a:ext cx="128016" cy="5143500"/>
          </a:xfrm>
          <a:prstGeom prst="rect">
            <a:avLst/>
          </a:prstGeom>
          <a:solidFill>
            <a:srgbClr val="C9A85C"/>
          </a:solidFill>
          <a:ln w="12700">
            <a:solidFill>
              <a:srgbClr val="C9A85C"/>
            </a:solidFill>
            <a:prstDash val="solid"/>
          </a:ln>
        </p:spPr>
      </p:sp>
      <p:pic>
        <p:nvPicPr>
          <p:cNvPr id="4" name="Image 0" descr="/sessions/focused-admiring-fermi/mnt/Mascotas_2026/Programa/logo centro.png">    </p:cNvPr>
          <p:cNvPicPr>
            <a:picLocks noChangeAspect="1"/>
          </p:cNvPicPr>
          <p:nvPr/>
        </p:nvPicPr>
        <p:blipFill>
          <a:blip r:embed="rId1"/>
          <a:stretch>
            <a:fillRect/>
          </a:stretch>
        </p:blipFill>
        <p:spPr>
          <a:xfrm>
            <a:off x="8485632" y="109728"/>
            <a:ext cx="347472" cy="347472"/>
          </a:xfrm>
          <a:prstGeom prst="rect">
            <a:avLst/>
          </a:prstGeom>
        </p:spPr>
      </p:pic>
      <p:sp>
        <p:nvSpPr>
          <p:cNvPr id="5" name="Text 2"/>
          <p:cNvSpPr/>
          <p:nvPr/>
        </p:nvSpPr>
        <p:spPr>
          <a:xfrm>
            <a:off x="411480" y="256032"/>
            <a:ext cx="8321040" cy="566928"/>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El Argumento de los Animales</a:t>
            </a:r>
            <a:endParaRPr lang="en-US" sz="3400" dirty="0"/>
          </a:p>
        </p:txBody>
      </p:sp>
      <p:sp>
        <p:nvSpPr>
          <p:cNvPr id="6" name="Text 3"/>
          <p:cNvSpPr/>
          <p:nvPr/>
        </p:nvSpPr>
        <p:spPr>
          <a:xfrm>
            <a:off x="411480" y="932688"/>
            <a:ext cx="7772400" cy="329184"/>
          </a:xfrm>
          <a:prstGeom prst="rect">
            <a:avLst/>
          </a:prstGeom>
          <a:noFill/>
          <a:ln/>
        </p:spPr>
        <p:txBody>
          <a:bodyPr wrap="square" lIns="0" tIns="0" rIns="0" bIns="0" rtlCol="0" anchor="ctr"/>
          <a:lstStyle/>
          <a:p>
            <a:pPr indent="0" marL="0">
              <a:buNone/>
            </a:pPr>
            <a:r>
              <a:rPr lang="en-US" sz="1300" i="1" dirty="0">
                <a:solidFill>
                  <a:srgbClr val="A8D5BA"/>
                </a:solidFill>
                <a:latin typeface="Calibri" pitchFamily="34" charset="0"/>
                <a:ea typeface="Calibri" pitchFamily="34" charset="-122"/>
                <a:cs typeface="Calibri" pitchFamily="34" charset="-120"/>
              </a:rPr>
              <a:t>¿Por qué los animales validan la terapia floral mejor que ningún otro caso?</a:t>
            </a:r>
            <a:endParaRPr lang="en-US" sz="1300" dirty="0"/>
          </a:p>
        </p:txBody>
      </p:sp>
      <p:sp>
        <p:nvSpPr>
          <p:cNvPr id="7" name="Shape 4"/>
          <p:cNvSpPr/>
          <p:nvPr/>
        </p:nvSpPr>
        <p:spPr>
          <a:xfrm>
            <a:off x="365760" y="1417320"/>
            <a:ext cx="3931920" cy="2194560"/>
          </a:xfrm>
          <a:prstGeom prst="rect">
            <a:avLst/>
          </a:prstGeom>
          <a:solidFill>
            <a:srgbClr val="2A5040"/>
          </a:solidFill>
          <a:ln w="12700">
            <a:solidFill>
              <a:srgbClr val="2A5040"/>
            </a:solidFill>
            <a:prstDash val="solid"/>
          </a:ln>
          <a:effectLst>
            <a:outerShdw sx="100000" sy="100000" kx="0" ky="0" algn="bl" rotWithShape="0" blurRad="101600" dist="38100" dir="8100000">
              <a:srgbClr val="000000">
                <a:alpha val="12000"/>
              </a:srgbClr>
            </a:outerShdw>
          </a:effectLst>
        </p:spPr>
      </p:sp>
      <p:sp>
        <p:nvSpPr>
          <p:cNvPr id="8" name="Text 5"/>
          <p:cNvSpPr/>
          <p:nvPr/>
        </p:nvSpPr>
        <p:spPr>
          <a:xfrm>
            <a:off x="566928" y="1536192"/>
            <a:ext cx="3529584" cy="256032"/>
          </a:xfrm>
          <a:prstGeom prst="rect">
            <a:avLst/>
          </a:prstGeom>
          <a:noFill/>
          <a:ln/>
        </p:spPr>
        <p:txBody>
          <a:bodyPr wrap="square" lIns="0" tIns="0" rIns="0" bIns="0" rtlCol="0" anchor="ctr"/>
          <a:lstStyle/>
          <a:p>
            <a:pPr indent="0" marL="0">
              <a:buNone/>
            </a:pPr>
            <a:r>
              <a:rPr lang="en-US" sz="900" b="1" spc="150" kern="0" dirty="0">
                <a:solidFill>
                  <a:srgbClr val="C9A85C"/>
                </a:solidFill>
                <a:latin typeface="Calibri" pitchFamily="34" charset="0"/>
                <a:ea typeface="Calibri" pitchFamily="34" charset="-122"/>
                <a:cs typeface="Calibri" pitchFamily="34" charset="-120"/>
              </a:rPr>
              <a:t>CON HUMANOS</a:t>
            </a:r>
            <a:endParaRPr lang="en-US" sz="900" dirty="0"/>
          </a:p>
        </p:txBody>
      </p:sp>
      <p:sp>
        <p:nvSpPr>
          <p:cNvPr id="9" name="Text 6"/>
          <p:cNvSpPr/>
          <p:nvPr/>
        </p:nvSpPr>
        <p:spPr>
          <a:xfrm>
            <a:off x="566928" y="1883664"/>
            <a:ext cx="3529584" cy="1554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Siempre existe la posibilidad del efecto placebo. La persona cree que algo le funcionará — y a veces eso es suficiente.</a:t>
            </a:r>
            <a:endParaRPr lang="en-US" sz="1300" dirty="0"/>
          </a:p>
        </p:txBody>
      </p:sp>
      <p:sp>
        <p:nvSpPr>
          <p:cNvPr id="10" name="Shape 7"/>
          <p:cNvSpPr/>
          <p:nvPr/>
        </p:nvSpPr>
        <p:spPr>
          <a:xfrm>
            <a:off x="4846320" y="1417320"/>
            <a:ext cx="3931920" cy="2194560"/>
          </a:xfrm>
          <a:prstGeom prst="rect">
            <a:avLst/>
          </a:prstGeom>
          <a:solidFill>
            <a:srgbClr val="6B9E78"/>
          </a:solidFill>
          <a:ln w="12700">
            <a:solidFill>
              <a:srgbClr val="6B9E78"/>
            </a:solidFill>
            <a:prstDash val="solid"/>
          </a:ln>
          <a:effectLst>
            <a:outerShdw sx="100000" sy="100000" kx="0" ky="0" algn="bl" rotWithShape="0" blurRad="101600" dist="38100" dir="8100000">
              <a:srgbClr val="000000">
                <a:alpha val="12000"/>
              </a:srgbClr>
            </a:outerShdw>
          </a:effectLst>
        </p:spPr>
      </p:sp>
      <p:sp>
        <p:nvSpPr>
          <p:cNvPr id="11" name="Text 8"/>
          <p:cNvSpPr/>
          <p:nvPr/>
        </p:nvSpPr>
        <p:spPr>
          <a:xfrm>
            <a:off x="5047488" y="1536192"/>
            <a:ext cx="3529584" cy="256032"/>
          </a:xfrm>
          <a:prstGeom prst="rect">
            <a:avLst/>
          </a:prstGeom>
          <a:noFill/>
          <a:ln/>
        </p:spPr>
        <p:txBody>
          <a:bodyPr wrap="square" lIns="0" tIns="0" rIns="0" bIns="0" rtlCol="0" anchor="ctr"/>
          <a:lstStyle/>
          <a:p>
            <a:pPr indent="0" marL="0">
              <a:buNone/>
            </a:pPr>
            <a:r>
              <a:rPr lang="en-US" sz="900" b="1" spc="150" kern="0" dirty="0">
                <a:solidFill>
                  <a:srgbClr val="1E3A2F"/>
                </a:solidFill>
                <a:latin typeface="Calibri" pitchFamily="34" charset="0"/>
                <a:ea typeface="Calibri" pitchFamily="34" charset="-122"/>
                <a:cs typeface="Calibri" pitchFamily="34" charset="-120"/>
              </a:rPr>
              <a:t>CON ANIMALES</a:t>
            </a:r>
            <a:endParaRPr lang="en-US" sz="900" dirty="0"/>
          </a:p>
        </p:txBody>
      </p:sp>
      <p:sp>
        <p:nvSpPr>
          <p:cNvPr id="12" name="Text 9"/>
          <p:cNvSpPr/>
          <p:nvPr/>
        </p:nvSpPr>
        <p:spPr>
          <a:xfrm>
            <a:off x="5047488" y="1883664"/>
            <a:ext cx="3529584" cy="1554480"/>
          </a:xfrm>
          <a:prstGeom prst="rect">
            <a:avLst/>
          </a:prstGeom>
          <a:noFill/>
          <a:ln/>
        </p:spPr>
        <p:txBody>
          <a:bodyPr wrap="square" lIns="0" tIns="0" rIns="0" bIns="0" rtlCol="0" anchor="ctr"/>
          <a:lstStyle/>
          <a:p>
            <a:pPr indent="0" marL="0">
              <a:buNone/>
            </a:pPr>
            <a:r>
              <a:rPr lang="en-US" sz="1300" dirty="0">
                <a:solidFill>
                  <a:srgbClr val="1E3A2F"/>
                </a:solidFill>
                <a:latin typeface="Calibri" pitchFamily="34" charset="0"/>
                <a:ea typeface="Calibri" pitchFamily="34" charset="-122"/>
                <a:cs typeface="Calibri" pitchFamily="34" charset="-120"/>
              </a:rPr>
              <a:t>El animal no lee el frasco. No tiene expectativa. No sabe que le dieron algo diferente al agua. El placebo no existe.</a:t>
            </a:r>
            <a:endParaRPr lang="en-US" sz="1300" dirty="0"/>
          </a:p>
        </p:txBody>
      </p:sp>
      <p:sp>
        <p:nvSpPr>
          <p:cNvPr id="13" name="Shape 10"/>
          <p:cNvSpPr/>
          <p:nvPr/>
        </p:nvSpPr>
        <p:spPr>
          <a:xfrm>
            <a:off x="365760" y="3767328"/>
            <a:ext cx="8412480" cy="749808"/>
          </a:xfrm>
          <a:prstGeom prst="rect">
            <a:avLst/>
          </a:prstGeom>
          <a:solidFill>
            <a:srgbClr val="C9A85C"/>
          </a:solidFill>
          <a:ln w="12700">
            <a:solidFill>
              <a:srgbClr val="C9A85C"/>
            </a:solidFill>
            <a:prstDash val="solid"/>
          </a:ln>
        </p:spPr>
      </p:sp>
      <p:sp>
        <p:nvSpPr>
          <p:cNvPr id="14" name="Text 11"/>
          <p:cNvSpPr/>
          <p:nvPr/>
        </p:nvSpPr>
        <p:spPr>
          <a:xfrm>
            <a:off x="502920" y="3767328"/>
            <a:ext cx="8229600" cy="749808"/>
          </a:xfrm>
          <a:prstGeom prst="rect">
            <a:avLst/>
          </a:prstGeom>
          <a:noFill/>
          <a:ln/>
        </p:spPr>
        <p:txBody>
          <a:bodyPr wrap="square" lIns="0" tIns="0" rIns="0" bIns="0" rtlCol="0" anchor="ctr"/>
          <a:lstStyle/>
          <a:p>
            <a:pPr algn="ctr" indent="0" marL="0">
              <a:buNone/>
            </a:pPr>
            <a:r>
              <a:rPr lang="en-US" sz="1500" b="1" i="1" dirty="0">
                <a:solidFill>
                  <a:srgbClr val="1E3A2F"/>
                </a:solidFill>
                <a:latin typeface="Georgia" pitchFamily="34" charset="0"/>
                <a:ea typeface="Georgia" pitchFamily="34" charset="-122"/>
                <a:cs typeface="Georgia" pitchFamily="34" charset="-120"/>
              </a:rPr>
              <a:t>Los animales son los mejores validadores de la terapia floral.  No pueden hacerse trampa.</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EFE6"/>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E3A2F"/>
          </a:solidFill>
          <a:ln w="12700">
            <a:solidFill>
              <a:srgbClr val="1E3A2F"/>
            </a:solidFill>
            <a:prstDash val="solid"/>
          </a:ln>
        </p:spPr>
      </p:sp>
      <p:sp>
        <p:nvSpPr>
          <p:cNvPr id="3" name="Shape 1"/>
          <p:cNvSpPr/>
          <p:nvPr/>
        </p:nvSpPr>
        <p:spPr>
          <a:xfrm>
            <a:off x="0" y="0"/>
            <a:ext cx="128016" cy="5143500"/>
          </a:xfrm>
          <a:prstGeom prst="rect">
            <a:avLst/>
          </a:prstGeom>
          <a:solidFill>
            <a:srgbClr val="1E3A2F"/>
          </a:solidFill>
          <a:ln w="12700">
            <a:solidFill>
              <a:srgbClr val="1E3A2F"/>
            </a:solidFill>
            <a:prstDash val="solid"/>
          </a:ln>
        </p:spPr>
      </p:sp>
      <p:pic>
        <p:nvPicPr>
          <p:cNvPr id="4" name="Image 0" descr="/sessions/focused-admiring-fermi/mnt/Mascotas_2026/Programa/logo centro.png">    </p:cNvPr>
          <p:cNvPicPr>
            <a:picLocks noChangeAspect="1"/>
          </p:cNvPicPr>
          <p:nvPr/>
        </p:nvPicPr>
        <p:blipFill>
          <a:blip r:embed="rId1"/>
          <a:stretch>
            <a:fillRect/>
          </a:stretch>
        </p:blipFill>
        <p:spPr>
          <a:xfrm>
            <a:off x="8485632" y="109728"/>
            <a:ext cx="347472" cy="347472"/>
          </a:xfrm>
          <a:prstGeom prst="rect">
            <a:avLst/>
          </a:prstGeom>
        </p:spPr>
      </p:pic>
      <p:sp>
        <p:nvSpPr>
          <p:cNvPr id="5" name="Shape 2"/>
          <p:cNvSpPr/>
          <p:nvPr/>
        </p:nvSpPr>
        <p:spPr>
          <a:xfrm>
            <a:off x="411480" y="256032"/>
            <a:ext cx="868680" cy="274320"/>
          </a:xfrm>
          <a:prstGeom prst="rect">
            <a:avLst/>
          </a:prstGeom>
          <a:solidFill>
            <a:srgbClr val="1E3A2F"/>
          </a:solidFill>
          <a:ln w="12700">
            <a:solidFill>
              <a:srgbClr val="1E3A2F"/>
            </a:solidFill>
            <a:prstDash val="solid"/>
          </a:ln>
        </p:spPr>
      </p:sp>
      <p:sp>
        <p:nvSpPr>
          <p:cNvPr id="6" name="Text 3"/>
          <p:cNvSpPr/>
          <p:nvPr/>
        </p:nvSpPr>
        <p:spPr>
          <a:xfrm>
            <a:off x="411480" y="256032"/>
            <a:ext cx="86868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PASO 2</a:t>
            </a:r>
            <a:endParaRPr lang="en-US" sz="800" dirty="0"/>
          </a:p>
        </p:txBody>
      </p:sp>
      <p:sp>
        <p:nvSpPr>
          <p:cNvPr id="7" name="Text 4"/>
          <p:cNvSpPr/>
          <p:nvPr/>
        </p:nvSpPr>
        <p:spPr>
          <a:xfrm>
            <a:off x="411480" y="658368"/>
            <a:ext cx="8321040" cy="566928"/>
          </a:xfrm>
          <a:prstGeom prst="rect">
            <a:avLst/>
          </a:prstGeom>
          <a:noFill/>
          <a:ln/>
        </p:spPr>
        <p:txBody>
          <a:bodyPr wrap="square" lIns="0" tIns="0" rIns="0" bIns="0" rtlCol="0" anchor="ctr"/>
          <a:lstStyle/>
          <a:p>
            <a:pPr indent="0" marL="0">
              <a:buNone/>
            </a:pPr>
            <a:r>
              <a:rPr lang="en-US" sz="3600" b="1" dirty="0">
                <a:solidFill>
                  <a:srgbClr val="1E3A2F"/>
                </a:solidFill>
                <a:latin typeface="Georgia" pitchFamily="34" charset="0"/>
                <a:ea typeface="Georgia" pitchFamily="34" charset="-122"/>
                <a:cs typeface="Georgia" pitchFamily="34" charset="-120"/>
              </a:rPr>
              <a:t>Arte, No Receta</a:t>
            </a:r>
            <a:endParaRPr lang="en-US" sz="3600" dirty="0"/>
          </a:p>
        </p:txBody>
      </p:sp>
      <p:sp>
        <p:nvSpPr>
          <p:cNvPr id="8" name="Text 5"/>
          <p:cNvSpPr/>
          <p:nvPr/>
        </p:nvSpPr>
        <p:spPr>
          <a:xfrm>
            <a:off x="411480" y="1298448"/>
            <a:ext cx="7772400" cy="329184"/>
          </a:xfrm>
          <a:prstGeom prst="rect">
            <a:avLst/>
          </a:prstGeom>
          <a:noFill/>
          <a:ln/>
        </p:spPr>
        <p:txBody>
          <a:bodyPr wrap="square" lIns="0" tIns="0" rIns="0" bIns="0" rtlCol="0" anchor="ctr"/>
          <a:lstStyle/>
          <a:p>
            <a:pPr indent="0" marL="0">
              <a:buNone/>
            </a:pPr>
            <a:r>
              <a:rPr lang="en-US" sz="1200" i="1" dirty="0">
                <a:solidFill>
                  <a:srgbClr val="4A6355"/>
                </a:solidFill>
                <a:latin typeface="Calibri" pitchFamily="34" charset="0"/>
                <a:ea typeface="Calibri" pitchFamily="34" charset="-122"/>
                <a:cs typeface="Calibri" pitchFamily="34" charset="-120"/>
              </a:rPr>
              <a:t>Una advertencia de la Dra. Alicia Arrona Rivera — veterinaria especialista en flores de Bach.</a:t>
            </a:r>
            <a:endParaRPr lang="en-US" sz="1200" dirty="0"/>
          </a:p>
        </p:txBody>
      </p:sp>
      <p:sp>
        <p:nvSpPr>
          <p:cNvPr id="9" name="Shape 6"/>
          <p:cNvSpPr/>
          <p:nvPr/>
        </p:nvSpPr>
        <p:spPr>
          <a:xfrm>
            <a:off x="365760" y="1737360"/>
            <a:ext cx="3931920" cy="3200400"/>
          </a:xfrm>
          <a:prstGeom prst="rect">
            <a:avLst/>
          </a:prstGeom>
          <a:solidFill>
            <a:srgbClr val="EDE5D8"/>
          </a:solidFill>
          <a:ln w="12700">
            <a:solidFill>
              <a:srgbClr val="E0D8CE"/>
            </a:solidFill>
            <a:prstDash val="solid"/>
          </a:ln>
          <a:effectLst>
            <a:outerShdw sx="100000" sy="100000" kx="0" ky="0" algn="bl" rotWithShape="0" blurRad="101600" dist="38100" dir="8100000">
              <a:srgbClr val="000000">
                <a:alpha val="12000"/>
              </a:srgbClr>
            </a:outerShdw>
          </a:effectLst>
        </p:spPr>
      </p:sp>
      <p:sp>
        <p:nvSpPr>
          <p:cNvPr id="10" name="Text 7"/>
          <p:cNvSpPr/>
          <p:nvPr/>
        </p:nvSpPr>
        <p:spPr>
          <a:xfrm>
            <a:off x="566928" y="1865376"/>
            <a:ext cx="3529584" cy="256032"/>
          </a:xfrm>
          <a:prstGeom prst="rect">
            <a:avLst/>
          </a:prstGeom>
          <a:noFill/>
          <a:ln/>
        </p:spPr>
        <p:txBody>
          <a:bodyPr wrap="square" lIns="0" tIns="0" rIns="0" bIns="0" rtlCol="0" anchor="ctr"/>
          <a:lstStyle/>
          <a:p>
            <a:pPr indent="0" marL="0">
              <a:buNone/>
            </a:pPr>
            <a:r>
              <a:rPr lang="en-US" sz="900" b="1" spc="150" kern="0" dirty="0">
                <a:solidFill>
                  <a:srgbClr val="4A6355"/>
                </a:solidFill>
                <a:latin typeface="Calibri" pitchFamily="34" charset="0"/>
                <a:ea typeface="Calibri" pitchFamily="34" charset="-122"/>
                <a:cs typeface="Calibri" pitchFamily="34" charset="-120"/>
              </a:rPr>
              <a:t>USO ALOPÁTICO</a:t>
            </a:r>
            <a:endParaRPr lang="en-US" sz="900" dirty="0"/>
          </a:p>
        </p:txBody>
      </p:sp>
      <p:sp>
        <p:nvSpPr>
          <p:cNvPr id="11" name="Text 8"/>
          <p:cNvSpPr/>
          <p:nvPr/>
        </p:nvSpPr>
        <p:spPr>
          <a:xfrm>
            <a:off x="566928" y="2212848"/>
            <a:ext cx="3529584" cy="566928"/>
          </a:xfrm>
          <a:prstGeom prst="rect">
            <a:avLst/>
          </a:prstGeom>
          <a:noFill/>
          <a:ln/>
        </p:spPr>
        <p:txBody>
          <a:bodyPr wrap="square" lIns="0" tIns="0" rIns="0" bIns="0" rtlCol="0" anchor="ctr"/>
          <a:lstStyle/>
          <a:p>
            <a:pPr indent="0" marL="0">
              <a:buNone/>
            </a:pPr>
            <a:r>
              <a:rPr lang="en-US" sz="1300" dirty="0">
                <a:solidFill>
                  <a:srgbClr val="1E3A2F"/>
                </a:solidFill>
                <a:latin typeface="Calibri" pitchFamily="34" charset="0"/>
                <a:ea typeface="Calibri" pitchFamily="34" charset="-122"/>
                <a:cs typeface="Calibri" pitchFamily="34" charset="-120"/>
              </a:rPr>
              <a:t>Frascos de mostrador: 'para abandono', 'para miedo', 'para agresividad'.</a:t>
            </a:r>
            <a:endParaRPr lang="en-US" sz="1300" dirty="0"/>
          </a:p>
        </p:txBody>
      </p:sp>
      <p:sp>
        <p:nvSpPr>
          <p:cNvPr id="12" name="Text 9"/>
          <p:cNvSpPr/>
          <p:nvPr/>
        </p:nvSpPr>
        <p:spPr>
          <a:xfrm>
            <a:off x="566928" y="2852928"/>
            <a:ext cx="3529584" cy="914400"/>
          </a:xfrm>
          <a:prstGeom prst="rect">
            <a:avLst/>
          </a:prstGeom>
          <a:noFill/>
          <a:ln/>
        </p:spPr>
        <p:txBody>
          <a:bodyPr wrap="square" lIns="0" tIns="0" rIns="0" bIns="0" rtlCol="0" anchor="ctr"/>
          <a:lstStyle/>
          <a:p>
            <a:pPr indent="0" marL="0">
              <a:buNone/>
            </a:pPr>
            <a:r>
              <a:rPr lang="en-US" sz="1300" dirty="0">
                <a:solidFill>
                  <a:srgbClr val="4A6355"/>
                </a:solidFill>
                <a:latin typeface="Calibri" pitchFamily="34" charset="0"/>
                <a:ea typeface="Calibri" pitchFamily="34" charset="-122"/>
                <a:cs typeface="Calibri" pitchFamily="34" charset="-120"/>
              </a:rPr>
              <a:t>Tratan el síntoma con un remedio estándar — sin diagnóstico, sin historia del animal, sin considerar quién es ese ser en ese momento.</a:t>
            </a:r>
            <a:endParaRPr lang="en-US" sz="1300" dirty="0"/>
          </a:p>
        </p:txBody>
      </p:sp>
      <p:sp>
        <p:nvSpPr>
          <p:cNvPr id="13" name="Text 10"/>
          <p:cNvSpPr/>
          <p:nvPr/>
        </p:nvSpPr>
        <p:spPr>
          <a:xfrm>
            <a:off x="566928" y="3840480"/>
            <a:ext cx="3529584" cy="384048"/>
          </a:xfrm>
          <a:prstGeom prst="rect">
            <a:avLst/>
          </a:prstGeom>
          <a:noFill/>
          <a:ln/>
        </p:spPr>
        <p:txBody>
          <a:bodyPr wrap="square" lIns="0" tIns="0" rIns="0" bIns="0" rtlCol="0" anchor="ctr"/>
          <a:lstStyle/>
          <a:p>
            <a:pPr indent="0" marL="0">
              <a:buNone/>
            </a:pPr>
            <a:r>
              <a:rPr lang="en-US" sz="1300" i="1" dirty="0">
                <a:solidFill>
                  <a:srgbClr val="4A6355"/>
                </a:solidFill>
                <a:latin typeface="Calibri" pitchFamily="34" charset="0"/>
                <a:ea typeface="Calibri" pitchFamily="34" charset="-122"/>
                <a:cs typeface="Calibri" pitchFamily="34" charset="-120"/>
              </a:rPr>
              <a:t>Alivian. Pero no es terapia floral.</a:t>
            </a:r>
            <a:endParaRPr lang="en-US" sz="1300" dirty="0"/>
          </a:p>
        </p:txBody>
      </p:sp>
      <p:sp>
        <p:nvSpPr>
          <p:cNvPr id="14" name="Shape 11"/>
          <p:cNvSpPr/>
          <p:nvPr/>
        </p:nvSpPr>
        <p:spPr>
          <a:xfrm>
            <a:off x="4846320" y="1737360"/>
            <a:ext cx="3931920" cy="3200400"/>
          </a:xfrm>
          <a:prstGeom prst="rect">
            <a:avLst/>
          </a:prstGeom>
          <a:solidFill>
            <a:srgbClr val="1E3A2F"/>
          </a:solidFill>
          <a:ln w="12700">
            <a:solidFill>
              <a:srgbClr val="1E3A2F"/>
            </a:solidFill>
            <a:prstDash val="solid"/>
          </a:ln>
          <a:effectLst>
            <a:outerShdw sx="100000" sy="100000" kx="0" ky="0" algn="bl" rotWithShape="0" blurRad="101600" dist="38100" dir="8100000">
              <a:srgbClr val="000000">
                <a:alpha val="12000"/>
              </a:srgbClr>
            </a:outerShdw>
          </a:effectLst>
        </p:spPr>
      </p:sp>
      <p:sp>
        <p:nvSpPr>
          <p:cNvPr id="15" name="Text 12"/>
          <p:cNvSpPr/>
          <p:nvPr/>
        </p:nvSpPr>
        <p:spPr>
          <a:xfrm>
            <a:off x="5047488" y="1865376"/>
            <a:ext cx="3529584" cy="256032"/>
          </a:xfrm>
          <a:prstGeom prst="rect">
            <a:avLst/>
          </a:prstGeom>
          <a:noFill/>
          <a:ln/>
        </p:spPr>
        <p:txBody>
          <a:bodyPr wrap="square" lIns="0" tIns="0" rIns="0" bIns="0" rtlCol="0" anchor="ctr"/>
          <a:lstStyle/>
          <a:p>
            <a:pPr indent="0" marL="0">
              <a:buNone/>
            </a:pPr>
            <a:r>
              <a:rPr lang="en-US" sz="900" b="1" spc="150" kern="0" dirty="0">
                <a:solidFill>
                  <a:srgbClr val="C9A85C"/>
                </a:solidFill>
                <a:latin typeface="Calibri" pitchFamily="34" charset="0"/>
                <a:ea typeface="Calibri" pitchFamily="34" charset="-122"/>
                <a:cs typeface="Calibri" pitchFamily="34" charset="-120"/>
              </a:rPr>
              <a:t>TERAPIA FLORAL REAL</a:t>
            </a:r>
            <a:endParaRPr lang="en-US" sz="900" dirty="0"/>
          </a:p>
        </p:txBody>
      </p:sp>
      <p:sp>
        <p:nvSpPr>
          <p:cNvPr id="16" name="Text 13"/>
          <p:cNvSpPr/>
          <p:nvPr/>
        </p:nvSpPr>
        <p:spPr>
          <a:xfrm>
            <a:off x="5047488" y="2212848"/>
            <a:ext cx="3529584" cy="65836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 arte diagnóstico: cada fórmula es única para ese animal, con esa historia, en ese momento.</a:t>
            </a:r>
            <a:endParaRPr lang="en-US" sz="1300" dirty="0"/>
          </a:p>
        </p:txBody>
      </p:sp>
      <p:sp>
        <p:nvSpPr>
          <p:cNvPr id="17" name="Text 14"/>
          <p:cNvSpPr/>
          <p:nvPr/>
        </p:nvSpPr>
        <p:spPr>
          <a:xfrm>
            <a:off x="5047488" y="2944368"/>
            <a:ext cx="3529584" cy="347472"/>
          </a:xfrm>
          <a:prstGeom prst="rect">
            <a:avLst/>
          </a:prstGeom>
          <a:noFill/>
          <a:ln/>
        </p:spPr>
        <p:txBody>
          <a:bodyPr wrap="square" lIns="0" tIns="0" rIns="0" bIns="0" rtlCol="0" anchor="ctr"/>
          <a:lstStyle/>
          <a:p>
            <a:pPr indent="0" marL="0">
              <a:buNone/>
            </a:pPr>
            <a:r>
              <a:rPr lang="en-US" sz="1400" i="1" dirty="0">
                <a:solidFill>
                  <a:srgbClr val="C9A85C"/>
                </a:solidFill>
                <a:latin typeface="Georgia" pitchFamily="34" charset="0"/>
                <a:ea typeface="Georgia" pitchFamily="34" charset="-122"/>
                <a:cs typeface="Georgia" pitchFamily="34" charset="-120"/>
              </a:rPr>
              <a:t>No es una receta que se repite.</a:t>
            </a:r>
            <a:endParaRPr lang="en-US" sz="1400" dirty="0"/>
          </a:p>
        </p:txBody>
      </p:sp>
      <p:sp>
        <p:nvSpPr>
          <p:cNvPr id="18" name="Text 15"/>
          <p:cNvSpPr/>
          <p:nvPr/>
        </p:nvSpPr>
        <p:spPr>
          <a:xfrm>
            <a:off x="5047488" y="3383280"/>
            <a:ext cx="3529584" cy="1280160"/>
          </a:xfrm>
          <a:prstGeom prst="rect">
            <a:avLst/>
          </a:prstGeom>
          <a:noFill/>
          <a:ln/>
        </p:spPr>
        <p:txBody>
          <a:bodyPr wrap="square" lIns="0" tIns="0" rIns="0" bIns="0" rtlCol="0" anchor="ctr"/>
          <a:lstStyle/>
          <a:p>
            <a:pPr indent="0" marL="0">
              <a:buNone/>
            </a:pPr>
            <a:r>
              <a:rPr lang="en-US" sz="1200" dirty="0">
                <a:solidFill>
                  <a:srgbClr val="A8D5BA"/>
                </a:solidFill>
                <a:latin typeface="Calibri" pitchFamily="34" charset="0"/>
                <a:ea typeface="Calibri" pitchFamily="34" charset="-122"/>
                <a:cs typeface="Calibri" pitchFamily="34" charset="-120"/>
              </a:rPr>
              <a:t>Las 7 flores de hoy cubren el 80% de lo que van a necesitar. El arte diagnóstico más profundo es parte del programa avanzado.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EFE6"/>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E3A2F"/>
          </a:solidFill>
          <a:ln w="12700">
            <a:solidFill>
              <a:srgbClr val="1E3A2F"/>
            </a:solidFill>
            <a:prstDash val="solid"/>
          </a:ln>
        </p:spPr>
      </p:sp>
      <p:sp>
        <p:nvSpPr>
          <p:cNvPr id="3" name="Shape 1"/>
          <p:cNvSpPr/>
          <p:nvPr/>
        </p:nvSpPr>
        <p:spPr>
          <a:xfrm>
            <a:off x="0" y="0"/>
            <a:ext cx="128016" cy="5143500"/>
          </a:xfrm>
          <a:prstGeom prst="rect">
            <a:avLst/>
          </a:prstGeom>
          <a:solidFill>
            <a:srgbClr val="1E3A2F"/>
          </a:solidFill>
          <a:ln w="12700">
            <a:solidFill>
              <a:srgbClr val="1E3A2F"/>
            </a:solidFill>
            <a:prstDash val="solid"/>
          </a:ln>
        </p:spPr>
      </p:sp>
      <p:pic>
        <p:nvPicPr>
          <p:cNvPr id="4" name="Image 0" descr="/sessions/focused-admiring-fermi/mnt/Mascotas_2026/Programa/logo centro.png">    </p:cNvPr>
          <p:cNvPicPr>
            <a:picLocks noChangeAspect="1"/>
          </p:cNvPicPr>
          <p:nvPr/>
        </p:nvPicPr>
        <p:blipFill>
          <a:blip r:embed="rId1"/>
          <a:stretch>
            <a:fillRect/>
          </a:stretch>
        </p:blipFill>
        <p:spPr>
          <a:xfrm>
            <a:off x="8485632" y="109728"/>
            <a:ext cx="347472" cy="347472"/>
          </a:xfrm>
          <a:prstGeom prst="rect">
            <a:avLst/>
          </a:prstGeom>
        </p:spPr>
      </p:pic>
      <p:sp>
        <p:nvSpPr>
          <p:cNvPr id="5" name="Shape 2"/>
          <p:cNvSpPr/>
          <p:nvPr/>
        </p:nvSpPr>
        <p:spPr>
          <a:xfrm>
            <a:off x="411480" y="256032"/>
            <a:ext cx="868680" cy="274320"/>
          </a:xfrm>
          <a:prstGeom prst="rect">
            <a:avLst/>
          </a:prstGeom>
          <a:solidFill>
            <a:srgbClr val="1E3A2F"/>
          </a:solidFill>
          <a:ln w="12700">
            <a:solidFill>
              <a:srgbClr val="1E3A2F"/>
            </a:solidFill>
            <a:prstDash val="solid"/>
          </a:ln>
        </p:spPr>
      </p:sp>
      <p:sp>
        <p:nvSpPr>
          <p:cNvPr id="6" name="Text 3"/>
          <p:cNvSpPr/>
          <p:nvPr/>
        </p:nvSpPr>
        <p:spPr>
          <a:xfrm>
            <a:off x="411480" y="256032"/>
            <a:ext cx="86868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PASO 3</a:t>
            </a:r>
            <a:endParaRPr lang="en-US" sz="800" dirty="0"/>
          </a:p>
        </p:txBody>
      </p:sp>
      <p:sp>
        <p:nvSpPr>
          <p:cNvPr id="7" name="Text 4"/>
          <p:cNvSpPr/>
          <p:nvPr/>
        </p:nvSpPr>
        <p:spPr>
          <a:xfrm>
            <a:off x="411480" y="658368"/>
            <a:ext cx="8321040" cy="566928"/>
          </a:xfrm>
          <a:prstGeom prst="rect">
            <a:avLst/>
          </a:prstGeom>
          <a:noFill/>
          <a:ln/>
        </p:spPr>
        <p:txBody>
          <a:bodyPr wrap="square" lIns="0" tIns="0" rIns="0" bIns="0" rtlCol="0" anchor="ctr"/>
          <a:lstStyle/>
          <a:p>
            <a:pPr indent="0" marL="0">
              <a:buNone/>
            </a:pPr>
            <a:r>
              <a:rPr lang="en-US" sz="3400" b="1" dirty="0">
                <a:solidFill>
                  <a:srgbClr val="1E3A2F"/>
                </a:solidFill>
                <a:latin typeface="Georgia" pitchFamily="34" charset="0"/>
                <a:ea typeface="Georgia" pitchFamily="34" charset="-122"/>
                <a:cs typeface="Georgia" pitchFamily="34" charset="-120"/>
              </a:rPr>
              <a:t>El Sistema: 38 Flores en 3 Niveles</a:t>
            </a:r>
            <a:endParaRPr lang="en-US" sz="3400" dirty="0"/>
          </a:p>
        </p:txBody>
      </p:sp>
      <p:sp>
        <p:nvSpPr>
          <p:cNvPr id="8" name="Shape 5"/>
          <p:cNvSpPr/>
          <p:nvPr/>
        </p:nvSpPr>
        <p:spPr>
          <a:xfrm>
            <a:off x="347472" y="1417320"/>
            <a:ext cx="2816352" cy="3456432"/>
          </a:xfrm>
          <a:prstGeom prst="rect">
            <a:avLst/>
          </a:prstGeom>
          <a:solidFill>
            <a:srgbClr val="1E3A2F"/>
          </a:solidFill>
          <a:ln w="12700">
            <a:solidFill>
              <a:srgbClr val="1E3A2F"/>
            </a:solidFill>
            <a:prstDash val="solid"/>
          </a:ln>
          <a:effectLst>
            <a:outerShdw sx="100000" sy="100000" kx="0" ky="0" algn="bl" rotWithShape="0" blurRad="101600" dist="38100" dir="8100000">
              <a:srgbClr val="000000">
                <a:alpha val="12000"/>
              </a:srgbClr>
            </a:outerShdw>
          </a:effectLst>
        </p:spPr>
      </p:sp>
      <p:sp>
        <p:nvSpPr>
          <p:cNvPr id="9" name="Text 6"/>
          <p:cNvSpPr/>
          <p:nvPr/>
        </p:nvSpPr>
        <p:spPr>
          <a:xfrm>
            <a:off x="530352" y="1554480"/>
            <a:ext cx="2450592" cy="237744"/>
          </a:xfrm>
          <a:prstGeom prst="rect">
            <a:avLst/>
          </a:prstGeom>
          <a:noFill/>
          <a:ln/>
        </p:spPr>
        <p:txBody>
          <a:bodyPr wrap="square" lIns="0" tIns="0" rIns="0" bIns="0" rtlCol="0" anchor="ctr"/>
          <a:lstStyle/>
          <a:p>
            <a:pPr indent="0" marL="0">
              <a:buNone/>
            </a:pPr>
            <a:r>
              <a:rPr lang="en-US" sz="900" b="1" spc="150" kern="0" dirty="0">
                <a:solidFill>
                  <a:srgbClr val="C9A85C"/>
                </a:solidFill>
                <a:latin typeface="Calibri" pitchFamily="34" charset="0"/>
                <a:ea typeface="Calibri" pitchFamily="34" charset="-122"/>
                <a:cs typeface="Calibri" pitchFamily="34" charset="-120"/>
              </a:rPr>
              <a:t>NIVEL 1</a:t>
            </a:r>
            <a:endParaRPr lang="en-US" sz="900" dirty="0"/>
          </a:p>
        </p:txBody>
      </p:sp>
      <p:sp>
        <p:nvSpPr>
          <p:cNvPr id="10" name="Text 7"/>
          <p:cNvSpPr/>
          <p:nvPr/>
        </p:nvSpPr>
        <p:spPr>
          <a:xfrm>
            <a:off x="530352" y="1828800"/>
            <a:ext cx="2450592" cy="822960"/>
          </a:xfrm>
          <a:prstGeom prst="rect">
            <a:avLst/>
          </a:prstGeom>
          <a:noFill/>
          <a:ln/>
        </p:spPr>
        <p:txBody>
          <a:bodyPr wrap="square" lIns="0" tIns="0" rIns="0" bIns="0" rtlCol="0" anchor="ctr"/>
          <a:lstStyle/>
          <a:p>
            <a:pPr indent="0" marL="0">
              <a:buNone/>
            </a:pPr>
            <a:r>
              <a:rPr lang="en-US" sz="5800" b="1" dirty="0">
                <a:solidFill>
                  <a:srgbClr val="FFFFFF"/>
                </a:solidFill>
                <a:latin typeface="Georgia" pitchFamily="34" charset="0"/>
                <a:ea typeface="Georgia" pitchFamily="34" charset="-122"/>
                <a:cs typeface="Georgia" pitchFamily="34" charset="-120"/>
              </a:rPr>
              <a:t>12</a:t>
            </a:r>
            <a:endParaRPr lang="en-US" sz="5800" dirty="0"/>
          </a:p>
        </p:txBody>
      </p:sp>
      <p:sp>
        <p:nvSpPr>
          <p:cNvPr id="11" name="Text 8"/>
          <p:cNvSpPr/>
          <p:nvPr/>
        </p:nvSpPr>
        <p:spPr>
          <a:xfrm>
            <a:off x="530352" y="2670048"/>
            <a:ext cx="2450592" cy="384048"/>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Los Curadores</a:t>
            </a:r>
            <a:endParaRPr lang="en-US" sz="1400" dirty="0"/>
          </a:p>
        </p:txBody>
      </p:sp>
      <p:sp>
        <p:nvSpPr>
          <p:cNvPr id="12" name="Shape 9"/>
          <p:cNvSpPr/>
          <p:nvPr/>
        </p:nvSpPr>
        <p:spPr>
          <a:xfrm>
            <a:off x="530352" y="3108960"/>
            <a:ext cx="2450592" cy="36576"/>
          </a:xfrm>
          <a:prstGeom prst="rect">
            <a:avLst/>
          </a:prstGeom>
          <a:solidFill>
            <a:srgbClr val="C9A85C"/>
          </a:solidFill>
          <a:ln w="12700">
            <a:solidFill>
              <a:srgbClr val="C9A85C"/>
            </a:solidFill>
            <a:prstDash val="solid"/>
          </a:ln>
        </p:spPr>
      </p:sp>
      <p:sp>
        <p:nvSpPr>
          <p:cNvPr id="13" name="Text 10"/>
          <p:cNvSpPr/>
          <p:nvPr/>
        </p:nvSpPr>
        <p:spPr>
          <a:xfrm>
            <a:off x="530352" y="3218688"/>
            <a:ext cx="2450592" cy="148132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Arquetipos de personalidad — los patrones más profundos de carácter. Identificados en paralelo a los 12 arquetipos de Carl Jung. El patrón esencial del ser.</a:t>
            </a:r>
            <a:endParaRPr lang="en-US" sz="1100" dirty="0"/>
          </a:p>
        </p:txBody>
      </p:sp>
      <p:sp>
        <p:nvSpPr>
          <p:cNvPr id="14" name="Shape 11"/>
          <p:cNvSpPr/>
          <p:nvPr/>
        </p:nvSpPr>
        <p:spPr>
          <a:xfrm>
            <a:off x="3246120" y="1417320"/>
            <a:ext cx="2816352" cy="3456432"/>
          </a:xfrm>
          <a:prstGeom prst="rect">
            <a:avLst/>
          </a:prstGeom>
          <a:solidFill>
            <a:srgbClr val="6B9E78"/>
          </a:solidFill>
          <a:ln w="12700">
            <a:solidFill>
              <a:srgbClr val="6B9E78"/>
            </a:solidFill>
            <a:prstDash val="solid"/>
          </a:ln>
          <a:effectLst>
            <a:outerShdw sx="100000" sy="100000" kx="0" ky="0" algn="bl" rotWithShape="0" blurRad="101600" dist="38100" dir="8100000">
              <a:srgbClr val="000000">
                <a:alpha val="12000"/>
              </a:srgbClr>
            </a:outerShdw>
          </a:effectLst>
        </p:spPr>
      </p:sp>
      <p:sp>
        <p:nvSpPr>
          <p:cNvPr id="15" name="Text 12"/>
          <p:cNvSpPr/>
          <p:nvPr/>
        </p:nvSpPr>
        <p:spPr>
          <a:xfrm>
            <a:off x="3429000" y="1554480"/>
            <a:ext cx="2450592" cy="237744"/>
          </a:xfrm>
          <a:prstGeom prst="rect">
            <a:avLst/>
          </a:prstGeom>
          <a:noFill/>
          <a:ln/>
        </p:spPr>
        <p:txBody>
          <a:bodyPr wrap="square" lIns="0" tIns="0" rIns="0" bIns="0" rtlCol="0" anchor="ctr"/>
          <a:lstStyle/>
          <a:p>
            <a:pPr indent="0" marL="0">
              <a:buNone/>
            </a:pPr>
            <a:r>
              <a:rPr lang="en-US" sz="900" b="1" spc="150" kern="0" dirty="0">
                <a:solidFill>
                  <a:srgbClr val="1E3A2F"/>
                </a:solidFill>
                <a:latin typeface="Calibri" pitchFamily="34" charset="0"/>
                <a:ea typeface="Calibri" pitchFamily="34" charset="-122"/>
                <a:cs typeface="Calibri" pitchFamily="34" charset="-120"/>
              </a:rPr>
              <a:t>NIVEL 2</a:t>
            </a:r>
            <a:endParaRPr lang="en-US" sz="900" dirty="0"/>
          </a:p>
        </p:txBody>
      </p:sp>
      <p:sp>
        <p:nvSpPr>
          <p:cNvPr id="16" name="Text 13"/>
          <p:cNvSpPr/>
          <p:nvPr/>
        </p:nvSpPr>
        <p:spPr>
          <a:xfrm>
            <a:off x="3429000" y="1828800"/>
            <a:ext cx="2450592" cy="822960"/>
          </a:xfrm>
          <a:prstGeom prst="rect">
            <a:avLst/>
          </a:prstGeom>
          <a:noFill/>
          <a:ln/>
        </p:spPr>
        <p:txBody>
          <a:bodyPr wrap="square" lIns="0" tIns="0" rIns="0" bIns="0" rtlCol="0" anchor="ctr"/>
          <a:lstStyle/>
          <a:p>
            <a:pPr indent="0" marL="0">
              <a:buNone/>
            </a:pPr>
            <a:r>
              <a:rPr lang="en-US" sz="5800" b="1" dirty="0">
                <a:solidFill>
                  <a:srgbClr val="1E3A2F"/>
                </a:solidFill>
                <a:latin typeface="Georgia" pitchFamily="34" charset="0"/>
                <a:ea typeface="Georgia" pitchFamily="34" charset="-122"/>
                <a:cs typeface="Georgia" pitchFamily="34" charset="-120"/>
              </a:rPr>
              <a:t>7</a:t>
            </a:r>
            <a:endParaRPr lang="en-US" sz="5800" dirty="0"/>
          </a:p>
        </p:txBody>
      </p:sp>
      <p:sp>
        <p:nvSpPr>
          <p:cNvPr id="17" name="Text 14"/>
          <p:cNvSpPr/>
          <p:nvPr/>
        </p:nvSpPr>
        <p:spPr>
          <a:xfrm>
            <a:off x="3429000" y="2670048"/>
            <a:ext cx="2450592" cy="384048"/>
          </a:xfrm>
          <a:prstGeom prst="rect">
            <a:avLst/>
          </a:prstGeom>
          <a:noFill/>
          <a:ln/>
        </p:spPr>
        <p:txBody>
          <a:bodyPr wrap="square" lIns="0" tIns="0" rIns="0" bIns="0" rtlCol="0" anchor="ctr"/>
          <a:lstStyle/>
          <a:p>
            <a:pPr indent="0" marL="0">
              <a:buNone/>
            </a:pPr>
            <a:r>
              <a:rPr lang="en-US" sz="1400" b="1" dirty="0">
                <a:solidFill>
                  <a:srgbClr val="1E3A2F"/>
                </a:solidFill>
                <a:latin typeface="Georgia" pitchFamily="34" charset="0"/>
                <a:ea typeface="Georgia" pitchFamily="34" charset="-122"/>
                <a:cs typeface="Georgia" pitchFamily="34" charset="-120"/>
              </a:rPr>
              <a:t>Los Ayudantes</a:t>
            </a:r>
            <a:endParaRPr lang="en-US" sz="1400" dirty="0"/>
          </a:p>
        </p:txBody>
      </p:sp>
      <p:sp>
        <p:nvSpPr>
          <p:cNvPr id="18" name="Shape 15"/>
          <p:cNvSpPr/>
          <p:nvPr/>
        </p:nvSpPr>
        <p:spPr>
          <a:xfrm>
            <a:off x="3429000" y="3108960"/>
            <a:ext cx="2450592" cy="36576"/>
          </a:xfrm>
          <a:prstGeom prst="rect">
            <a:avLst/>
          </a:prstGeom>
          <a:solidFill>
            <a:srgbClr val="1E3A2F"/>
          </a:solidFill>
          <a:ln w="12700">
            <a:solidFill>
              <a:srgbClr val="1E3A2F"/>
            </a:solidFill>
            <a:prstDash val="solid"/>
          </a:ln>
        </p:spPr>
      </p:sp>
      <p:sp>
        <p:nvSpPr>
          <p:cNvPr id="19" name="Text 16"/>
          <p:cNvSpPr/>
          <p:nvPr/>
        </p:nvSpPr>
        <p:spPr>
          <a:xfrm>
            <a:off x="3429000" y="3218688"/>
            <a:ext cx="2450592" cy="1481328"/>
          </a:xfrm>
          <a:prstGeom prst="rect">
            <a:avLst/>
          </a:prstGeom>
          <a:noFill/>
          <a:ln/>
        </p:spPr>
        <p:txBody>
          <a:bodyPr wrap="square" lIns="0" tIns="0" rIns="0" bIns="0" rtlCol="0" anchor="ctr"/>
          <a:lstStyle/>
          <a:p>
            <a:pPr indent="0" marL="0">
              <a:buNone/>
            </a:pPr>
            <a:r>
              <a:rPr lang="en-US" sz="1100" dirty="0">
                <a:solidFill>
                  <a:srgbClr val="1E3A2F"/>
                </a:solidFill>
                <a:latin typeface="Calibri" pitchFamily="34" charset="0"/>
                <a:ea typeface="Calibri" pitchFamily="34" charset="-122"/>
                <a:cs typeface="Calibri" pitchFamily="34" charset="-120"/>
              </a:rPr>
              <a:t>Las 'caretas' que adoptamos para sobrevivir según nuestra historia. No describen personalidades — describen mecanismos de adaptación.</a:t>
            </a:r>
            <a:endParaRPr lang="en-US" sz="1100" dirty="0"/>
          </a:p>
        </p:txBody>
      </p:sp>
      <p:sp>
        <p:nvSpPr>
          <p:cNvPr id="20" name="Shape 17"/>
          <p:cNvSpPr/>
          <p:nvPr/>
        </p:nvSpPr>
        <p:spPr>
          <a:xfrm>
            <a:off x="6144768" y="1417320"/>
            <a:ext cx="2816352" cy="3456432"/>
          </a:xfrm>
          <a:prstGeom prst="rect">
            <a:avLst/>
          </a:prstGeom>
          <a:solidFill>
            <a:srgbClr val="C9A85C"/>
          </a:solidFill>
          <a:ln w="12700">
            <a:solidFill>
              <a:srgbClr val="C9A85C"/>
            </a:solidFill>
            <a:prstDash val="solid"/>
          </a:ln>
          <a:effectLst>
            <a:outerShdw sx="100000" sy="100000" kx="0" ky="0" algn="bl" rotWithShape="0" blurRad="101600" dist="38100" dir="8100000">
              <a:srgbClr val="000000">
                <a:alpha val="12000"/>
              </a:srgbClr>
            </a:outerShdw>
          </a:effectLst>
        </p:spPr>
      </p:sp>
      <p:sp>
        <p:nvSpPr>
          <p:cNvPr id="21" name="Text 18"/>
          <p:cNvSpPr/>
          <p:nvPr/>
        </p:nvSpPr>
        <p:spPr>
          <a:xfrm>
            <a:off x="6327648" y="1554480"/>
            <a:ext cx="2450592" cy="237744"/>
          </a:xfrm>
          <a:prstGeom prst="rect">
            <a:avLst/>
          </a:prstGeom>
          <a:noFill/>
          <a:ln/>
        </p:spPr>
        <p:txBody>
          <a:bodyPr wrap="square" lIns="0" tIns="0" rIns="0" bIns="0" rtlCol="0" anchor="ctr"/>
          <a:lstStyle/>
          <a:p>
            <a:pPr indent="0" marL="0">
              <a:buNone/>
            </a:pPr>
            <a:r>
              <a:rPr lang="en-US" sz="900" b="1" spc="150" kern="0" dirty="0">
                <a:solidFill>
                  <a:srgbClr val="1E3A2F"/>
                </a:solidFill>
                <a:latin typeface="Calibri" pitchFamily="34" charset="0"/>
                <a:ea typeface="Calibri" pitchFamily="34" charset="-122"/>
                <a:cs typeface="Calibri" pitchFamily="34" charset="-120"/>
              </a:rPr>
              <a:t>NIVEL 3</a:t>
            </a:r>
            <a:endParaRPr lang="en-US" sz="900" dirty="0"/>
          </a:p>
        </p:txBody>
      </p:sp>
      <p:sp>
        <p:nvSpPr>
          <p:cNvPr id="22" name="Text 19"/>
          <p:cNvSpPr/>
          <p:nvPr/>
        </p:nvSpPr>
        <p:spPr>
          <a:xfrm>
            <a:off x="6327648" y="1828800"/>
            <a:ext cx="2450592" cy="822960"/>
          </a:xfrm>
          <a:prstGeom prst="rect">
            <a:avLst/>
          </a:prstGeom>
          <a:noFill/>
          <a:ln/>
        </p:spPr>
        <p:txBody>
          <a:bodyPr wrap="square" lIns="0" tIns="0" rIns="0" bIns="0" rtlCol="0" anchor="ctr"/>
          <a:lstStyle/>
          <a:p>
            <a:pPr indent="0" marL="0">
              <a:buNone/>
            </a:pPr>
            <a:r>
              <a:rPr lang="en-US" sz="5800" b="1" dirty="0">
                <a:solidFill>
                  <a:srgbClr val="1E3A2F"/>
                </a:solidFill>
                <a:latin typeface="Georgia" pitchFamily="34" charset="0"/>
                <a:ea typeface="Georgia" pitchFamily="34" charset="-122"/>
                <a:cs typeface="Georgia" pitchFamily="34" charset="-120"/>
              </a:rPr>
              <a:t>19</a:t>
            </a:r>
            <a:endParaRPr lang="en-US" sz="5800" dirty="0"/>
          </a:p>
        </p:txBody>
      </p:sp>
      <p:sp>
        <p:nvSpPr>
          <p:cNvPr id="23" name="Text 20"/>
          <p:cNvSpPr/>
          <p:nvPr/>
        </p:nvSpPr>
        <p:spPr>
          <a:xfrm>
            <a:off x="6327648" y="2670048"/>
            <a:ext cx="2450592" cy="384048"/>
          </a:xfrm>
          <a:prstGeom prst="rect">
            <a:avLst/>
          </a:prstGeom>
          <a:noFill/>
          <a:ln/>
        </p:spPr>
        <p:txBody>
          <a:bodyPr wrap="square" lIns="0" tIns="0" rIns="0" bIns="0" rtlCol="0" anchor="ctr"/>
          <a:lstStyle/>
          <a:p>
            <a:pPr indent="0" marL="0">
              <a:buNone/>
            </a:pPr>
            <a:r>
              <a:rPr lang="en-US" sz="1400" b="1" dirty="0">
                <a:solidFill>
                  <a:srgbClr val="1E3A2F"/>
                </a:solidFill>
                <a:latin typeface="Georgia" pitchFamily="34" charset="0"/>
                <a:ea typeface="Georgia" pitchFamily="34" charset="-122"/>
                <a:cs typeface="Georgia" pitchFamily="34" charset="-120"/>
              </a:rPr>
              <a:t>Situacionales</a:t>
            </a:r>
            <a:endParaRPr lang="en-US" sz="1400" dirty="0"/>
          </a:p>
        </p:txBody>
      </p:sp>
      <p:sp>
        <p:nvSpPr>
          <p:cNvPr id="24" name="Shape 21"/>
          <p:cNvSpPr/>
          <p:nvPr/>
        </p:nvSpPr>
        <p:spPr>
          <a:xfrm>
            <a:off x="6327648" y="3108960"/>
            <a:ext cx="2450592" cy="36576"/>
          </a:xfrm>
          <a:prstGeom prst="rect">
            <a:avLst/>
          </a:prstGeom>
          <a:solidFill>
            <a:srgbClr val="1E3A2F"/>
          </a:solidFill>
          <a:ln w="12700">
            <a:solidFill>
              <a:srgbClr val="1E3A2F"/>
            </a:solidFill>
            <a:prstDash val="solid"/>
          </a:ln>
        </p:spPr>
      </p:sp>
      <p:sp>
        <p:nvSpPr>
          <p:cNvPr id="25" name="Text 22"/>
          <p:cNvSpPr/>
          <p:nvPr/>
        </p:nvSpPr>
        <p:spPr>
          <a:xfrm>
            <a:off x="6327648" y="3218688"/>
            <a:ext cx="2450592" cy="1481328"/>
          </a:xfrm>
          <a:prstGeom prst="rect">
            <a:avLst/>
          </a:prstGeom>
          <a:noFill/>
          <a:ln/>
        </p:spPr>
        <p:txBody>
          <a:bodyPr wrap="square" lIns="0" tIns="0" rIns="0" bIns="0" rtlCol="0" anchor="ctr"/>
          <a:lstStyle/>
          <a:p>
            <a:pPr indent="0" marL="0">
              <a:buNone/>
            </a:pPr>
            <a:r>
              <a:rPr lang="en-US" sz="1100" dirty="0">
                <a:solidFill>
                  <a:srgbClr val="1E3A2F"/>
                </a:solidFill>
                <a:latin typeface="Calibri" pitchFamily="34" charset="0"/>
                <a:ea typeface="Calibri" pitchFamily="34" charset="-122"/>
                <a:cs typeface="Calibri" pitchFamily="34" charset="-120"/>
              </a:rPr>
              <a:t>Situaciones del día a día: miedos, traumas, conductas obsesivas, dificultad para aprender, agresividad. Las más fáciles de identificar.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3A2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5C"/>
          </a:solidFill>
          <a:ln w="12700">
            <a:solidFill>
              <a:srgbClr val="C9A85C"/>
            </a:solidFill>
            <a:prstDash val="solid"/>
          </a:ln>
        </p:spPr>
      </p:sp>
      <p:sp>
        <p:nvSpPr>
          <p:cNvPr id="3" name="Shape 1"/>
          <p:cNvSpPr/>
          <p:nvPr/>
        </p:nvSpPr>
        <p:spPr>
          <a:xfrm>
            <a:off x="0" y="0"/>
            <a:ext cx="128016" cy="5143500"/>
          </a:xfrm>
          <a:prstGeom prst="rect">
            <a:avLst/>
          </a:prstGeom>
          <a:solidFill>
            <a:srgbClr val="C9A85C"/>
          </a:solidFill>
          <a:ln w="12700">
            <a:solidFill>
              <a:srgbClr val="C9A85C"/>
            </a:solidFill>
            <a:prstDash val="solid"/>
          </a:ln>
        </p:spPr>
      </p:sp>
      <p:pic>
        <p:nvPicPr>
          <p:cNvPr id="4" name="Image 0" descr="/sessions/focused-admiring-fermi/mnt/Mascotas_2026/Programa/logo centro.png">    </p:cNvPr>
          <p:cNvPicPr>
            <a:picLocks noChangeAspect="1"/>
          </p:cNvPicPr>
          <p:nvPr/>
        </p:nvPicPr>
        <p:blipFill>
          <a:blip r:embed="rId1"/>
          <a:stretch>
            <a:fillRect/>
          </a:stretch>
        </p:blipFill>
        <p:spPr>
          <a:xfrm>
            <a:off x="8485632" y="109728"/>
            <a:ext cx="347472" cy="347472"/>
          </a:xfrm>
          <a:prstGeom prst="rect">
            <a:avLst/>
          </a:prstGeom>
        </p:spPr>
      </p:pic>
      <p:sp>
        <p:nvSpPr>
          <p:cNvPr id="5" name="Shape 2"/>
          <p:cNvSpPr/>
          <p:nvPr/>
        </p:nvSpPr>
        <p:spPr>
          <a:xfrm>
            <a:off x="411480" y="256032"/>
            <a:ext cx="868680" cy="274320"/>
          </a:xfrm>
          <a:prstGeom prst="rect">
            <a:avLst/>
          </a:prstGeom>
          <a:solidFill>
            <a:srgbClr val="6B9E78"/>
          </a:solidFill>
          <a:ln w="12700">
            <a:solidFill>
              <a:srgbClr val="6B9E78"/>
            </a:solidFill>
            <a:prstDash val="solid"/>
          </a:ln>
        </p:spPr>
      </p:sp>
      <p:sp>
        <p:nvSpPr>
          <p:cNvPr id="6" name="Text 3"/>
          <p:cNvSpPr/>
          <p:nvPr/>
        </p:nvSpPr>
        <p:spPr>
          <a:xfrm>
            <a:off x="411480" y="256032"/>
            <a:ext cx="86868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PASO 4</a:t>
            </a:r>
            <a:endParaRPr lang="en-US" sz="800" dirty="0"/>
          </a:p>
        </p:txBody>
      </p:sp>
      <p:sp>
        <p:nvSpPr>
          <p:cNvPr id="7" name="Text 4"/>
          <p:cNvSpPr/>
          <p:nvPr/>
        </p:nvSpPr>
        <p:spPr>
          <a:xfrm>
            <a:off x="411480" y="658368"/>
            <a:ext cx="8321040" cy="566928"/>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Las 7 Flores Esenciales</a:t>
            </a:r>
            <a:endParaRPr lang="en-US" sz="3600" dirty="0"/>
          </a:p>
        </p:txBody>
      </p:sp>
      <p:sp>
        <p:nvSpPr>
          <p:cNvPr id="8" name="Text 5"/>
          <p:cNvSpPr/>
          <p:nvPr/>
        </p:nvSpPr>
        <p:spPr>
          <a:xfrm>
            <a:off x="411480" y="1298448"/>
            <a:ext cx="7772400" cy="329184"/>
          </a:xfrm>
          <a:prstGeom prst="rect">
            <a:avLst/>
          </a:prstGeom>
          <a:noFill/>
          <a:ln/>
        </p:spPr>
        <p:txBody>
          <a:bodyPr wrap="square" lIns="0" tIns="0" rIns="0" bIns="0" rtlCol="0" anchor="ctr"/>
          <a:lstStyle/>
          <a:p>
            <a:pPr indent="0" marL="0">
              <a:buNone/>
            </a:pPr>
            <a:r>
              <a:rPr lang="en-US" sz="1300" i="1" dirty="0">
                <a:solidFill>
                  <a:srgbClr val="A8D5BA"/>
                </a:solidFill>
                <a:latin typeface="Calibri" pitchFamily="34" charset="0"/>
                <a:ea typeface="Calibri" pitchFamily="34" charset="-122"/>
                <a:cs typeface="Calibri" pitchFamily="34" charset="-120"/>
              </a:rPr>
              <a:t>Con estas siete cubren el 80% de lo que van a necesitar con su mascota.</a:t>
            </a:r>
            <a:endParaRPr lang="en-US" sz="1300" dirty="0"/>
          </a:p>
        </p:txBody>
      </p:sp>
      <p:sp>
        <p:nvSpPr>
          <p:cNvPr id="9" name="Shape 6"/>
          <p:cNvSpPr/>
          <p:nvPr/>
        </p:nvSpPr>
        <p:spPr>
          <a:xfrm>
            <a:off x="320040" y="1874520"/>
            <a:ext cx="2057400" cy="1207008"/>
          </a:xfrm>
          <a:prstGeom prst="rect">
            <a:avLst/>
          </a:prstGeom>
          <a:solidFill>
            <a:srgbClr val="2A5040"/>
          </a:solidFill>
          <a:ln w="12700">
            <a:solidFill>
              <a:srgbClr val="2A5040"/>
            </a:solidFill>
            <a:prstDash val="solid"/>
          </a:ln>
          <a:effectLst>
            <a:outerShdw sx="100000" sy="100000" kx="0" ky="0" algn="bl" rotWithShape="0" blurRad="101600" dist="38100" dir="8100000">
              <a:srgbClr val="000000">
                <a:alpha val="12000"/>
              </a:srgbClr>
            </a:outerShdw>
          </a:effectLst>
        </p:spPr>
      </p:sp>
      <p:sp>
        <p:nvSpPr>
          <p:cNvPr id="10" name="Text 7"/>
          <p:cNvSpPr/>
          <p:nvPr/>
        </p:nvSpPr>
        <p:spPr>
          <a:xfrm>
            <a:off x="429768" y="1965960"/>
            <a:ext cx="384048" cy="347472"/>
          </a:xfrm>
          <a:prstGeom prst="rect">
            <a:avLst/>
          </a:prstGeom>
          <a:noFill/>
          <a:ln/>
        </p:spPr>
        <p:txBody>
          <a:bodyPr wrap="square" lIns="0" tIns="0" rIns="0" bIns="0" rtlCol="0" anchor="ctr"/>
          <a:lstStyle/>
          <a:p>
            <a:pPr indent="0" marL="0">
              <a:buNone/>
            </a:pPr>
            <a:r>
              <a:rPr lang="en-US" sz="1300" b="1" dirty="0">
                <a:solidFill>
                  <a:srgbClr val="C9A85C"/>
                </a:solidFill>
                <a:latin typeface="Georgia" pitchFamily="34" charset="0"/>
                <a:ea typeface="Georgia" pitchFamily="34" charset="-122"/>
                <a:cs typeface="Georgia" pitchFamily="34" charset="-120"/>
              </a:rPr>
              <a:t>1</a:t>
            </a:r>
            <a:endParaRPr lang="en-US" sz="1300" dirty="0"/>
          </a:p>
        </p:txBody>
      </p:sp>
      <p:sp>
        <p:nvSpPr>
          <p:cNvPr id="11" name="Text 8"/>
          <p:cNvSpPr/>
          <p:nvPr/>
        </p:nvSpPr>
        <p:spPr>
          <a:xfrm>
            <a:off x="429768" y="2313432"/>
            <a:ext cx="1837944" cy="347472"/>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Rescue Remedy</a:t>
            </a:r>
            <a:endParaRPr lang="en-US" sz="1200" dirty="0"/>
          </a:p>
        </p:txBody>
      </p:sp>
      <p:sp>
        <p:nvSpPr>
          <p:cNvPr id="12" name="Text 9"/>
          <p:cNvSpPr/>
          <p:nvPr/>
        </p:nvSpPr>
        <p:spPr>
          <a:xfrm>
            <a:off x="429768" y="2679192"/>
            <a:ext cx="1837944" cy="310896"/>
          </a:xfrm>
          <a:prstGeom prst="rect">
            <a:avLst/>
          </a:prstGeom>
          <a:noFill/>
          <a:ln/>
        </p:spPr>
        <p:txBody>
          <a:bodyPr wrap="square" lIns="0" tIns="0" rIns="0" bIns="0" rtlCol="0" anchor="ctr"/>
          <a:lstStyle/>
          <a:p>
            <a:pPr indent="0" marL="0">
              <a:buNone/>
            </a:pPr>
            <a:r>
              <a:rPr lang="en-US" sz="1000" dirty="0">
                <a:solidFill>
                  <a:srgbClr val="A8D5BA"/>
                </a:solidFill>
                <a:latin typeface="Calibri" pitchFamily="34" charset="0"/>
                <a:ea typeface="Calibri" pitchFamily="34" charset="-122"/>
                <a:cs typeface="Calibri" pitchFamily="34" charset="-120"/>
              </a:rPr>
              <a:t>Estrés agudo · emergencias</a:t>
            </a:r>
            <a:endParaRPr lang="en-US" sz="1000" dirty="0"/>
          </a:p>
        </p:txBody>
      </p:sp>
      <p:sp>
        <p:nvSpPr>
          <p:cNvPr id="13" name="Shape 10"/>
          <p:cNvSpPr/>
          <p:nvPr/>
        </p:nvSpPr>
        <p:spPr>
          <a:xfrm>
            <a:off x="2468880" y="1874520"/>
            <a:ext cx="2057400" cy="1207008"/>
          </a:xfrm>
          <a:prstGeom prst="rect">
            <a:avLst/>
          </a:prstGeom>
          <a:solidFill>
            <a:srgbClr val="2A5040"/>
          </a:solidFill>
          <a:ln w="12700">
            <a:solidFill>
              <a:srgbClr val="2A5040"/>
            </a:solidFill>
            <a:prstDash val="solid"/>
          </a:ln>
          <a:effectLst>
            <a:outerShdw sx="100000" sy="100000" kx="0" ky="0" algn="bl" rotWithShape="0" blurRad="101600" dist="38100" dir="8100000">
              <a:srgbClr val="000000">
                <a:alpha val="12000"/>
              </a:srgbClr>
            </a:outerShdw>
          </a:effectLst>
        </p:spPr>
      </p:sp>
      <p:sp>
        <p:nvSpPr>
          <p:cNvPr id="14" name="Text 11"/>
          <p:cNvSpPr/>
          <p:nvPr/>
        </p:nvSpPr>
        <p:spPr>
          <a:xfrm>
            <a:off x="2578608" y="1965960"/>
            <a:ext cx="384048" cy="347472"/>
          </a:xfrm>
          <a:prstGeom prst="rect">
            <a:avLst/>
          </a:prstGeom>
          <a:noFill/>
          <a:ln/>
        </p:spPr>
        <p:txBody>
          <a:bodyPr wrap="square" lIns="0" tIns="0" rIns="0" bIns="0" rtlCol="0" anchor="ctr"/>
          <a:lstStyle/>
          <a:p>
            <a:pPr indent="0" marL="0">
              <a:buNone/>
            </a:pPr>
            <a:r>
              <a:rPr lang="en-US" sz="1300" b="1" dirty="0">
                <a:solidFill>
                  <a:srgbClr val="C9A85C"/>
                </a:solidFill>
                <a:latin typeface="Georgia" pitchFamily="34" charset="0"/>
                <a:ea typeface="Georgia" pitchFamily="34" charset="-122"/>
                <a:cs typeface="Georgia" pitchFamily="34" charset="-120"/>
              </a:rPr>
              <a:t>2</a:t>
            </a:r>
            <a:endParaRPr lang="en-US" sz="1300" dirty="0"/>
          </a:p>
        </p:txBody>
      </p:sp>
      <p:sp>
        <p:nvSpPr>
          <p:cNvPr id="15" name="Text 12"/>
          <p:cNvSpPr/>
          <p:nvPr/>
        </p:nvSpPr>
        <p:spPr>
          <a:xfrm>
            <a:off x="2578608" y="2313432"/>
            <a:ext cx="1837944" cy="347472"/>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Star of Bethlehem</a:t>
            </a:r>
            <a:endParaRPr lang="en-US" sz="1200" dirty="0"/>
          </a:p>
        </p:txBody>
      </p:sp>
      <p:sp>
        <p:nvSpPr>
          <p:cNvPr id="16" name="Text 13"/>
          <p:cNvSpPr/>
          <p:nvPr/>
        </p:nvSpPr>
        <p:spPr>
          <a:xfrm>
            <a:off x="2578608" y="2679192"/>
            <a:ext cx="1837944" cy="310896"/>
          </a:xfrm>
          <a:prstGeom prst="rect">
            <a:avLst/>
          </a:prstGeom>
          <a:noFill/>
          <a:ln/>
        </p:spPr>
        <p:txBody>
          <a:bodyPr wrap="square" lIns="0" tIns="0" rIns="0" bIns="0" rtlCol="0" anchor="ctr"/>
          <a:lstStyle/>
          <a:p>
            <a:pPr indent="0" marL="0">
              <a:buNone/>
            </a:pPr>
            <a:r>
              <a:rPr lang="en-US" sz="1000" dirty="0">
                <a:solidFill>
                  <a:srgbClr val="A8D5BA"/>
                </a:solidFill>
                <a:latin typeface="Calibri" pitchFamily="34" charset="0"/>
                <a:ea typeface="Calibri" pitchFamily="34" charset="-122"/>
                <a:cs typeface="Calibri" pitchFamily="34" charset="-120"/>
              </a:rPr>
              <a:t>Trauma · shock</a:t>
            </a:r>
            <a:endParaRPr lang="en-US" sz="1000" dirty="0"/>
          </a:p>
        </p:txBody>
      </p:sp>
      <p:sp>
        <p:nvSpPr>
          <p:cNvPr id="17" name="Shape 14"/>
          <p:cNvSpPr/>
          <p:nvPr/>
        </p:nvSpPr>
        <p:spPr>
          <a:xfrm>
            <a:off x="4617720" y="1874520"/>
            <a:ext cx="2057400" cy="1207008"/>
          </a:xfrm>
          <a:prstGeom prst="rect">
            <a:avLst/>
          </a:prstGeom>
          <a:solidFill>
            <a:srgbClr val="2A5040"/>
          </a:solidFill>
          <a:ln w="12700">
            <a:solidFill>
              <a:srgbClr val="2A5040"/>
            </a:solidFill>
            <a:prstDash val="solid"/>
          </a:ln>
          <a:effectLst>
            <a:outerShdw sx="100000" sy="100000" kx="0" ky="0" algn="bl" rotWithShape="0" blurRad="101600" dist="38100" dir="8100000">
              <a:srgbClr val="000000">
                <a:alpha val="12000"/>
              </a:srgbClr>
            </a:outerShdw>
          </a:effectLst>
        </p:spPr>
      </p:sp>
      <p:sp>
        <p:nvSpPr>
          <p:cNvPr id="18" name="Text 15"/>
          <p:cNvSpPr/>
          <p:nvPr/>
        </p:nvSpPr>
        <p:spPr>
          <a:xfrm>
            <a:off x="4727448" y="1965960"/>
            <a:ext cx="384048" cy="347472"/>
          </a:xfrm>
          <a:prstGeom prst="rect">
            <a:avLst/>
          </a:prstGeom>
          <a:noFill/>
          <a:ln/>
        </p:spPr>
        <p:txBody>
          <a:bodyPr wrap="square" lIns="0" tIns="0" rIns="0" bIns="0" rtlCol="0" anchor="ctr"/>
          <a:lstStyle/>
          <a:p>
            <a:pPr indent="0" marL="0">
              <a:buNone/>
            </a:pPr>
            <a:r>
              <a:rPr lang="en-US" sz="1300" b="1" dirty="0">
                <a:solidFill>
                  <a:srgbClr val="C9A85C"/>
                </a:solidFill>
                <a:latin typeface="Georgia" pitchFamily="34" charset="0"/>
                <a:ea typeface="Georgia" pitchFamily="34" charset="-122"/>
                <a:cs typeface="Georgia" pitchFamily="34" charset="-120"/>
              </a:rPr>
              <a:t>3</a:t>
            </a:r>
            <a:endParaRPr lang="en-US" sz="1300" dirty="0"/>
          </a:p>
        </p:txBody>
      </p:sp>
      <p:sp>
        <p:nvSpPr>
          <p:cNvPr id="19" name="Text 16"/>
          <p:cNvSpPr/>
          <p:nvPr/>
        </p:nvSpPr>
        <p:spPr>
          <a:xfrm>
            <a:off x="4727448" y="2313432"/>
            <a:ext cx="1837944" cy="347472"/>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Mimulus</a:t>
            </a:r>
            <a:endParaRPr lang="en-US" sz="1200" dirty="0"/>
          </a:p>
        </p:txBody>
      </p:sp>
      <p:sp>
        <p:nvSpPr>
          <p:cNvPr id="20" name="Text 17"/>
          <p:cNvSpPr/>
          <p:nvPr/>
        </p:nvSpPr>
        <p:spPr>
          <a:xfrm>
            <a:off x="4727448" y="2679192"/>
            <a:ext cx="1837944" cy="310896"/>
          </a:xfrm>
          <a:prstGeom prst="rect">
            <a:avLst/>
          </a:prstGeom>
          <a:noFill/>
          <a:ln/>
        </p:spPr>
        <p:txBody>
          <a:bodyPr wrap="square" lIns="0" tIns="0" rIns="0" bIns="0" rtlCol="0" anchor="ctr"/>
          <a:lstStyle/>
          <a:p>
            <a:pPr indent="0" marL="0">
              <a:buNone/>
            </a:pPr>
            <a:r>
              <a:rPr lang="en-US" sz="1000" dirty="0">
                <a:solidFill>
                  <a:srgbClr val="A8D5BA"/>
                </a:solidFill>
                <a:latin typeface="Calibri" pitchFamily="34" charset="0"/>
                <a:ea typeface="Calibri" pitchFamily="34" charset="-122"/>
                <a:cs typeface="Calibri" pitchFamily="34" charset="-120"/>
              </a:rPr>
              <a:t>Miedo concreto identificable</a:t>
            </a:r>
            <a:endParaRPr lang="en-US" sz="1000" dirty="0"/>
          </a:p>
        </p:txBody>
      </p:sp>
      <p:sp>
        <p:nvSpPr>
          <p:cNvPr id="21" name="Shape 18"/>
          <p:cNvSpPr/>
          <p:nvPr/>
        </p:nvSpPr>
        <p:spPr>
          <a:xfrm>
            <a:off x="6766560" y="1874520"/>
            <a:ext cx="2057400" cy="1207008"/>
          </a:xfrm>
          <a:prstGeom prst="rect">
            <a:avLst/>
          </a:prstGeom>
          <a:solidFill>
            <a:srgbClr val="2A5040"/>
          </a:solidFill>
          <a:ln w="12700">
            <a:solidFill>
              <a:srgbClr val="2A5040"/>
            </a:solidFill>
            <a:prstDash val="solid"/>
          </a:ln>
          <a:effectLst>
            <a:outerShdw sx="100000" sy="100000" kx="0" ky="0" algn="bl" rotWithShape="0" blurRad="101600" dist="38100" dir="8100000">
              <a:srgbClr val="000000">
                <a:alpha val="12000"/>
              </a:srgbClr>
            </a:outerShdw>
          </a:effectLst>
        </p:spPr>
      </p:sp>
      <p:sp>
        <p:nvSpPr>
          <p:cNvPr id="22" name="Text 19"/>
          <p:cNvSpPr/>
          <p:nvPr/>
        </p:nvSpPr>
        <p:spPr>
          <a:xfrm>
            <a:off x="6876288" y="1965960"/>
            <a:ext cx="384048" cy="347472"/>
          </a:xfrm>
          <a:prstGeom prst="rect">
            <a:avLst/>
          </a:prstGeom>
          <a:noFill/>
          <a:ln/>
        </p:spPr>
        <p:txBody>
          <a:bodyPr wrap="square" lIns="0" tIns="0" rIns="0" bIns="0" rtlCol="0" anchor="ctr"/>
          <a:lstStyle/>
          <a:p>
            <a:pPr indent="0" marL="0">
              <a:buNone/>
            </a:pPr>
            <a:r>
              <a:rPr lang="en-US" sz="1300" b="1" dirty="0">
                <a:solidFill>
                  <a:srgbClr val="C9A85C"/>
                </a:solidFill>
                <a:latin typeface="Georgia" pitchFamily="34" charset="0"/>
                <a:ea typeface="Georgia" pitchFamily="34" charset="-122"/>
                <a:cs typeface="Georgia" pitchFamily="34" charset="-120"/>
              </a:rPr>
              <a:t>4</a:t>
            </a:r>
            <a:endParaRPr lang="en-US" sz="1300" dirty="0"/>
          </a:p>
        </p:txBody>
      </p:sp>
      <p:sp>
        <p:nvSpPr>
          <p:cNvPr id="23" name="Text 20"/>
          <p:cNvSpPr/>
          <p:nvPr/>
        </p:nvSpPr>
        <p:spPr>
          <a:xfrm>
            <a:off x="6876288" y="2313432"/>
            <a:ext cx="1837944" cy="347472"/>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Walnut</a:t>
            </a:r>
            <a:endParaRPr lang="en-US" sz="1200" dirty="0"/>
          </a:p>
        </p:txBody>
      </p:sp>
      <p:sp>
        <p:nvSpPr>
          <p:cNvPr id="24" name="Text 21"/>
          <p:cNvSpPr/>
          <p:nvPr/>
        </p:nvSpPr>
        <p:spPr>
          <a:xfrm>
            <a:off x="6876288" y="2679192"/>
            <a:ext cx="1837944" cy="310896"/>
          </a:xfrm>
          <a:prstGeom prst="rect">
            <a:avLst/>
          </a:prstGeom>
          <a:noFill/>
          <a:ln/>
        </p:spPr>
        <p:txBody>
          <a:bodyPr wrap="square" lIns="0" tIns="0" rIns="0" bIns="0" rtlCol="0" anchor="ctr"/>
          <a:lstStyle/>
          <a:p>
            <a:pPr indent="0" marL="0">
              <a:buNone/>
            </a:pPr>
            <a:r>
              <a:rPr lang="en-US" sz="1000" dirty="0">
                <a:solidFill>
                  <a:srgbClr val="A8D5BA"/>
                </a:solidFill>
                <a:latin typeface="Calibri" pitchFamily="34" charset="0"/>
                <a:ea typeface="Calibri" pitchFamily="34" charset="-122"/>
                <a:cs typeface="Calibri" pitchFamily="34" charset="-120"/>
              </a:rPr>
              <a:t>Cambio · transición</a:t>
            </a:r>
            <a:endParaRPr lang="en-US" sz="1000" dirty="0"/>
          </a:p>
        </p:txBody>
      </p:sp>
      <p:sp>
        <p:nvSpPr>
          <p:cNvPr id="25" name="Shape 22"/>
          <p:cNvSpPr/>
          <p:nvPr/>
        </p:nvSpPr>
        <p:spPr>
          <a:xfrm>
            <a:off x="320040" y="3246120"/>
            <a:ext cx="2788920" cy="1207008"/>
          </a:xfrm>
          <a:prstGeom prst="rect">
            <a:avLst/>
          </a:prstGeom>
          <a:solidFill>
            <a:srgbClr val="2A5040"/>
          </a:solidFill>
          <a:ln w="12700">
            <a:solidFill>
              <a:srgbClr val="2A5040"/>
            </a:solidFill>
            <a:prstDash val="solid"/>
          </a:ln>
          <a:effectLst>
            <a:outerShdw sx="100000" sy="100000" kx="0" ky="0" algn="bl" rotWithShape="0" blurRad="101600" dist="38100" dir="8100000">
              <a:srgbClr val="000000">
                <a:alpha val="12000"/>
              </a:srgbClr>
            </a:outerShdw>
          </a:effectLst>
        </p:spPr>
      </p:sp>
      <p:sp>
        <p:nvSpPr>
          <p:cNvPr id="26" name="Text 23"/>
          <p:cNvSpPr/>
          <p:nvPr/>
        </p:nvSpPr>
        <p:spPr>
          <a:xfrm>
            <a:off x="429768" y="3337560"/>
            <a:ext cx="384048" cy="347472"/>
          </a:xfrm>
          <a:prstGeom prst="rect">
            <a:avLst/>
          </a:prstGeom>
          <a:noFill/>
          <a:ln/>
        </p:spPr>
        <p:txBody>
          <a:bodyPr wrap="square" lIns="0" tIns="0" rIns="0" bIns="0" rtlCol="0" anchor="ctr"/>
          <a:lstStyle/>
          <a:p>
            <a:pPr indent="0" marL="0">
              <a:buNone/>
            </a:pPr>
            <a:r>
              <a:rPr lang="en-US" sz="1300" b="1" dirty="0">
                <a:solidFill>
                  <a:srgbClr val="C9A85C"/>
                </a:solidFill>
                <a:latin typeface="Georgia" pitchFamily="34" charset="0"/>
                <a:ea typeface="Georgia" pitchFamily="34" charset="-122"/>
                <a:cs typeface="Georgia" pitchFamily="34" charset="-120"/>
              </a:rPr>
              <a:t>5</a:t>
            </a:r>
            <a:endParaRPr lang="en-US" sz="1300" dirty="0"/>
          </a:p>
        </p:txBody>
      </p:sp>
      <p:sp>
        <p:nvSpPr>
          <p:cNvPr id="27" name="Text 24"/>
          <p:cNvSpPr/>
          <p:nvPr/>
        </p:nvSpPr>
        <p:spPr>
          <a:xfrm>
            <a:off x="429768" y="3685032"/>
            <a:ext cx="2569464" cy="347472"/>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Chicory</a:t>
            </a:r>
            <a:endParaRPr lang="en-US" sz="1300" dirty="0"/>
          </a:p>
        </p:txBody>
      </p:sp>
      <p:sp>
        <p:nvSpPr>
          <p:cNvPr id="28" name="Text 25"/>
          <p:cNvSpPr/>
          <p:nvPr/>
        </p:nvSpPr>
        <p:spPr>
          <a:xfrm>
            <a:off x="429768" y="4050792"/>
            <a:ext cx="2569464" cy="310896"/>
          </a:xfrm>
          <a:prstGeom prst="rect">
            <a:avLst/>
          </a:prstGeom>
          <a:noFill/>
          <a:ln/>
        </p:spPr>
        <p:txBody>
          <a:bodyPr wrap="square" lIns="0" tIns="0" rIns="0" bIns="0" rtlCol="0" anchor="ctr"/>
          <a:lstStyle/>
          <a:p>
            <a:pPr indent="0" marL="0">
              <a:buNone/>
            </a:pPr>
            <a:r>
              <a:rPr lang="en-US" sz="1000" dirty="0">
                <a:solidFill>
                  <a:srgbClr val="A8D5BA"/>
                </a:solidFill>
                <a:latin typeface="Calibri" pitchFamily="34" charset="0"/>
                <a:ea typeface="Calibri" pitchFamily="34" charset="-122"/>
                <a:cs typeface="Calibri" pitchFamily="34" charset="-120"/>
              </a:rPr>
              <a:t>Apego · dependencia</a:t>
            </a:r>
            <a:endParaRPr lang="en-US" sz="1000" dirty="0"/>
          </a:p>
        </p:txBody>
      </p:sp>
      <p:sp>
        <p:nvSpPr>
          <p:cNvPr id="29" name="Shape 26"/>
          <p:cNvSpPr/>
          <p:nvPr/>
        </p:nvSpPr>
        <p:spPr>
          <a:xfrm>
            <a:off x="3200400" y="3246120"/>
            <a:ext cx="2788920" cy="1207008"/>
          </a:xfrm>
          <a:prstGeom prst="rect">
            <a:avLst/>
          </a:prstGeom>
          <a:solidFill>
            <a:srgbClr val="2A5040"/>
          </a:solidFill>
          <a:ln w="12700">
            <a:solidFill>
              <a:srgbClr val="2A5040"/>
            </a:solidFill>
            <a:prstDash val="solid"/>
          </a:ln>
          <a:effectLst>
            <a:outerShdw sx="100000" sy="100000" kx="0" ky="0" algn="bl" rotWithShape="0" blurRad="101600" dist="38100" dir="8100000">
              <a:srgbClr val="000000">
                <a:alpha val="12000"/>
              </a:srgbClr>
            </a:outerShdw>
          </a:effectLst>
        </p:spPr>
      </p:sp>
      <p:sp>
        <p:nvSpPr>
          <p:cNvPr id="30" name="Text 27"/>
          <p:cNvSpPr/>
          <p:nvPr/>
        </p:nvSpPr>
        <p:spPr>
          <a:xfrm>
            <a:off x="3310128" y="3337560"/>
            <a:ext cx="384048" cy="347472"/>
          </a:xfrm>
          <a:prstGeom prst="rect">
            <a:avLst/>
          </a:prstGeom>
          <a:noFill/>
          <a:ln/>
        </p:spPr>
        <p:txBody>
          <a:bodyPr wrap="square" lIns="0" tIns="0" rIns="0" bIns="0" rtlCol="0" anchor="ctr"/>
          <a:lstStyle/>
          <a:p>
            <a:pPr indent="0" marL="0">
              <a:buNone/>
            </a:pPr>
            <a:r>
              <a:rPr lang="en-US" sz="1300" b="1" dirty="0">
                <a:solidFill>
                  <a:srgbClr val="C9A85C"/>
                </a:solidFill>
                <a:latin typeface="Georgia" pitchFamily="34" charset="0"/>
                <a:ea typeface="Georgia" pitchFamily="34" charset="-122"/>
                <a:cs typeface="Georgia" pitchFamily="34" charset="-120"/>
              </a:rPr>
              <a:t>6</a:t>
            </a:r>
            <a:endParaRPr lang="en-US" sz="1300" dirty="0"/>
          </a:p>
        </p:txBody>
      </p:sp>
      <p:sp>
        <p:nvSpPr>
          <p:cNvPr id="31" name="Text 28"/>
          <p:cNvSpPr/>
          <p:nvPr/>
        </p:nvSpPr>
        <p:spPr>
          <a:xfrm>
            <a:off x="3310128" y="3685032"/>
            <a:ext cx="2569464" cy="347472"/>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Holly</a:t>
            </a:r>
            <a:endParaRPr lang="en-US" sz="1300" dirty="0"/>
          </a:p>
        </p:txBody>
      </p:sp>
      <p:sp>
        <p:nvSpPr>
          <p:cNvPr id="32" name="Text 29"/>
          <p:cNvSpPr/>
          <p:nvPr/>
        </p:nvSpPr>
        <p:spPr>
          <a:xfrm>
            <a:off x="3310128" y="4050792"/>
            <a:ext cx="2569464" cy="310896"/>
          </a:xfrm>
          <a:prstGeom prst="rect">
            <a:avLst/>
          </a:prstGeom>
          <a:noFill/>
          <a:ln/>
        </p:spPr>
        <p:txBody>
          <a:bodyPr wrap="square" lIns="0" tIns="0" rIns="0" bIns="0" rtlCol="0" anchor="ctr"/>
          <a:lstStyle/>
          <a:p>
            <a:pPr indent="0" marL="0">
              <a:buNone/>
            </a:pPr>
            <a:r>
              <a:rPr lang="en-US" sz="1000" dirty="0">
                <a:solidFill>
                  <a:srgbClr val="A8D5BA"/>
                </a:solidFill>
                <a:latin typeface="Calibri" pitchFamily="34" charset="0"/>
                <a:ea typeface="Calibri" pitchFamily="34" charset="-122"/>
                <a:cs typeface="Calibri" pitchFamily="34" charset="-120"/>
              </a:rPr>
              <a:t>Agresividad · hostilidad</a:t>
            </a:r>
            <a:endParaRPr lang="en-US" sz="1000" dirty="0"/>
          </a:p>
        </p:txBody>
      </p:sp>
      <p:sp>
        <p:nvSpPr>
          <p:cNvPr id="33" name="Shape 30"/>
          <p:cNvSpPr/>
          <p:nvPr/>
        </p:nvSpPr>
        <p:spPr>
          <a:xfrm>
            <a:off x="6080760" y="3246120"/>
            <a:ext cx="2788920" cy="1207008"/>
          </a:xfrm>
          <a:prstGeom prst="rect">
            <a:avLst/>
          </a:prstGeom>
          <a:solidFill>
            <a:srgbClr val="2A5040"/>
          </a:solidFill>
          <a:ln w="12700">
            <a:solidFill>
              <a:srgbClr val="2A5040"/>
            </a:solidFill>
            <a:prstDash val="solid"/>
          </a:ln>
          <a:effectLst>
            <a:outerShdw sx="100000" sy="100000" kx="0" ky="0" algn="bl" rotWithShape="0" blurRad="101600" dist="38100" dir="8100000">
              <a:srgbClr val="000000">
                <a:alpha val="12000"/>
              </a:srgbClr>
            </a:outerShdw>
          </a:effectLst>
        </p:spPr>
      </p:sp>
      <p:sp>
        <p:nvSpPr>
          <p:cNvPr id="34" name="Text 31"/>
          <p:cNvSpPr/>
          <p:nvPr/>
        </p:nvSpPr>
        <p:spPr>
          <a:xfrm>
            <a:off x="6190488" y="3337560"/>
            <a:ext cx="384048" cy="347472"/>
          </a:xfrm>
          <a:prstGeom prst="rect">
            <a:avLst/>
          </a:prstGeom>
          <a:noFill/>
          <a:ln/>
        </p:spPr>
        <p:txBody>
          <a:bodyPr wrap="square" lIns="0" tIns="0" rIns="0" bIns="0" rtlCol="0" anchor="ctr"/>
          <a:lstStyle/>
          <a:p>
            <a:pPr indent="0" marL="0">
              <a:buNone/>
            </a:pPr>
            <a:r>
              <a:rPr lang="en-US" sz="1300" b="1" dirty="0">
                <a:solidFill>
                  <a:srgbClr val="C9A85C"/>
                </a:solidFill>
                <a:latin typeface="Georgia" pitchFamily="34" charset="0"/>
                <a:ea typeface="Georgia" pitchFamily="34" charset="-122"/>
                <a:cs typeface="Georgia" pitchFamily="34" charset="-120"/>
              </a:rPr>
              <a:t>7</a:t>
            </a:r>
            <a:endParaRPr lang="en-US" sz="1300" dirty="0"/>
          </a:p>
        </p:txBody>
      </p:sp>
      <p:sp>
        <p:nvSpPr>
          <p:cNvPr id="35" name="Text 32"/>
          <p:cNvSpPr/>
          <p:nvPr/>
        </p:nvSpPr>
        <p:spPr>
          <a:xfrm>
            <a:off x="6190488" y="3685032"/>
            <a:ext cx="2569464" cy="347472"/>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Aspen</a:t>
            </a:r>
            <a:endParaRPr lang="en-US" sz="1300" dirty="0"/>
          </a:p>
        </p:txBody>
      </p:sp>
      <p:sp>
        <p:nvSpPr>
          <p:cNvPr id="36" name="Text 33"/>
          <p:cNvSpPr/>
          <p:nvPr/>
        </p:nvSpPr>
        <p:spPr>
          <a:xfrm>
            <a:off x="6190488" y="4050792"/>
            <a:ext cx="2569464" cy="310896"/>
          </a:xfrm>
          <a:prstGeom prst="rect">
            <a:avLst/>
          </a:prstGeom>
          <a:noFill/>
          <a:ln/>
        </p:spPr>
        <p:txBody>
          <a:bodyPr wrap="square" lIns="0" tIns="0" rIns="0" bIns="0" rtlCol="0" anchor="ctr"/>
          <a:lstStyle/>
          <a:p>
            <a:pPr indent="0" marL="0">
              <a:buNone/>
            </a:pPr>
            <a:r>
              <a:rPr lang="en-US" sz="1000" dirty="0">
                <a:solidFill>
                  <a:srgbClr val="A8D5BA"/>
                </a:solidFill>
                <a:latin typeface="Calibri" pitchFamily="34" charset="0"/>
                <a:ea typeface="Calibri" pitchFamily="34" charset="-122"/>
                <a:cs typeface="Calibri" pitchFamily="34" charset="-120"/>
              </a:rPr>
              <a:t>Ansiedad sin causa aparente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EFE6"/>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E3A2F"/>
          </a:solidFill>
          <a:ln w="12700">
            <a:solidFill>
              <a:srgbClr val="1E3A2F"/>
            </a:solidFill>
            <a:prstDash val="solid"/>
          </a:ln>
        </p:spPr>
      </p:sp>
      <p:sp>
        <p:nvSpPr>
          <p:cNvPr id="3" name="Shape 1"/>
          <p:cNvSpPr/>
          <p:nvPr/>
        </p:nvSpPr>
        <p:spPr>
          <a:xfrm>
            <a:off x="0" y="0"/>
            <a:ext cx="128016" cy="5143500"/>
          </a:xfrm>
          <a:prstGeom prst="rect">
            <a:avLst/>
          </a:prstGeom>
          <a:solidFill>
            <a:srgbClr val="C9A85C"/>
          </a:solidFill>
          <a:ln w="12700">
            <a:solidFill>
              <a:srgbClr val="C9A85C"/>
            </a:solidFill>
            <a:prstDash val="solid"/>
          </a:ln>
        </p:spPr>
      </p:sp>
      <p:pic>
        <p:nvPicPr>
          <p:cNvPr id="4" name="Image 0" descr="/sessions/focused-admiring-fermi/mnt/Mascotas_2026/Programa/logo centro.png">    </p:cNvPr>
          <p:cNvPicPr>
            <a:picLocks noChangeAspect="1"/>
          </p:cNvPicPr>
          <p:nvPr/>
        </p:nvPicPr>
        <p:blipFill>
          <a:blip r:embed="rId1"/>
          <a:stretch>
            <a:fillRect/>
          </a:stretch>
        </p:blipFill>
        <p:spPr>
          <a:xfrm>
            <a:off x="8485632" y="109728"/>
            <a:ext cx="347472" cy="347472"/>
          </a:xfrm>
          <a:prstGeom prst="rect">
            <a:avLst/>
          </a:prstGeom>
        </p:spPr>
      </p:pic>
      <p:sp>
        <p:nvSpPr>
          <p:cNvPr id="5" name="Shape 2"/>
          <p:cNvSpPr/>
          <p:nvPr/>
        </p:nvSpPr>
        <p:spPr>
          <a:xfrm>
            <a:off x="411480" y="256032"/>
            <a:ext cx="868680" cy="274320"/>
          </a:xfrm>
          <a:prstGeom prst="rect">
            <a:avLst/>
          </a:prstGeom>
          <a:solidFill>
            <a:srgbClr val="C9A85C"/>
          </a:solidFill>
          <a:ln w="12700">
            <a:solidFill>
              <a:srgbClr val="C9A85C"/>
            </a:solidFill>
            <a:prstDash val="solid"/>
          </a:ln>
        </p:spPr>
      </p:sp>
      <p:sp>
        <p:nvSpPr>
          <p:cNvPr id="6" name="Text 3"/>
          <p:cNvSpPr/>
          <p:nvPr/>
        </p:nvSpPr>
        <p:spPr>
          <a:xfrm>
            <a:off x="411480" y="256032"/>
            <a:ext cx="868680" cy="274320"/>
          </a:xfrm>
          <a:prstGeom prst="rect">
            <a:avLst/>
          </a:prstGeom>
          <a:noFill/>
          <a:ln/>
        </p:spPr>
        <p:txBody>
          <a:bodyPr wrap="square" lIns="0" tIns="0" rIns="0" bIns="0" rtlCol="0" anchor="ctr"/>
          <a:lstStyle/>
          <a:p>
            <a:pPr algn="ctr" indent="0" marL="0">
              <a:buNone/>
            </a:pPr>
            <a:r>
              <a:rPr lang="en-US" sz="800" b="1" dirty="0">
                <a:solidFill>
                  <a:srgbClr val="1E3A2F"/>
                </a:solidFill>
                <a:latin typeface="Calibri" pitchFamily="34" charset="0"/>
                <a:ea typeface="Calibri" pitchFamily="34" charset="-122"/>
                <a:cs typeface="Calibri" pitchFamily="34" charset="-120"/>
              </a:rPr>
              <a:t>FLOR 1</a:t>
            </a:r>
            <a:endParaRPr lang="en-US" sz="800" dirty="0"/>
          </a:p>
        </p:txBody>
      </p:sp>
      <p:sp>
        <p:nvSpPr>
          <p:cNvPr id="7" name="Text 4"/>
          <p:cNvSpPr/>
          <p:nvPr/>
        </p:nvSpPr>
        <p:spPr>
          <a:xfrm>
            <a:off x="411480" y="658368"/>
            <a:ext cx="8321040" cy="566928"/>
          </a:xfrm>
          <a:prstGeom prst="rect">
            <a:avLst/>
          </a:prstGeom>
          <a:noFill/>
          <a:ln/>
        </p:spPr>
        <p:txBody>
          <a:bodyPr wrap="square" lIns="0" tIns="0" rIns="0" bIns="0" rtlCol="0" anchor="ctr"/>
          <a:lstStyle/>
          <a:p>
            <a:pPr indent="0" marL="0">
              <a:buNone/>
            </a:pPr>
            <a:r>
              <a:rPr lang="en-US" sz="4000" b="1" dirty="0">
                <a:solidFill>
                  <a:srgbClr val="1E3A2F"/>
                </a:solidFill>
                <a:latin typeface="Georgia" pitchFamily="34" charset="0"/>
                <a:ea typeface="Georgia" pitchFamily="34" charset="-122"/>
                <a:cs typeface="Georgia" pitchFamily="34" charset="-120"/>
              </a:rPr>
              <a:t>Rescue Remedy</a:t>
            </a:r>
            <a:endParaRPr lang="en-US" sz="4000" dirty="0"/>
          </a:p>
        </p:txBody>
      </p:sp>
      <p:sp>
        <p:nvSpPr>
          <p:cNvPr id="8" name="Text 5"/>
          <p:cNvSpPr/>
          <p:nvPr/>
        </p:nvSpPr>
        <p:spPr>
          <a:xfrm>
            <a:off x="411480" y="1298448"/>
            <a:ext cx="7772400" cy="329184"/>
          </a:xfrm>
          <a:prstGeom prst="rect">
            <a:avLst/>
          </a:prstGeom>
          <a:noFill/>
          <a:ln/>
        </p:spPr>
        <p:txBody>
          <a:bodyPr wrap="square" lIns="0" tIns="0" rIns="0" bIns="0" rtlCol="0" anchor="ctr"/>
          <a:lstStyle/>
          <a:p>
            <a:pPr indent="0" marL="0">
              <a:buNone/>
            </a:pPr>
            <a:r>
              <a:rPr lang="en-US" sz="1300" i="1" dirty="0">
                <a:solidFill>
                  <a:srgbClr val="4A6355"/>
                </a:solidFill>
                <a:latin typeface="Calibri" pitchFamily="34" charset="0"/>
                <a:ea typeface="Calibri" pitchFamily="34" charset="-122"/>
                <a:cs typeface="Calibri" pitchFamily="34" charset="-120"/>
              </a:rPr>
              <a:t>La más importante. No es una sola flor — es la mezcla de cinco para emergencias.</a:t>
            </a:r>
            <a:endParaRPr lang="en-US" sz="1300" dirty="0"/>
          </a:p>
        </p:txBody>
      </p:sp>
      <p:sp>
        <p:nvSpPr>
          <p:cNvPr id="9" name="Shape 6"/>
          <p:cNvSpPr/>
          <p:nvPr/>
        </p:nvSpPr>
        <p:spPr>
          <a:xfrm>
            <a:off x="365760" y="1737360"/>
            <a:ext cx="5577840" cy="3108960"/>
          </a:xfrm>
          <a:prstGeom prst="rect">
            <a:avLst/>
          </a:prstGeom>
          <a:solidFill>
            <a:srgbClr val="1E3A2F"/>
          </a:solidFill>
          <a:ln w="12700">
            <a:solidFill>
              <a:srgbClr val="1E3A2F"/>
            </a:solidFill>
            <a:prstDash val="solid"/>
          </a:ln>
          <a:effectLst>
            <a:outerShdw sx="100000" sy="100000" kx="0" ky="0" algn="bl" rotWithShape="0" blurRad="101600" dist="38100" dir="8100000">
              <a:srgbClr val="000000">
                <a:alpha val="12000"/>
              </a:srgbClr>
            </a:outerShdw>
          </a:effectLst>
        </p:spPr>
      </p:sp>
      <p:sp>
        <p:nvSpPr>
          <p:cNvPr id="10" name="Text 7"/>
          <p:cNvSpPr/>
          <p:nvPr/>
        </p:nvSpPr>
        <p:spPr>
          <a:xfrm>
            <a:off x="566928" y="1865376"/>
            <a:ext cx="5175504" cy="256032"/>
          </a:xfrm>
          <a:prstGeom prst="rect">
            <a:avLst/>
          </a:prstGeom>
          <a:noFill/>
          <a:ln/>
        </p:spPr>
        <p:txBody>
          <a:bodyPr wrap="square" lIns="0" tIns="0" rIns="0" bIns="0" rtlCol="0" anchor="ctr"/>
          <a:lstStyle/>
          <a:p>
            <a:pPr indent="0" marL="0">
              <a:buNone/>
            </a:pPr>
            <a:r>
              <a:rPr lang="en-US" sz="900" b="1" spc="150" kern="0" dirty="0">
                <a:solidFill>
                  <a:srgbClr val="C9A85C"/>
                </a:solidFill>
                <a:latin typeface="Calibri" pitchFamily="34" charset="0"/>
                <a:ea typeface="Calibri" pitchFamily="34" charset="-122"/>
                <a:cs typeface="Calibri" pitchFamily="34" charset="-120"/>
              </a:rPr>
              <a:t>PARA ANIMALES</a:t>
            </a:r>
            <a:endParaRPr lang="en-US" sz="900" dirty="0"/>
          </a:p>
        </p:txBody>
      </p:sp>
      <p:sp>
        <p:nvSpPr>
          <p:cNvPr id="11" name="Text 8"/>
          <p:cNvSpPr/>
          <p:nvPr/>
        </p:nvSpPr>
        <p:spPr>
          <a:xfrm>
            <a:off x="566928" y="2212848"/>
            <a:ext cx="5175504" cy="102412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Visita al veterinario  ·  Tormentas  ·  Fuegos artificiales</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Susto fuerte  ·  Pelea  ·  Accidente</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Cualquier estrés agudo</a:t>
            </a:r>
            <a:endParaRPr lang="en-US" sz="1400" dirty="0"/>
          </a:p>
        </p:txBody>
      </p:sp>
      <p:sp>
        <p:nvSpPr>
          <p:cNvPr id="12" name="Shape 9"/>
          <p:cNvSpPr/>
          <p:nvPr/>
        </p:nvSpPr>
        <p:spPr>
          <a:xfrm>
            <a:off x="566928" y="3328416"/>
            <a:ext cx="5175504" cy="36576"/>
          </a:xfrm>
          <a:prstGeom prst="rect">
            <a:avLst/>
          </a:prstGeom>
          <a:solidFill>
            <a:srgbClr val="6B9E78"/>
          </a:solidFill>
          <a:ln w="12700">
            <a:solidFill>
              <a:srgbClr val="6B9E78"/>
            </a:solidFill>
            <a:prstDash val="solid"/>
          </a:ln>
        </p:spPr>
      </p:sp>
      <p:sp>
        <p:nvSpPr>
          <p:cNvPr id="13" name="Text 10"/>
          <p:cNvSpPr/>
          <p:nvPr/>
        </p:nvSpPr>
        <p:spPr>
          <a:xfrm>
            <a:off x="566928" y="3456432"/>
            <a:ext cx="5175504" cy="274320"/>
          </a:xfrm>
          <a:prstGeom prst="rect">
            <a:avLst/>
          </a:prstGeom>
          <a:noFill/>
          <a:ln/>
        </p:spPr>
        <p:txBody>
          <a:bodyPr wrap="square" lIns="0" tIns="0" rIns="0" bIns="0" rtlCol="0" anchor="ctr"/>
          <a:lstStyle/>
          <a:p>
            <a:pPr indent="0" marL="0">
              <a:buNone/>
            </a:pPr>
            <a:r>
              <a:rPr lang="en-US" sz="1300" i="1" dirty="0">
                <a:solidFill>
                  <a:srgbClr val="A8D5BA"/>
                </a:solidFill>
                <a:latin typeface="Calibri" pitchFamily="34" charset="0"/>
                <a:ea typeface="Calibri" pitchFamily="34" charset="-122"/>
                <a:cs typeface="Calibri" pitchFamily="34" charset="-120"/>
              </a:rPr>
              <a:t>Cada 15 minutos si la situación es intensa.</a:t>
            </a:r>
            <a:endParaRPr lang="en-US" sz="1300" dirty="0"/>
          </a:p>
        </p:txBody>
      </p:sp>
      <p:sp>
        <p:nvSpPr>
          <p:cNvPr id="14" name="Text 11"/>
          <p:cNvSpPr/>
          <p:nvPr/>
        </p:nvSpPr>
        <p:spPr>
          <a:xfrm>
            <a:off x="566928" y="3803904"/>
            <a:ext cx="5175504" cy="329184"/>
          </a:xfrm>
          <a:prstGeom prst="rect">
            <a:avLst/>
          </a:prstGeom>
          <a:noFill/>
          <a:ln/>
        </p:spPr>
        <p:txBody>
          <a:bodyPr wrap="square" lIns="0" tIns="0" rIns="0" bIns="0" rtlCol="0" anchor="ctr"/>
          <a:lstStyle/>
          <a:p>
            <a:pPr indent="0" marL="0">
              <a:buNone/>
            </a:pPr>
            <a:r>
              <a:rPr lang="en-US" sz="1600" b="1" dirty="0">
                <a:solidFill>
                  <a:srgbClr val="C9A85C"/>
                </a:solidFill>
                <a:latin typeface="Georgia" pitchFamily="34" charset="0"/>
                <a:ea typeface="Georgia" pitchFamily="34" charset="-122"/>
                <a:cs typeface="Georgia" pitchFamily="34" charset="-120"/>
              </a:rPr>
              <a:t>No tiene sobredosis.</a:t>
            </a:r>
            <a:endParaRPr lang="en-US" sz="1600" dirty="0"/>
          </a:p>
        </p:txBody>
      </p:sp>
      <p:sp>
        <p:nvSpPr>
          <p:cNvPr id="15" name="Shape 12"/>
          <p:cNvSpPr/>
          <p:nvPr/>
        </p:nvSpPr>
        <p:spPr>
          <a:xfrm>
            <a:off x="6217920" y="1737360"/>
            <a:ext cx="2606040" cy="3108960"/>
          </a:xfrm>
          <a:prstGeom prst="rect">
            <a:avLst/>
          </a:prstGeom>
          <a:solidFill>
            <a:srgbClr val="C9A85C"/>
          </a:solidFill>
          <a:ln w="12700">
            <a:solidFill>
              <a:srgbClr val="C9A85C"/>
            </a:solidFill>
            <a:prstDash val="solid"/>
          </a:ln>
          <a:effectLst>
            <a:outerShdw sx="100000" sy="100000" kx="0" ky="0" algn="bl" rotWithShape="0" blurRad="101600" dist="38100" dir="8100000">
              <a:srgbClr val="000000">
                <a:alpha val="12000"/>
              </a:srgbClr>
            </a:outerShdw>
          </a:effectLst>
        </p:spPr>
      </p:sp>
      <p:sp>
        <p:nvSpPr>
          <p:cNvPr id="16" name="Text 13"/>
          <p:cNvSpPr/>
          <p:nvPr/>
        </p:nvSpPr>
        <p:spPr>
          <a:xfrm>
            <a:off x="6400800" y="1865376"/>
            <a:ext cx="2240280" cy="256032"/>
          </a:xfrm>
          <a:prstGeom prst="rect">
            <a:avLst/>
          </a:prstGeom>
          <a:noFill/>
          <a:ln/>
        </p:spPr>
        <p:txBody>
          <a:bodyPr wrap="square" lIns="0" tIns="0" rIns="0" bIns="0" rtlCol="0" anchor="ctr"/>
          <a:lstStyle/>
          <a:p>
            <a:pPr indent="0" marL="0">
              <a:buNone/>
            </a:pPr>
            <a:r>
              <a:rPr lang="en-US" sz="900" b="1" spc="150" kern="0" dirty="0">
                <a:solidFill>
                  <a:srgbClr val="1E3A2F"/>
                </a:solidFill>
                <a:latin typeface="Calibri" pitchFamily="34" charset="0"/>
                <a:ea typeface="Calibri" pitchFamily="34" charset="-122"/>
                <a:cs typeface="Calibri" pitchFamily="34" charset="-120"/>
              </a:rPr>
              <a:t>NOTA</a:t>
            </a:r>
            <a:endParaRPr lang="en-US" sz="900" dirty="0"/>
          </a:p>
        </p:txBody>
      </p:sp>
      <p:sp>
        <p:nvSpPr>
          <p:cNvPr id="17" name="Text 14"/>
          <p:cNvSpPr/>
          <p:nvPr/>
        </p:nvSpPr>
        <p:spPr>
          <a:xfrm>
            <a:off x="6400800" y="2212848"/>
            <a:ext cx="2240280" cy="2423160"/>
          </a:xfrm>
          <a:prstGeom prst="rect">
            <a:avLst/>
          </a:prstGeom>
          <a:noFill/>
          <a:ln/>
        </p:spPr>
        <p:txBody>
          <a:bodyPr wrap="square" lIns="0" tIns="0" rIns="0" bIns="0" rtlCol="0" anchor="ctr"/>
          <a:lstStyle/>
          <a:p>
            <a:pPr indent="0" marL="0">
              <a:buNone/>
            </a:pPr>
            <a:r>
              <a:rPr lang="en-US" sz="1100" dirty="0">
                <a:solidFill>
                  <a:srgbClr val="1E3A2F"/>
                </a:solidFill>
                <a:latin typeface="Calibri" pitchFamily="34" charset="0"/>
                <a:ea typeface="Calibri" pitchFamily="34" charset="-122"/>
                <a:cs typeface="Calibri" pitchFamily="34" charset="-120"/>
              </a:rPr>
              <a:t>Frasco amarillo.</a:t>
            </a:r>
            <a:endParaRPr lang="en-US" sz="1100" dirty="0"/>
          </a:p>
          <a:p>
            <a:pPr indent="0" marL="0">
              <a:buNone/>
            </a:pPr>
            <a:r>
              <a:rPr lang="en-US" sz="1100" dirty="0">
                <a:solidFill>
                  <a:srgbClr val="1E3A2F"/>
                </a:solidFill>
                <a:latin typeface="Calibri" pitchFamily="34" charset="0"/>
                <a:ea typeface="Calibri" pitchFamily="34" charset="-122"/>
                <a:cs typeface="Calibri" pitchFamily="34" charset="-120"/>
              </a:rPr>
              <a:t>Disponible en farmacias.</a:t>
            </a:r>
            <a:endParaRPr lang="en-US" sz="1100" dirty="0"/>
          </a:p>
          <a:p>
            <a:pPr indent="0" marL="0">
              <a:buNone/>
            </a:pPr>
            <a:endParaRPr lang="en-US" sz="1100" dirty="0"/>
          </a:p>
          <a:p>
            <a:pPr indent="0" marL="0">
              <a:buNone/>
            </a:pPr>
            <a:r>
              <a:rPr lang="en-US" sz="1100" dirty="0">
                <a:solidFill>
                  <a:srgbClr val="1E3A2F"/>
                </a:solidFill>
                <a:latin typeface="Calibri" pitchFamily="34" charset="0"/>
                <a:ea typeface="Calibri" pitchFamily="34" charset="-122"/>
                <a:cs typeface="Calibri" pitchFamily="34" charset="-120"/>
              </a:rPr>
              <a:t>Para animales: buscar versión en spray o diluir 4 gotas en agua.</a:t>
            </a:r>
            <a:endParaRPr lang="en-US" sz="1100" dirty="0"/>
          </a:p>
          <a:p>
            <a:pPr indent="0" marL="0">
              <a:buNone/>
            </a:pPr>
            <a:endParaRPr lang="en-US" sz="1100" dirty="0"/>
          </a:p>
          <a:p>
            <a:pPr indent="0" marL="0">
              <a:buNone/>
            </a:pPr>
            <a:r>
              <a:rPr lang="en-US" sz="1100" dirty="0">
                <a:solidFill>
                  <a:srgbClr val="1E3A2F"/>
                </a:solidFill>
                <a:latin typeface="Calibri" pitchFamily="34" charset="0"/>
                <a:ea typeface="Calibri" pitchFamily="34" charset="-122"/>
                <a:cs typeface="Calibri" pitchFamily="34" charset="-120"/>
              </a:rPr>
              <a:t>El alcohol en las cantidades del frasco no es tóxico, pero es preferible evitarlo.</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3A2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5C"/>
          </a:solidFill>
          <a:ln w="12700">
            <a:solidFill>
              <a:srgbClr val="C9A85C"/>
            </a:solidFill>
            <a:prstDash val="solid"/>
          </a:ln>
        </p:spPr>
      </p:sp>
      <p:sp>
        <p:nvSpPr>
          <p:cNvPr id="3" name="Shape 1"/>
          <p:cNvSpPr/>
          <p:nvPr/>
        </p:nvSpPr>
        <p:spPr>
          <a:xfrm>
            <a:off x="0" y="0"/>
            <a:ext cx="128016" cy="5143500"/>
          </a:xfrm>
          <a:prstGeom prst="rect">
            <a:avLst/>
          </a:prstGeom>
          <a:solidFill>
            <a:srgbClr val="C9A85C"/>
          </a:solidFill>
          <a:ln w="12700">
            <a:solidFill>
              <a:srgbClr val="C9A85C"/>
            </a:solidFill>
            <a:prstDash val="solid"/>
          </a:ln>
        </p:spPr>
      </p:sp>
      <p:pic>
        <p:nvPicPr>
          <p:cNvPr id="4" name="Image 0" descr="/sessions/focused-admiring-fermi/mnt/Mascotas_2026/Programa/logo centro.png">    </p:cNvPr>
          <p:cNvPicPr>
            <a:picLocks noChangeAspect="1"/>
          </p:cNvPicPr>
          <p:nvPr/>
        </p:nvPicPr>
        <p:blipFill>
          <a:blip r:embed="rId1"/>
          <a:stretch>
            <a:fillRect/>
          </a:stretch>
        </p:blipFill>
        <p:spPr>
          <a:xfrm>
            <a:off x="8485632" y="109728"/>
            <a:ext cx="347472" cy="347472"/>
          </a:xfrm>
          <a:prstGeom prst="rect">
            <a:avLst/>
          </a:prstGeom>
        </p:spPr>
      </p:pic>
      <p:sp>
        <p:nvSpPr>
          <p:cNvPr id="5" name="Shape 2"/>
          <p:cNvSpPr/>
          <p:nvPr/>
        </p:nvSpPr>
        <p:spPr>
          <a:xfrm>
            <a:off x="365760" y="201168"/>
            <a:ext cx="4160520" cy="4736592"/>
          </a:xfrm>
          <a:prstGeom prst="rect">
            <a:avLst/>
          </a:prstGeom>
          <a:solidFill>
            <a:srgbClr val="2A5040"/>
          </a:solidFill>
          <a:ln w="12700">
            <a:solidFill>
              <a:srgbClr val="2A5040"/>
            </a:solidFill>
            <a:prstDash val="solid"/>
          </a:ln>
          <a:effectLst>
            <a:outerShdw sx="100000" sy="100000" kx="0" ky="0" algn="bl" rotWithShape="0" blurRad="101600" dist="38100" dir="8100000">
              <a:srgbClr val="000000">
                <a:alpha val="12000"/>
              </a:srgbClr>
            </a:outerShdw>
          </a:effectLst>
        </p:spPr>
      </p:sp>
      <p:sp>
        <p:nvSpPr>
          <p:cNvPr id="6" name="Shape 3"/>
          <p:cNvSpPr/>
          <p:nvPr/>
        </p:nvSpPr>
        <p:spPr>
          <a:xfrm>
            <a:off x="365760" y="201168"/>
            <a:ext cx="658368" cy="402336"/>
          </a:xfrm>
          <a:prstGeom prst="rect">
            <a:avLst/>
          </a:prstGeom>
          <a:solidFill>
            <a:srgbClr val="6B9E78"/>
          </a:solidFill>
          <a:ln w="12700">
            <a:solidFill>
              <a:srgbClr val="6B9E78"/>
            </a:solidFill>
            <a:prstDash val="solid"/>
          </a:ln>
        </p:spPr>
      </p:sp>
      <p:sp>
        <p:nvSpPr>
          <p:cNvPr id="7" name="Text 4"/>
          <p:cNvSpPr/>
          <p:nvPr/>
        </p:nvSpPr>
        <p:spPr>
          <a:xfrm>
            <a:off x="365760" y="201168"/>
            <a:ext cx="65836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8" name="Text 5"/>
          <p:cNvSpPr/>
          <p:nvPr/>
        </p:nvSpPr>
        <p:spPr>
          <a:xfrm>
            <a:off x="566928" y="749808"/>
            <a:ext cx="3776472" cy="749808"/>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Star of</a:t>
            </a:r>
            <a:endParaRPr lang="en-US" sz="2400" dirty="0"/>
          </a:p>
          <a:p>
            <a:pPr indent="0" marL="0">
              <a:buNone/>
            </a:pPr>
            <a:r>
              <a:rPr lang="en-US" sz="2400" b="1" dirty="0">
                <a:solidFill>
                  <a:srgbClr val="FFFFFF"/>
                </a:solidFill>
                <a:latin typeface="Georgia" pitchFamily="34" charset="0"/>
                <a:ea typeface="Georgia" pitchFamily="34" charset="-122"/>
                <a:cs typeface="Georgia" pitchFamily="34" charset="-120"/>
              </a:rPr>
              <a:t>Bethlehem</a:t>
            </a:r>
            <a:endParaRPr lang="en-US" sz="2400" dirty="0"/>
          </a:p>
        </p:txBody>
      </p:sp>
      <p:sp>
        <p:nvSpPr>
          <p:cNvPr id="9" name="Text 6"/>
          <p:cNvSpPr/>
          <p:nvPr/>
        </p:nvSpPr>
        <p:spPr>
          <a:xfrm>
            <a:off x="566928" y="1554480"/>
            <a:ext cx="3776472" cy="310896"/>
          </a:xfrm>
          <a:prstGeom prst="rect">
            <a:avLst/>
          </a:prstGeom>
          <a:noFill/>
          <a:ln/>
        </p:spPr>
        <p:txBody>
          <a:bodyPr wrap="square" lIns="0" tIns="0" rIns="0" bIns="0" rtlCol="0" anchor="ctr"/>
          <a:lstStyle/>
          <a:p>
            <a:pPr indent="0" marL="0">
              <a:buNone/>
            </a:pPr>
            <a:r>
              <a:rPr lang="en-US" sz="1200" i="1" dirty="0">
                <a:solidFill>
                  <a:srgbClr val="C9A85C"/>
                </a:solidFill>
                <a:latin typeface="Calibri" pitchFamily="34" charset="0"/>
                <a:ea typeface="Calibri" pitchFamily="34" charset="-122"/>
                <a:cs typeface="Calibri" pitchFamily="34" charset="-120"/>
              </a:rPr>
              <a:t>La sanadora del trauma</a:t>
            </a:r>
            <a:endParaRPr lang="en-US" sz="1200" dirty="0"/>
          </a:p>
        </p:txBody>
      </p:sp>
      <p:sp>
        <p:nvSpPr>
          <p:cNvPr id="10" name="Text 7"/>
          <p:cNvSpPr/>
          <p:nvPr/>
        </p:nvSpPr>
        <p:spPr>
          <a:xfrm>
            <a:off x="566928" y="1956816"/>
            <a:ext cx="3776472" cy="9144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Trabaja con la memoria de lo que dolió: el shock que quedó guardado en el cuerpo aunque el evento haya pasado hace años.</a:t>
            </a:r>
            <a:endParaRPr lang="en-US" sz="1300" dirty="0"/>
          </a:p>
        </p:txBody>
      </p:sp>
      <p:sp>
        <p:nvSpPr>
          <p:cNvPr id="11" name="Text 8"/>
          <p:cNvSpPr/>
          <p:nvPr/>
        </p:nvSpPr>
        <p:spPr>
          <a:xfrm>
            <a:off x="566928" y="2944368"/>
            <a:ext cx="3776472" cy="1097280"/>
          </a:xfrm>
          <a:prstGeom prst="rect">
            <a:avLst/>
          </a:prstGeom>
          <a:noFill/>
          <a:ln/>
        </p:spPr>
        <p:txBody>
          <a:bodyPr wrap="square" lIns="0" tIns="0" rIns="0" bIns="0" rtlCol="0" anchor="ctr"/>
          <a:lstStyle/>
          <a:p>
            <a:pPr indent="0" marL="0">
              <a:buNone/>
            </a:pPr>
            <a:r>
              <a:rPr lang="en-US" sz="1200" dirty="0">
                <a:solidFill>
                  <a:srgbClr val="A8D5BA"/>
                </a:solidFill>
                <a:latin typeface="Calibri" pitchFamily="34" charset="0"/>
                <a:ea typeface="Calibri" pitchFamily="34" charset="-122"/>
                <a:cs typeface="Calibri" pitchFamily="34" charset="-120"/>
              </a:rPr>
              <a:t>Para animales rescatados, con historia de maltrato, post-cirugía, después de la pérdida de un compañero.</a:t>
            </a:r>
            <a:endParaRPr lang="en-US" sz="1200" dirty="0"/>
          </a:p>
          <a:p>
            <a:pPr indent="0" marL="0">
              <a:buNone/>
            </a:pPr>
            <a:endParaRPr lang="en-US" sz="1200" dirty="0"/>
          </a:p>
          <a:p>
            <a:pPr indent="0" marL="0">
              <a:buNone/>
            </a:pPr>
            <a:r>
              <a:rPr lang="en-US" sz="1200" dirty="0">
                <a:solidFill>
                  <a:srgbClr val="A8D5BA"/>
                </a:solidFill>
                <a:latin typeface="Calibri" pitchFamily="34" charset="0"/>
                <a:ea typeface="Calibri" pitchFamily="34" charset="-122"/>
                <a:cs typeface="Calibri" pitchFamily="34" charset="-120"/>
              </a:rPr>
              <a:t>No importa el tiempo transcurrido — esta flor trabaja independientemente de cuándo ocurrió.</a:t>
            </a:r>
            <a:endParaRPr lang="en-US" sz="1200" dirty="0"/>
          </a:p>
        </p:txBody>
      </p:sp>
      <p:sp>
        <p:nvSpPr>
          <p:cNvPr id="12" name="Shape 9"/>
          <p:cNvSpPr/>
          <p:nvPr/>
        </p:nvSpPr>
        <p:spPr>
          <a:xfrm>
            <a:off x="566928" y="4133088"/>
            <a:ext cx="3776472" cy="36576"/>
          </a:xfrm>
          <a:prstGeom prst="rect">
            <a:avLst/>
          </a:prstGeom>
          <a:solidFill>
            <a:srgbClr val="6B9E78"/>
          </a:solidFill>
          <a:ln w="12700">
            <a:solidFill>
              <a:srgbClr val="6B9E78"/>
            </a:solidFill>
            <a:prstDash val="solid"/>
          </a:ln>
        </p:spPr>
      </p:sp>
      <p:sp>
        <p:nvSpPr>
          <p:cNvPr id="13" name="Text 10"/>
          <p:cNvSpPr/>
          <p:nvPr/>
        </p:nvSpPr>
        <p:spPr>
          <a:xfrm>
            <a:off x="566928" y="4224528"/>
            <a:ext cx="3776472" cy="512064"/>
          </a:xfrm>
          <a:prstGeom prst="rect">
            <a:avLst/>
          </a:prstGeom>
          <a:noFill/>
          <a:ln/>
        </p:spPr>
        <p:txBody>
          <a:bodyPr wrap="square" lIns="0" tIns="0" rIns="0" bIns="0" rtlCol="0" anchor="ctr"/>
          <a:lstStyle/>
          <a:p>
            <a:pPr indent="0" marL="0">
              <a:buNone/>
            </a:pPr>
            <a:r>
              <a:rPr lang="en-US" sz="1100" i="1" dirty="0">
                <a:solidFill>
                  <a:srgbClr val="C9A85C"/>
                </a:solidFill>
                <a:latin typeface="Calibri" pitchFamily="34" charset="0"/>
                <a:ea typeface="Calibri" pitchFamily="34" charset="-122"/>
                <a:cs typeface="Calibri" pitchFamily="34" charset="-120"/>
              </a:rPr>
              <a:t>Es uno de los 5 componentes del Rescue Remedy.</a:t>
            </a:r>
            <a:endParaRPr lang="en-US" sz="1100" dirty="0"/>
          </a:p>
        </p:txBody>
      </p:sp>
      <p:sp>
        <p:nvSpPr>
          <p:cNvPr id="14" name="Shape 11"/>
          <p:cNvSpPr/>
          <p:nvPr/>
        </p:nvSpPr>
        <p:spPr>
          <a:xfrm>
            <a:off x="4617720" y="201168"/>
            <a:ext cx="4160520" cy="4736592"/>
          </a:xfrm>
          <a:prstGeom prst="rect">
            <a:avLst/>
          </a:prstGeom>
          <a:solidFill>
            <a:srgbClr val="6B9E78"/>
          </a:solidFill>
          <a:ln w="12700">
            <a:solidFill>
              <a:srgbClr val="6B9E78"/>
            </a:solidFill>
            <a:prstDash val="solid"/>
          </a:ln>
          <a:effectLst>
            <a:outerShdw sx="100000" sy="100000" kx="0" ky="0" algn="bl" rotWithShape="0" blurRad="101600" dist="38100" dir="8100000">
              <a:srgbClr val="000000">
                <a:alpha val="12000"/>
              </a:srgbClr>
            </a:outerShdw>
          </a:effectLst>
        </p:spPr>
      </p:sp>
      <p:sp>
        <p:nvSpPr>
          <p:cNvPr id="15" name="Shape 12"/>
          <p:cNvSpPr/>
          <p:nvPr/>
        </p:nvSpPr>
        <p:spPr>
          <a:xfrm>
            <a:off x="4617720" y="201168"/>
            <a:ext cx="658368" cy="402336"/>
          </a:xfrm>
          <a:prstGeom prst="rect">
            <a:avLst/>
          </a:prstGeom>
          <a:solidFill>
            <a:srgbClr val="1E3A2F"/>
          </a:solidFill>
          <a:ln w="12700">
            <a:solidFill>
              <a:srgbClr val="1E3A2F"/>
            </a:solidFill>
            <a:prstDash val="solid"/>
          </a:ln>
        </p:spPr>
      </p:sp>
      <p:sp>
        <p:nvSpPr>
          <p:cNvPr id="16" name="Text 13"/>
          <p:cNvSpPr/>
          <p:nvPr/>
        </p:nvSpPr>
        <p:spPr>
          <a:xfrm>
            <a:off x="4617720" y="201168"/>
            <a:ext cx="65836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7" name="Text 14"/>
          <p:cNvSpPr/>
          <p:nvPr/>
        </p:nvSpPr>
        <p:spPr>
          <a:xfrm>
            <a:off x="4818888" y="749808"/>
            <a:ext cx="3776472" cy="566928"/>
          </a:xfrm>
          <a:prstGeom prst="rect">
            <a:avLst/>
          </a:prstGeom>
          <a:noFill/>
          <a:ln/>
        </p:spPr>
        <p:txBody>
          <a:bodyPr wrap="square" lIns="0" tIns="0" rIns="0" bIns="0" rtlCol="0" anchor="ctr"/>
          <a:lstStyle/>
          <a:p>
            <a:pPr indent="0" marL="0">
              <a:buNone/>
            </a:pPr>
            <a:r>
              <a:rPr lang="en-US" sz="3000" b="1" dirty="0">
                <a:solidFill>
                  <a:srgbClr val="1E3A2F"/>
                </a:solidFill>
                <a:latin typeface="Georgia" pitchFamily="34" charset="0"/>
                <a:ea typeface="Georgia" pitchFamily="34" charset="-122"/>
                <a:cs typeface="Georgia" pitchFamily="34" charset="-120"/>
              </a:rPr>
              <a:t>Mimulus</a:t>
            </a:r>
            <a:endParaRPr lang="en-US" sz="3000" dirty="0"/>
          </a:p>
        </p:txBody>
      </p:sp>
      <p:sp>
        <p:nvSpPr>
          <p:cNvPr id="18" name="Text 15"/>
          <p:cNvSpPr/>
          <p:nvPr/>
        </p:nvSpPr>
        <p:spPr>
          <a:xfrm>
            <a:off x="4818888" y="1371600"/>
            <a:ext cx="3776472" cy="310896"/>
          </a:xfrm>
          <a:prstGeom prst="rect">
            <a:avLst/>
          </a:prstGeom>
          <a:noFill/>
          <a:ln/>
        </p:spPr>
        <p:txBody>
          <a:bodyPr wrap="square" lIns="0" tIns="0" rIns="0" bIns="0" rtlCol="0" anchor="ctr"/>
          <a:lstStyle/>
          <a:p>
            <a:pPr indent="0" marL="0">
              <a:buNone/>
            </a:pPr>
            <a:r>
              <a:rPr lang="en-US" sz="1200" i="1" dirty="0">
                <a:solidFill>
                  <a:srgbClr val="1E3A2F"/>
                </a:solidFill>
                <a:latin typeface="Calibri" pitchFamily="34" charset="0"/>
                <a:ea typeface="Calibri" pitchFamily="34" charset="-122"/>
                <a:cs typeface="Calibri" pitchFamily="34" charset="-120"/>
              </a:rPr>
              <a:t>Miedos concretos e identificables</a:t>
            </a:r>
            <a:endParaRPr lang="en-US" sz="1200" dirty="0"/>
          </a:p>
        </p:txBody>
      </p:sp>
      <p:sp>
        <p:nvSpPr>
          <p:cNvPr id="19" name="Text 16"/>
          <p:cNvSpPr/>
          <p:nvPr/>
        </p:nvSpPr>
        <p:spPr>
          <a:xfrm>
            <a:off x="4818888" y="1773936"/>
            <a:ext cx="3776472" cy="420624"/>
          </a:xfrm>
          <a:prstGeom prst="rect">
            <a:avLst/>
          </a:prstGeom>
          <a:noFill/>
          <a:ln/>
        </p:spPr>
        <p:txBody>
          <a:bodyPr wrap="square" lIns="0" tIns="0" rIns="0" bIns="0" rtlCol="0" anchor="ctr"/>
          <a:lstStyle/>
          <a:p>
            <a:pPr indent="0" marL="0">
              <a:buNone/>
            </a:pPr>
            <a:r>
              <a:rPr lang="en-US" sz="1400" b="1" dirty="0">
                <a:solidFill>
                  <a:srgbClr val="1E3A2F"/>
                </a:solidFill>
                <a:latin typeface="Georgia" pitchFamily="34" charset="0"/>
                <a:ea typeface="Georgia" pitchFamily="34" charset="-122"/>
                <a:cs typeface="Georgia" pitchFamily="34" charset="-120"/>
              </a:rPr>
              <a:t>No ansiedad difusa — miedo a algo específico.</a:t>
            </a:r>
            <a:endParaRPr lang="en-US" sz="1400" dirty="0"/>
          </a:p>
        </p:txBody>
      </p:sp>
      <p:sp>
        <p:nvSpPr>
          <p:cNvPr id="20" name="Text 17"/>
          <p:cNvSpPr/>
          <p:nvPr/>
        </p:nvSpPr>
        <p:spPr>
          <a:xfrm>
            <a:off x="4818888" y="2286000"/>
            <a:ext cx="3776472" cy="1078992"/>
          </a:xfrm>
          <a:prstGeom prst="rect">
            <a:avLst/>
          </a:prstGeom>
          <a:noFill/>
          <a:ln/>
        </p:spPr>
        <p:txBody>
          <a:bodyPr wrap="square" lIns="0" tIns="0" rIns="0" bIns="0" rtlCol="0" anchor="ctr"/>
          <a:lstStyle/>
          <a:p>
            <a:pPr indent="0" marL="0">
              <a:buNone/>
            </a:pPr>
            <a:r>
              <a:rPr lang="en-US" sz="1300" dirty="0">
                <a:solidFill>
                  <a:srgbClr val="1E3A2F"/>
                </a:solidFill>
                <a:latin typeface="Calibri" pitchFamily="34" charset="0"/>
                <a:ea typeface="Calibri" pitchFamily="34" charset="-122"/>
                <a:cs typeface="Calibri" pitchFamily="34" charset="-120"/>
              </a:rPr>
              <a:t>El perro que le tiene miedo a la aspiradora.</a:t>
            </a:r>
            <a:endParaRPr lang="en-US" sz="1300" dirty="0"/>
          </a:p>
          <a:p>
            <a:pPr indent="0" marL="0">
              <a:buNone/>
            </a:pPr>
            <a:r>
              <a:rPr lang="en-US" sz="1300" dirty="0">
                <a:solidFill>
                  <a:srgbClr val="1E3A2F"/>
                </a:solidFill>
                <a:latin typeface="Calibri" pitchFamily="34" charset="0"/>
                <a:ea typeface="Calibri" pitchFamily="34" charset="-122"/>
                <a:cs typeface="Calibri" pitchFamily="34" charset="-120"/>
              </a:rPr>
              <a:t>El gato que se esconde cuando llegan visitas.</a:t>
            </a:r>
            <a:endParaRPr lang="en-US" sz="1300" dirty="0"/>
          </a:p>
          <a:p>
            <a:pPr indent="0" marL="0">
              <a:buNone/>
            </a:pPr>
            <a:r>
              <a:rPr lang="en-US" sz="1300" dirty="0">
                <a:solidFill>
                  <a:srgbClr val="1E3A2F"/>
                </a:solidFill>
                <a:latin typeface="Calibri" pitchFamily="34" charset="0"/>
                <a:ea typeface="Calibri" pitchFamily="34" charset="-122"/>
                <a:cs typeface="Calibri" pitchFamily="34" charset="-120"/>
              </a:rPr>
              <a:t>El conejo que se congela con los sonidos fuertes.</a:t>
            </a:r>
            <a:endParaRPr lang="en-US" sz="1300" dirty="0"/>
          </a:p>
        </p:txBody>
      </p:sp>
      <p:sp>
        <p:nvSpPr>
          <p:cNvPr id="21" name="Shape 18"/>
          <p:cNvSpPr/>
          <p:nvPr/>
        </p:nvSpPr>
        <p:spPr>
          <a:xfrm>
            <a:off x="4818888" y="3456432"/>
            <a:ext cx="3776472" cy="36576"/>
          </a:xfrm>
          <a:prstGeom prst="rect">
            <a:avLst/>
          </a:prstGeom>
          <a:solidFill>
            <a:srgbClr val="1E3A2F"/>
          </a:solidFill>
          <a:ln w="12700">
            <a:solidFill>
              <a:srgbClr val="1E3A2F"/>
            </a:solidFill>
            <a:prstDash val="solid"/>
          </a:ln>
        </p:spPr>
      </p:sp>
      <p:sp>
        <p:nvSpPr>
          <p:cNvPr id="22" name="Text 19"/>
          <p:cNvSpPr/>
          <p:nvPr/>
        </p:nvSpPr>
        <p:spPr>
          <a:xfrm>
            <a:off x="4818888" y="3566160"/>
            <a:ext cx="3776472" cy="310896"/>
          </a:xfrm>
          <a:prstGeom prst="rect">
            <a:avLst/>
          </a:prstGeom>
          <a:noFill/>
          <a:ln/>
        </p:spPr>
        <p:txBody>
          <a:bodyPr wrap="square" lIns="0" tIns="0" rIns="0" bIns="0" rtlCol="0" anchor="ctr"/>
          <a:lstStyle/>
          <a:p>
            <a:pPr indent="0" marL="0">
              <a:buNone/>
            </a:pPr>
            <a:r>
              <a:rPr lang="en-US" sz="1200" i="1" dirty="0">
                <a:solidFill>
                  <a:srgbClr val="1E3A2F"/>
                </a:solidFill>
                <a:latin typeface="Calibri" pitchFamily="34" charset="0"/>
                <a:ea typeface="Calibri" pitchFamily="34" charset="-122"/>
                <a:cs typeface="Calibri" pitchFamily="34" charset="-120"/>
              </a:rPr>
              <a:t>Mimulus = miedo con objeto identificable</a:t>
            </a:r>
            <a:endParaRPr lang="en-US" sz="1200" dirty="0"/>
          </a:p>
        </p:txBody>
      </p:sp>
      <p:sp>
        <p:nvSpPr>
          <p:cNvPr id="23" name="Text 20"/>
          <p:cNvSpPr/>
          <p:nvPr/>
        </p:nvSpPr>
        <p:spPr>
          <a:xfrm>
            <a:off x="4818888" y="3931920"/>
            <a:ext cx="3776472" cy="310896"/>
          </a:xfrm>
          <a:prstGeom prst="rect">
            <a:avLst/>
          </a:prstGeom>
          <a:noFill/>
          <a:ln/>
        </p:spPr>
        <p:txBody>
          <a:bodyPr wrap="square" lIns="0" tIns="0" rIns="0" bIns="0" rtlCol="0" anchor="ctr"/>
          <a:lstStyle/>
          <a:p>
            <a:pPr indent="0" marL="0">
              <a:buNone/>
            </a:pPr>
            <a:r>
              <a:rPr lang="en-US" sz="1200" i="1" dirty="0">
                <a:solidFill>
                  <a:srgbClr val="1E3A2F"/>
                </a:solidFill>
                <a:latin typeface="Calibri" pitchFamily="34" charset="0"/>
                <a:ea typeface="Calibri" pitchFamily="34" charset="-122"/>
                <a:cs typeface="Calibri" pitchFamily="34" charset="-120"/>
              </a:rPr>
              <a:t>Aspen = ansiedad sin causa aparente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EFE6"/>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E3A2F"/>
          </a:solidFill>
          <a:ln w="12700">
            <a:solidFill>
              <a:srgbClr val="1E3A2F"/>
            </a:solidFill>
            <a:prstDash val="solid"/>
          </a:ln>
        </p:spPr>
      </p:sp>
      <p:sp>
        <p:nvSpPr>
          <p:cNvPr id="3" name="Shape 1"/>
          <p:cNvSpPr/>
          <p:nvPr/>
        </p:nvSpPr>
        <p:spPr>
          <a:xfrm>
            <a:off x="0" y="0"/>
            <a:ext cx="128016" cy="5143500"/>
          </a:xfrm>
          <a:prstGeom prst="rect">
            <a:avLst/>
          </a:prstGeom>
          <a:solidFill>
            <a:srgbClr val="1E3A2F"/>
          </a:solidFill>
          <a:ln w="12700">
            <a:solidFill>
              <a:srgbClr val="1E3A2F"/>
            </a:solidFill>
            <a:prstDash val="solid"/>
          </a:ln>
        </p:spPr>
      </p:sp>
      <p:pic>
        <p:nvPicPr>
          <p:cNvPr id="4" name="Image 0" descr="/sessions/focused-admiring-fermi/mnt/Mascotas_2026/Programa/logo centro.png">    </p:cNvPr>
          <p:cNvPicPr>
            <a:picLocks noChangeAspect="1"/>
          </p:cNvPicPr>
          <p:nvPr/>
        </p:nvPicPr>
        <p:blipFill>
          <a:blip r:embed="rId1"/>
          <a:stretch>
            <a:fillRect/>
          </a:stretch>
        </p:blipFill>
        <p:spPr>
          <a:xfrm>
            <a:off x="8485632" y="109728"/>
            <a:ext cx="347472" cy="347472"/>
          </a:xfrm>
          <a:prstGeom prst="rect">
            <a:avLst/>
          </a:prstGeom>
        </p:spPr>
      </p:pic>
      <p:sp>
        <p:nvSpPr>
          <p:cNvPr id="5" name="Shape 2"/>
          <p:cNvSpPr/>
          <p:nvPr/>
        </p:nvSpPr>
        <p:spPr>
          <a:xfrm>
            <a:off x="365760" y="201168"/>
            <a:ext cx="4160520" cy="4736592"/>
          </a:xfrm>
          <a:prstGeom prst="rect">
            <a:avLst/>
          </a:prstGeom>
          <a:solidFill>
            <a:srgbClr val="1E3A2F"/>
          </a:solidFill>
          <a:ln w="12700">
            <a:solidFill>
              <a:srgbClr val="1E3A2F"/>
            </a:solidFill>
            <a:prstDash val="solid"/>
          </a:ln>
          <a:effectLst>
            <a:outerShdw sx="100000" sy="100000" kx="0" ky="0" algn="bl" rotWithShape="0" blurRad="101600" dist="38100" dir="8100000">
              <a:srgbClr val="000000">
                <a:alpha val="12000"/>
              </a:srgbClr>
            </a:outerShdw>
          </a:effectLst>
        </p:spPr>
      </p:sp>
      <p:sp>
        <p:nvSpPr>
          <p:cNvPr id="6" name="Shape 3"/>
          <p:cNvSpPr/>
          <p:nvPr/>
        </p:nvSpPr>
        <p:spPr>
          <a:xfrm>
            <a:off x="365760" y="201168"/>
            <a:ext cx="658368" cy="402336"/>
          </a:xfrm>
          <a:prstGeom prst="rect">
            <a:avLst/>
          </a:prstGeom>
          <a:solidFill>
            <a:srgbClr val="C9A85C"/>
          </a:solidFill>
          <a:ln w="12700">
            <a:solidFill>
              <a:srgbClr val="C9A85C"/>
            </a:solidFill>
            <a:prstDash val="solid"/>
          </a:ln>
        </p:spPr>
      </p:sp>
      <p:sp>
        <p:nvSpPr>
          <p:cNvPr id="7" name="Text 4"/>
          <p:cNvSpPr/>
          <p:nvPr/>
        </p:nvSpPr>
        <p:spPr>
          <a:xfrm>
            <a:off x="365760" y="201168"/>
            <a:ext cx="658368" cy="402336"/>
          </a:xfrm>
          <a:prstGeom prst="rect">
            <a:avLst/>
          </a:prstGeom>
          <a:noFill/>
          <a:ln/>
        </p:spPr>
        <p:txBody>
          <a:bodyPr wrap="square" lIns="0" tIns="0" rIns="0" bIns="0" rtlCol="0" anchor="ctr"/>
          <a:lstStyle/>
          <a:p>
            <a:pPr algn="ctr" indent="0" marL="0">
              <a:buNone/>
            </a:pPr>
            <a:r>
              <a:rPr lang="en-US" sz="1400" b="1" dirty="0">
                <a:solidFill>
                  <a:srgbClr val="1E3A2F"/>
                </a:solidFill>
                <a:latin typeface="Georgia" pitchFamily="34" charset="0"/>
                <a:ea typeface="Georgia" pitchFamily="34" charset="-122"/>
                <a:cs typeface="Georgia" pitchFamily="34" charset="-120"/>
              </a:rPr>
              <a:t>4</a:t>
            </a:r>
            <a:endParaRPr lang="en-US" sz="1400" dirty="0"/>
          </a:p>
        </p:txBody>
      </p:sp>
      <p:sp>
        <p:nvSpPr>
          <p:cNvPr id="8" name="Text 5"/>
          <p:cNvSpPr/>
          <p:nvPr/>
        </p:nvSpPr>
        <p:spPr>
          <a:xfrm>
            <a:off x="566928" y="749808"/>
            <a:ext cx="3776472" cy="566928"/>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Walnut</a:t>
            </a:r>
            <a:endParaRPr lang="en-US" sz="3400" dirty="0"/>
          </a:p>
        </p:txBody>
      </p:sp>
      <p:sp>
        <p:nvSpPr>
          <p:cNvPr id="9" name="Text 6"/>
          <p:cNvSpPr/>
          <p:nvPr/>
        </p:nvSpPr>
        <p:spPr>
          <a:xfrm>
            <a:off x="566928" y="1371600"/>
            <a:ext cx="3776472" cy="310896"/>
          </a:xfrm>
          <a:prstGeom prst="rect">
            <a:avLst/>
          </a:prstGeom>
          <a:noFill/>
          <a:ln/>
        </p:spPr>
        <p:txBody>
          <a:bodyPr wrap="square" lIns="0" tIns="0" rIns="0" bIns="0" rtlCol="0" anchor="ctr"/>
          <a:lstStyle/>
          <a:p>
            <a:pPr indent="0" marL="0">
              <a:buNone/>
            </a:pPr>
            <a:r>
              <a:rPr lang="en-US" sz="1200" i="1" dirty="0">
                <a:solidFill>
                  <a:srgbClr val="C9A85C"/>
                </a:solidFill>
                <a:latin typeface="Calibri" pitchFamily="34" charset="0"/>
                <a:ea typeface="Calibri" pitchFamily="34" charset="-122"/>
                <a:cs typeface="Calibri" pitchFamily="34" charset="-120"/>
              </a:rPr>
              <a:t>Protección ante el cambio</a:t>
            </a:r>
            <a:endParaRPr lang="en-US" sz="1200" dirty="0"/>
          </a:p>
        </p:txBody>
      </p:sp>
      <p:sp>
        <p:nvSpPr>
          <p:cNvPr id="10" name="Text 7"/>
          <p:cNvSpPr/>
          <p:nvPr/>
        </p:nvSpPr>
        <p:spPr>
          <a:xfrm>
            <a:off x="566928" y="1773936"/>
            <a:ext cx="3776472" cy="8229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Ayuda al animal a soltar lo anterior y establecerse en lo nuevo sin quedar atrapado entre los dos.</a:t>
            </a:r>
            <a:endParaRPr lang="en-US" sz="1300" dirty="0"/>
          </a:p>
        </p:txBody>
      </p:sp>
      <p:sp>
        <p:nvSpPr>
          <p:cNvPr id="11" name="Text 8"/>
          <p:cNvSpPr/>
          <p:nvPr/>
        </p:nvSpPr>
        <p:spPr>
          <a:xfrm>
            <a:off x="566928" y="2724912"/>
            <a:ext cx="3776472" cy="987552"/>
          </a:xfrm>
          <a:prstGeom prst="rect">
            <a:avLst/>
          </a:prstGeom>
          <a:noFill/>
          <a:ln/>
        </p:spPr>
        <p:txBody>
          <a:bodyPr wrap="square" lIns="0" tIns="0" rIns="0" bIns="0" rtlCol="0" anchor="ctr"/>
          <a:lstStyle/>
          <a:p>
            <a:pPr indent="0" marL="0">
              <a:buNone/>
            </a:pPr>
            <a:r>
              <a:rPr lang="en-US" sz="1200" dirty="0">
                <a:solidFill>
                  <a:srgbClr val="A8D5BA"/>
                </a:solidFill>
                <a:latin typeface="Calibri" pitchFamily="34" charset="0"/>
                <a:ea typeface="Calibri" pitchFamily="34" charset="-122"/>
                <a:cs typeface="Calibri" pitchFamily="34" charset="-120"/>
              </a:rPr>
              <a:t>Mudanza  ·  Llegada de un bebé</a:t>
            </a:r>
            <a:endParaRPr lang="en-US" sz="1200" dirty="0"/>
          </a:p>
          <a:p>
            <a:pPr indent="0" marL="0">
              <a:buNone/>
            </a:pPr>
            <a:r>
              <a:rPr lang="en-US" sz="1200" dirty="0">
                <a:solidFill>
                  <a:srgbClr val="A8D5BA"/>
                </a:solidFill>
                <a:latin typeface="Calibri" pitchFamily="34" charset="0"/>
                <a:ea typeface="Calibri" pitchFamily="34" charset="-122"/>
                <a:cs typeface="Calibri" pitchFamily="34" charset="-120"/>
              </a:rPr>
              <a:t>Llegada de otro animal</a:t>
            </a:r>
            <a:endParaRPr lang="en-US" sz="1200" dirty="0"/>
          </a:p>
          <a:p>
            <a:pPr indent="0" marL="0">
              <a:buNone/>
            </a:pPr>
            <a:r>
              <a:rPr lang="en-US" sz="1200" dirty="0">
                <a:solidFill>
                  <a:srgbClr val="A8D5BA"/>
                </a:solidFill>
                <a:latin typeface="Calibri" pitchFamily="34" charset="0"/>
                <a:ea typeface="Calibri" pitchFamily="34" charset="-122"/>
                <a:cs typeface="Calibri" pitchFamily="34" charset="-120"/>
              </a:rPr>
              <a:t>Cambio de dueño  ·  Cambio de rutina significativa</a:t>
            </a:r>
            <a:endParaRPr lang="en-US" sz="1200" dirty="0"/>
          </a:p>
        </p:txBody>
      </p:sp>
      <p:sp>
        <p:nvSpPr>
          <p:cNvPr id="12" name="Shape 9"/>
          <p:cNvSpPr/>
          <p:nvPr/>
        </p:nvSpPr>
        <p:spPr>
          <a:xfrm>
            <a:off x="566928" y="3803904"/>
            <a:ext cx="3776472" cy="36576"/>
          </a:xfrm>
          <a:prstGeom prst="rect">
            <a:avLst/>
          </a:prstGeom>
          <a:solidFill>
            <a:srgbClr val="6B9E78"/>
          </a:solidFill>
          <a:ln w="12700">
            <a:solidFill>
              <a:srgbClr val="6B9E78"/>
            </a:solidFill>
            <a:prstDash val="solid"/>
          </a:ln>
        </p:spPr>
      </p:sp>
      <p:sp>
        <p:nvSpPr>
          <p:cNvPr id="13" name="Text 10"/>
          <p:cNvSpPr/>
          <p:nvPr/>
        </p:nvSpPr>
        <p:spPr>
          <a:xfrm>
            <a:off x="566928" y="3913632"/>
            <a:ext cx="3776472" cy="768096"/>
          </a:xfrm>
          <a:prstGeom prst="rect">
            <a:avLst/>
          </a:prstGeom>
          <a:noFill/>
          <a:ln/>
        </p:spPr>
        <p:txBody>
          <a:bodyPr wrap="square" lIns="0" tIns="0" rIns="0" bIns="0" rtlCol="0" anchor="ctr"/>
          <a:lstStyle/>
          <a:p>
            <a:pPr indent="0" marL="0">
              <a:buNone/>
            </a:pPr>
            <a:r>
              <a:rPr lang="en-US" sz="1100" i="1" dirty="0">
                <a:solidFill>
                  <a:srgbClr val="A8D5BA"/>
                </a:solidFill>
                <a:latin typeface="Calibri" pitchFamily="34" charset="0"/>
                <a:ea typeface="Calibri" pitchFamily="34" charset="-122"/>
                <a:cs typeface="Calibri" pitchFamily="34" charset="-120"/>
              </a:rPr>
              <a:t>Protege de la sobreabsorción en entornos con mucha tensión emocional.</a:t>
            </a:r>
            <a:endParaRPr lang="en-US" sz="1100" dirty="0"/>
          </a:p>
        </p:txBody>
      </p:sp>
      <p:sp>
        <p:nvSpPr>
          <p:cNvPr id="14" name="Shape 11"/>
          <p:cNvSpPr/>
          <p:nvPr/>
        </p:nvSpPr>
        <p:spPr>
          <a:xfrm>
            <a:off x="4617720" y="201168"/>
            <a:ext cx="4160520" cy="4736592"/>
          </a:xfrm>
          <a:prstGeom prst="rect">
            <a:avLst/>
          </a:prstGeom>
          <a:solidFill>
            <a:srgbClr val="EDE5D8"/>
          </a:solidFill>
          <a:ln w="12700">
            <a:solidFill>
              <a:srgbClr val="E0D8CE"/>
            </a:solidFill>
            <a:prstDash val="solid"/>
          </a:ln>
          <a:effectLst>
            <a:outerShdw sx="100000" sy="100000" kx="0" ky="0" algn="bl" rotWithShape="0" blurRad="101600" dist="38100" dir="8100000">
              <a:srgbClr val="000000">
                <a:alpha val="12000"/>
              </a:srgbClr>
            </a:outerShdw>
          </a:effectLst>
        </p:spPr>
      </p:sp>
      <p:sp>
        <p:nvSpPr>
          <p:cNvPr id="15" name="Shape 12"/>
          <p:cNvSpPr/>
          <p:nvPr/>
        </p:nvSpPr>
        <p:spPr>
          <a:xfrm>
            <a:off x="4617720" y="201168"/>
            <a:ext cx="658368" cy="402336"/>
          </a:xfrm>
          <a:prstGeom prst="rect">
            <a:avLst/>
          </a:prstGeom>
          <a:solidFill>
            <a:srgbClr val="6B9E78"/>
          </a:solidFill>
          <a:ln w="12700">
            <a:solidFill>
              <a:srgbClr val="6B9E78"/>
            </a:solidFill>
            <a:prstDash val="solid"/>
          </a:ln>
        </p:spPr>
      </p:sp>
      <p:sp>
        <p:nvSpPr>
          <p:cNvPr id="16" name="Text 13"/>
          <p:cNvSpPr/>
          <p:nvPr/>
        </p:nvSpPr>
        <p:spPr>
          <a:xfrm>
            <a:off x="4617720" y="201168"/>
            <a:ext cx="65836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17" name="Text 14"/>
          <p:cNvSpPr/>
          <p:nvPr/>
        </p:nvSpPr>
        <p:spPr>
          <a:xfrm>
            <a:off x="4818888" y="749808"/>
            <a:ext cx="3776472" cy="566928"/>
          </a:xfrm>
          <a:prstGeom prst="rect">
            <a:avLst/>
          </a:prstGeom>
          <a:noFill/>
          <a:ln/>
        </p:spPr>
        <p:txBody>
          <a:bodyPr wrap="square" lIns="0" tIns="0" rIns="0" bIns="0" rtlCol="0" anchor="ctr"/>
          <a:lstStyle/>
          <a:p>
            <a:pPr indent="0" marL="0">
              <a:buNone/>
            </a:pPr>
            <a:r>
              <a:rPr lang="en-US" sz="3400" b="1" dirty="0">
                <a:solidFill>
                  <a:srgbClr val="1E3A2F"/>
                </a:solidFill>
                <a:latin typeface="Georgia" pitchFamily="34" charset="0"/>
                <a:ea typeface="Georgia" pitchFamily="34" charset="-122"/>
                <a:cs typeface="Georgia" pitchFamily="34" charset="-120"/>
              </a:rPr>
              <a:t>Chicory</a:t>
            </a:r>
            <a:endParaRPr lang="en-US" sz="3400" dirty="0"/>
          </a:p>
        </p:txBody>
      </p:sp>
      <p:sp>
        <p:nvSpPr>
          <p:cNvPr id="18" name="Text 15"/>
          <p:cNvSpPr/>
          <p:nvPr/>
        </p:nvSpPr>
        <p:spPr>
          <a:xfrm>
            <a:off x="4818888" y="1371600"/>
            <a:ext cx="3776472" cy="310896"/>
          </a:xfrm>
          <a:prstGeom prst="rect">
            <a:avLst/>
          </a:prstGeom>
          <a:noFill/>
          <a:ln/>
        </p:spPr>
        <p:txBody>
          <a:bodyPr wrap="square" lIns="0" tIns="0" rIns="0" bIns="0" rtlCol="0" anchor="ctr"/>
          <a:lstStyle/>
          <a:p>
            <a:pPr indent="0" marL="0">
              <a:buNone/>
            </a:pPr>
            <a:r>
              <a:rPr lang="en-US" sz="1200" i="1" dirty="0">
                <a:solidFill>
                  <a:srgbClr val="4A6355"/>
                </a:solidFill>
                <a:latin typeface="Calibri" pitchFamily="34" charset="0"/>
                <a:ea typeface="Calibri" pitchFamily="34" charset="-122"/>
                <a:cs typeface="Calibri" pitchFamily="34" charset="-120"/>
              </a:rPr>
              <a:t>El amor posesivo</a:t>
            </a:r>
            <a:endParaRPr lang="en-US" sz="1200" dirty="0"/>
          </a:p>
        </p:txBody>
      </p:sp>
      <p:sp>
        <p:nvSpPr>
          <p:cNvPr id="19" name="Text 16"/>
          <p:cNvSpPr/>
          <p:nvPr/>
        </p:nvSpPr>
        <p:spPr>
          <a:xfrm>
            <a:off x="4818888" y="1773936"/>
            <a:ext cx="3776472" cy="822960"/>
          </a:xfrm>
          <a:prstGeom prst="rect">
            <a:avLst/>
          </a:prstGeom>
          <a:noFill/>
          <a:ln/>
        </p:spPr>
        <p:txBody>
          <a:bodyPr wrap="square" lIns="0" tIns="0" rIns="0" bIns="0" rtlCol="0" anchor="ctr"/>
          <a:lstStyle/>
          <a:p>
            <a:pPr indent="0" marL="0">
              <a:buNone/>
            </a:pPr>
            <a:r>
              <a:rPr lang="en-US" sz="1300" dirty="0">
                <a:solidFill>
                  <a:srgbClr val="1E3A2F"/>
                </a:solidFill>
                <a:latin typeface="Calibri" pitchFamily="34" charset="0"/>
                <a:ea typeface="Calibri" pitchFamily="34" charset="-122"/>
                <a:cs typeface="Calibri" pitchFamily="34" charset="-120"/>
              </a:rPr>
              <a:t>El animal que no puede estar solo. Que sigue al dueño a todos lados. Que tiene celos del bebé, del nuevo perro, del novio.</a:t>
            </a:r>
            <a:endParaRPr lang="en-US" sz="1300" dirty="0"/>
          </a:p>
        </p:txBody>
      </p:sp>
      <p:sp>
        <p:nvSpPr>
          <p:cNvPr id="20" name="Text 17"/>
          <p:cNvSpPr/>
          <p:nvPr/>
        </p:nvSpPr>
        <p:spPr>
          <a:xfrm>
            <a:off x="4818888" y="2724912"/>
            <a:ext cx="3776472" cy="1078992"/>
          </a:xfrm>
          <a:prstGeom prst="rect">
            <a:avLst/>
          </a:prstGeom>
          <a:noFill/>
          <a:ln/>
        </p:spPr>
        <p:txBody>
          <a:bodyPr wrap="square" lIns="0" tIns="0" rIns="0" bIns="0" rtlCol="0" anchor="ctr"/>
          <a:lstStyle/>
          <a:p>
            <a:pPr indent="0" marL="0">
              <a:buNone/>
            </a:pPr>
            <a:r>
              <a:rPr lang="en-US" sz="1200" dirty="0">
                <a:solidFill>
                  <a:srgbClr val="4A6355"/>
                </a:solidFill>
                <a:latin typeface="Calibri" pitchFamily="34" charset="0"/>
                <a:ea typeface="Calibri" pitchFamily="34" charset="-122"/>
                <a:cs typeface="Calibri" pitchFamily="34" charset="-120"/>
              </a:rPr>
              <a:t>No es ansiedad de separación en general — es el apego controlador activo: el animal que reclama atención, que empuja la mano, que no acepta que presten atención a otro.</a:t>
            </a:r>
            <a:endParaRPr lang="en-US" sz="1200" dirty="0"/>
          </a:p>
        </p:txBody>
      </p:sp>
      <p:sp>
        <p:nvSpPr>
          <p:cNvPr id="21" name="Shape 18"/>
          <p:cNvSpPr/>
          <p:nvPr/>
        </p:nvSpPr>
        <p:spPr>
          <a:xfrm>
            <a:off x="4818888" y="3895344"/>
            <a:ext cx="3776472" cy="36576"/>
          </a:xfrm>
          <a:prstGeom prst="rect">
            <a:avLst/>
          </a:prstGeom>
          <a:solidFill>
            <a:srgbClr val="1E3A2F"/>
          </a:solidFill>
          <a:ln w="12700">
            <a:solidFill>
              <a:srgbClr val="1E3A2F"/>
            </a:solidFill>
            <a:prstDash val="solid"/>
          </a:ln>
        </p:spPr>
      </p:sp>
      <p:sp>
        <p:nvSpPr>
          <p:cNvPr id="22" name="Text 19"/>
          <p:cNvSpPr/>
          <p:nvPr/>
        </p:nvSpPr>
        <p:spPr>
          <a:xfrm>
            <a:off x="4818888" y="4005072"/>
            <a:ext cx="3776472" cy="676656"/>
          </a:xfrm>
          <a:prstGeom prst="rect">
            <a:avLst/>
          </a:prstGeom>
          <a:noFill/>
          <a:ln/>
        </p:spPr>
        <p:txBody>
          <a:bodyPr wrap="square" lIns="0" tIns="0" rIns="0" bIns="0" rtlCol="0" anchor="ctr"/>
          <a:lstStyle/>
          <a:p>
            <a:pPr indent="0" marL="0">
              <a:buNone/>
            </a:pPr>
            <a:r>
              <a:rPr lang="en-US" sz="1100" i="1" dirty="0">
                <a:solidFill>
                  <a:srgbClr val="4A6355"/>
                </a:solidFill>
                <a:latin typeface="Calibri" pitchFamily="34" charset="0"/>
                <a:ea typeface="Calibri" pitchFamily="34" charset="-122"/>
                <a:cs typeface="Calibri" pitchFamily="34" charset="-120"/>
              </a:rPr>
              <a:t>Frecuentemente va acompañado de Chicory para el dueño también.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3A2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5C"/>
          </a:solidFill>
          <a:ln w="12700">
            <a:solidFill>
              <a:srgbClr val="C9A85C"/>
            </a:solidFill>
            <a:prstDash val="solid"/>
          </a:ln>
        </p:spPr>
      </p:sp>
      <p:sp>
        <p:nvSpPr>
          <p:cNvPr id="3" name="Shape 1"/>
          <p:cNvSpPr/>
          <p:nvPr/>
        </p:nvSpPr>
        <p:spPr>
          <a:xfrm>
            <a:off x="0" y="0"/>
            <a:ext cx="128016" cy="5143500"/>
          </a:xfrm>
          <a:prstGeom prst="rect">
            <a:avLst/>
          </a:prstGeom>
          <a:solidFill>
            <a:srgbClr val="C9A85C"/>
          </a:solidFill>
          <a:ln w="12700">
            <a:solidFill>
              <a:srgbClr val="C9A85C"/>
            </a:solidFill>
            <a:prstDash val="solid"/>
          </a:ln>
        </p:spPr>
      </p:sp>
      <p:pic>
        <p:nvPicPr>
          <p:cNvPr id="4" name="Image 0" descr="/sessions/focused-admiring-fermi/mnt/Mascotas_2026/Programa/logo centro.png">    </p:cNvPr>
          <p:cNvPicPr>
            <a:picLocks noChangeAspect="1"/>
          </p:cNvPicPr>
          <p:nvPr/>
        </p:nvPicPr>
        <p:blipFill>
          <a:blip r:embed="rId1"/>
          <a:stretch>
            <a:fillRect/>
          </a:stretch>
        </p:blipFill>
        <p:spPr>
          <a:xfrm>
            <a:off x="8485632" y="109728"/>
            <a:ext cx="347472" cy="347472"/>
          </a:xfrm>
          <a:prstGeom prst="rect">
            <a:avLst/>
          </a:prstGeom>
        </p:spPr>
      </p:pic>
      <p:sp>
        <p:nvSpPr>
          <p:cNvPr id="5" name="Shape 2"/>
          <p:cNvSpPr/>
          <p:nvPr/>
        </p:nvSpPr>
        <p:spPr>
          <a:xfrm>
            <a:off x="365760" y="201168"/>
            <a:ext cx="4160520" cy="4736592"/>
          </a:xfrm>
          <a:prstGeom prst="rect">
            <a:avLst/>
          </a:prstGeom>
          <a:solidFill>
            <a:srgbClr val="C9A85C"/>
          </a:solidFill>
          <a:ln w="12700">
            <a:solidFill>
              <a:srgbClr val="C9A85C"/>
            </a:solidFill>
            <a:prstDash val="solid"/>
          </a:ln>
          <a:effectLst>
            <a:outerShdw sx="100000" sy="100000" kx="0" ky="0" algn="bl" rotWithShape="0" blurRad="101600" dist="38100" dir="8100000">
              <a:srgbClr val="000000">
                <a:alpha val="12000"/>
              </a:srgbClr>
            </a:outerShdw>
          </a:effectLst>
        </p:spPr>
      </p:sp>
      <p:sp>
        <p:nvSpPr>
          <p:cNvPr id="6" name="Shape 3"/>
          <p:cNvSpPr/>
          <p:nvPr/>
        </p:nvSpPr>
        <p:spPr>
          <a:xfrm>
            <a:off x="365760" y="201168"/>
            <a:ext cx="658368" cy="402336"/>
          </a:xfrm>
          <a:prstGeom prst="rect">
            <a:avLst/>
          </a:prstGeom>
          <a:solidFill>
            <a:srgbClr val="1E3A2F"/>
          </a:solidFill>
          <a:ln w="12700">
            <a:solidFill>
              <a:srgbClr val="1E3A2F"/>
            </a:solidFill>
            <a:prstDash val="solid"/>
          </a:ln>
        </p:spPr>
      </p:sp>
      <p:sp>
        <p:nvSpPr>
          <p:cNvPr id="7" name="Text 4"/>
          <p:cNvSpPr/>
          <p:nvPr/>
        </p:nvSpPr>
        <p:spPr>
          <a:xfrm>
            <a:off x="365760" y="201168"/>
            <a:ext cx="658368" cy="402336"/>
          </a:xfrm>
          <a:prstGeom prst="rect">
            <a:avLst/>
          </a:prstGeom>
          <a:noFill/>
          <a:ln/>
        </p:spPr>
        <p:txBody>
          <a:bodyPr wrap="square" lIns="0" tIns="0" rIns="0" bIns="0" rtlCol="0" anchor="ctr"/>
          <a:lstStyle/>
          <a:p>
            <a:pPr algn="ctr" indent="0" marL="0">
              <a:buNone/>
            </a:pPr>
            <a:r>
              <a:rPr lang="en-US" sz="1400" b="1" dirty="0">
                <a:solidFill>
                  <a:srgbClr val="C9A85C"/>
                </a:solidFill>
                <a:latin typeface="Georgia" pitchFamily="34" charset="0"/>
                <a:ea typeface="Georgia" pitchFamily="34" charset="-122"/>
                <a:cs typeface="Georgia" pitchFamily="34" charset="-120"/>
              </a:rPr>
              <a:t>6</a:t>
            </a:r>
            <a:endParaRPr lang="en-US" sz="1400" dirty="0"/>
          </a:p>
        </p:txBody>
      </p:sp>
      <p:sp>
        <p:nvSpPr>
          <p:cNvPr id="8" name="Text 5"/>
          <p:cNvSpPr/>
          <p:nvPr/>
        </p:nvSpPr>
        <p:spPr>
          <a:xfrm>
            <a:off x="566928" y="749808"/>
            <a:ext cx="3776472" cy="566928"/>
          </a:xfrm>
          <a:prstGeom prst="rect">
            <a:avLst/>
          </a:prstGeom>
          <a:noFill/>
          <a:ln/>
        </p:spPr>
        <p:txBody>
          <a:bodyPr wrap="square" lIns="0" tIns="0" rIns="0" bIns="0" rtlCol="0" anchor="ctr"/>
          <a:lstStyle/>
          <a:p>
            <a:pPr indent="0" marL="0">
              <a:buNone/>
            </a:pPr>
            <a:r>
              <a:rPr lang="en-US" sz="3800" b="1" dirty="0">
                <a:solidFill>
                  <a:srgbClr val="1E3A2F"/>
                </a:solidFill>
                <a:latin typeface="Georgia" pitchFamily="34" charset="0"/>
                <a:ea typeface="Georgia" pitchFamily="34" charset="-122"/>
                <a:cs typeface="Georgia" pitchFamily="34" charset="-120"/>
              </a:rPr>
              <a:t>Holly</a:t>
            </a:r>
            <a:endParaRPr lang="en-US" sz="3800" dirty="0"/>
          </a:p>
        </p:txBody>
      </p:sp>
      <p:sp>
        <p:nvSpPr>
          <p:cNvPr id="9" name="Text 6"/>
          <p:cNvSpPr/>
          <p:nvPr/>
        </p:nvSpPr>
        <p:spPr>
          <a:xfrm>
            <a:off x="566928" y="1371600"/>
            <a:ext cx="3776472" cy="310896"/>
          </a:xfrm>
          <a:prstGeom prst="rect">
            <a:avLst/>
          </a:prstGeom>
          <a:noFill/>
          <a:ln/>
        </p:spPr>
        <p:txBody>
          <a:bodyPr wrap="square" lIns="0" tIns="0" rIns="0" bIns="0" rtlCol="0" anchor="ctr"/>
          <a:lstStyle/>
          <a:p>
            <a:pPr indent="0" marL="0">
              <a:buNone/>
            </a:pPr>
            <a:r>
              <a:rPr lang="en-US" sz="1200" i="1" dirty="0">
                <a:solidFill>
                  <a:srgbClr val="1E3A2F"/>
                </a:solidFill>
                <a:latin typeface="Calibri" pitchFamily="34" charset="0"/>
                <a:ea typeface="Calibri" pitchFamily="34" charset="-122"/>
                <a:cs typeface="Calibri" pitchFamily="34" charset="-120"/>
              </a:rPr>
              <a:t>Agresividad  ·  Celos  ·  Hostilidad</a:t>
            </a:r>
            <a:endParaRPr lang="en-US" sz="1200" dirty="0"/>
          </a:p>
        </p:txBody>
      </p:sp>
      <p:sp>
        <p:nvSpPr>
          <p:cNvPr id="10" name="Text 7"/>
          <p:cNvSpPr/>
          <p:nvPr/>
        </p:nvSpPr>
        <p:spPr>
          <a:xfrm>
            <a:off x="566928" y="1773936"/>
            <a:ext cx="3776472" cy="1188720"/>
          </a:xfrm>
          <a:prstGeom prst="rect">
            <a:avLst/>
          </a:prstGeom>
          <a:noFill/>
          <a:ln/>
        </p:spPr>
        <p:txBody>
          <a:bodyPr wrap="square" lIns="0" tIns="0" rIns="0" bIns="0" rtlCol="0" anchor="ctr"/>
          <a:lstStyle/>
          <a:p>
            <a:pPr indent="0" marL="0">
              <a:buNone/>
            </a:pPr>
            <a:r>
              <a:rPr lang="en-US" sz="1300" dirty="0">
                <a:solidFill>
                  <a:srgbClr val="1E3A2F"/>
                </a:solidFill>
                <a:latin typeface="Calibri" pitchFamily="34" charset="0"/>
                <a:ea typeface="Calibri" pitchFamily="34" charset="-122"/>
                <a:cs typeface="Calibri" pitchFamily="34" charset="-120"/>
              </a:rPr>
              <a:t>Estados emocionales intensos. El perro que va de cero a dentellada. El gato que ataca sin aviso. El animal que no acepta a otro y reacciona de forma desproporcionada.</a:t>
            </a:r>
            <a:endParaRPr lang="en-US" sz="1300" dirty="0"/>
          </a:p>
        </p:txBody>
      </p:sp>
      <p:sp>
        <p:nvSpPr>
          <p:cNvPr id="11" name="Text 8"/>
          <p:cNvSpPr/>
          <p:nvPr/>
        </p:nvSpPr>
        <p:spPr>
          <a:xfrm>
            <a:off x="566928" y="3072384"/>
            <a:ext cx="3776472" cy="987552"/>
          </a:xfrm>
          <a:prstGeom prst="rect">
            <a:avLst/>
          </a:prstGeom>
          <a:noFill/>
          <a:ln/>
        </p:spPr>
        <p:txBody>
          <a:bodyPr wrap="square" lIns="0" tIns="0" rIns="0" bIns="0" rtlCol="0" anchor="ctr"/>
          <a:lstStyle/>
          <a:p>
            <a:pPr indent="0" marL="0">
              <a:buNone/>
            </a:pPr>
            <a:r>
              <a:rPr lang="en-US" sz="1200" i="1" dirty="0">
                <a:solidFill>
                  <a:srgbClr val="1E3A2F"/>
                </a:solidFill>
                <a:latin typeface="Calibri" pitchFamily="34" charset="0"/>
                <a:ea typeface="Calibri" pitchFamily="34" charset="-122"/>
                <a:cs typeface="Calibri" pitchFamily="34" charset="-120"/>
              </a:rPr>
              <a:t>También cuando el rechazo sostenido se convirtió en agresividad como defensa — el animal que aprendió que atacar primero era más seguro.</a:t>
            </a:r>
            <a:endParaRPr lang="en-US" sz="1200" dirty="0"/>
          </a:p>
        </p:txBody>
      </p:sp>
      <p:sp>
        <p:nvSpPr>
          <p:cNvPr id="12" name="Shape 9"/>
          <p:cNvSpPr/>
          <p:nvPr/>
        </p:nvSpPr>
        <p:spPr>
          <a:xfrm>
            <a:off x="4617720" y="201168"/>
            <a:ext cx="4160520" cy="4736592"/>
          </a:xfrm>
          <a:prstGeom prst="rect">
            <a:avLst/>
          </a:prstGeom>
          <a:solidFill>
            <a:srgbClr val="2A5040"/>
          </a:solidFill>
          <a:ln w="12700">
            <a:solidFill>
              <a:srgbClr val="2A5040"/>
            </a:solidFill>
            <a:prstDash val="solid"/>
          </a:ln>
          <a:effectLst>
            <a:outerShdw sx="100000" sy="100000" kx="0" ky="0" algn="bl" rotWithShape="0" blurRad="101600" dist="38100" dir="8100000">
              <a:srgbClr val="000000">
                <a:alpha val="12000"/>
              </a:srgbClr>
            </a:outerShdw>
          </a:effectLst>
        </p:spPr>
      </p:sp>
      <p:sp>
        <p:nvSpPr>
          <p:cNvPr id="13" name="Shape 10"/>
          <p:cNvSpPr/>
          <p:nvPr/>
        </p:nvSpPr>
        <p:spPr>
          <a:xfrm>
            <a:off x="4617720" y="201168"/>
            <a:ext cx="658368" cy="402336"/>
          </a:xfrm>
          <a:prstGeom prst="rect">
            <a:avLst/>
          </a:prstGeom>
          <a:solidFill>
            <a:srgbClr val="A8D5BA"/>
          </a:solidFill>
          <a:ln w="12700">
            <a:solidFill>
              <a:srgbClr val="A8D5BA"/>
            </a:solidFill>
            <a:prstDash val="solid"/>
          </a:ln>
        </p:spPr>
      </p:sp>
      <p:sp>
        <p:nvSpPr>
          <p:cNvPr id="14" name="Text 11"/>
          <p:cNvSpPr/>
          <p:nvPr/>
        </p:nvSpPr>
        <p:spPr>
          <a:xfrm>
            <a:off x="4617720" y="201168"/>
            <a:ext cx="658368" cy="402336"/>
          </a:xfrm>
          <a:prstGeom prst="rect">
            <a:avLst/>
          </a:prstGeom>
          <a:noFill/>
          <a:ln/>
        </p:spPr>
        <p:txBody>
          <a:bodyPr wrap="square" lIns="0" tIns="0" rIns="0" bIns="0" rtlCol="0" anchor="ctr"/>
          <a:lstStyle/>
          <a:p>
            <a:pPr algn="ctr" indent="0" marL="0">
              <a:buNone/>
            </a:pPr>
            <a:r>
              <a:rPr lang="en-US" sz="1400" b="1" dirty="0">
                <a:solidFill>
                  <a:srgbClr val="1E3A2F"/>
                </a:solidFill>
                <a:latin typeface="Georgia" pitchFamily="34" charset="0"/>
                <a:ea typeface="Georgia" pitchFamily="34" charset="-122"/>
                <a:cs typeface="Georgia" pitchFamily="34" charset="-120"/>
              </a:rPr>
              <a:t>7</a:t>
            </a:r>
            <a:endParaRPr lang="en-US" sz="1400" dirty="0"/>
          </a:p>
        </p:txBody>
      </p:sp>
      <p:sp>
        <p:nvSpPr>
          <p:cNvPr id="15" name="Text 12"/>
          <p:cNvSpPr/>
          <p:nvPr/>
        </p:nvSpPr>
        <p:spPr>
          <a:xfrm>
            <a:off x="4818888" y="749808"/>
            <a:ext cx="3776472" cy="566928"/>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Aspen</a:t>
            </a:r>
            <a:endParaRPr lang="en-US" sz="3800" dirty="0"/>
          </a:p>
        </p:txBody>
      </p:sp>
      <p:sp>
        <p:nvSpPr>
          <p:cNvPr id="16" name="Text 13"/>
          <p:cNvSpPr/>
          <p:nvPr/>
        </p:nvSpPr>
        <p:spPr>
          <a:xfrm>
            <a:off x="4818888" y="1371600"/>
            <a:ext cx="3776472" cy="310896"/>
          </a:xfrm>
          <a:prstGeom prst="rect">
            <a:avLst/>
          </a:prstGeom>
          <a:noFill/>
          <a:ln/>
        </p:spPr>
        <p:txBody>
          <a:bodyPr wrap="square" lIns="0" tIns="0" rIns="0" bIns="0" rtlCol="0" anchor="ctr"/>
          <a:lstStyle/>
          <a:p>
            <a:pPr indent="0" marL="0">
              <a:buNone/>
            </a:pPr>
            <a:r>
              <a:rPr lang="en-US" sz="1200" i="1" dirty="0">
                <a:solidFill>
                  <a:srgbClr val="A8D5BA"/>
                </a:solidFill>
                <a:latin typeface="Calibri" pitchFamily="34" charset="0"/>
                <a:ea typeface="Calibri" pitchFamily="34" charset="-122"/>
                <a:cs typeface="Calibri" pitchFamily="34" charset="-120"/>
              </a:rPr>
              <a:t>Ansiedad sin causa aparente</a:t>
            </a:r>
            <a:endParaRPr lang="en-US" sz="1200" dirty="0"/>
          </a:p>
        </p:txBody>
      </p:sp>
      <p:sp>
        <p:nvSpPr>
          <p:cNvPr id="17" name="Text 14"/>
          <p:cNvSpPr/>
          <p:nvPr/>
        </p:nvSpPr>
        <p:spPr>
          <a:xfrm>
            <a:off x="4818888" y="1773936"/>
            <a:ext cx="3776472" cy="12984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El miedo sin objeto. El animal que tiembla y no saben por qué. Que está nervioso sin causa identificable. Que duerme inquieto. Que reacciona ante percepciones que ustedes no detectan.</a:t>
            </a:r>
            <a:endParaRPr lang="en-US" sz="1300" dirty="0"/>
          </a:p>
        </p:txBody>
      </p:sp>
      <p:sp>
        <p:nvSpPr>
          <p:cNvPr id="18" name="Text 15"/>
          <p:cNvSpPr/>
          <p:nvPr/>
        </p:nvSpPr>
        <p:spPr>
          <a:xfrm>
            <a:off x="4818888" y="3163824"/>
            <a:ext cx="3776472" cy="914400"/>
          </a:xfrm>
          <a:prstGeom prst="rect">
            <a:avLst/>
          </a:prstGeom>
          <a:noFill/>
          <a:ln/>
        </p:spPr>
        <p:txBody>
          <a:bodyPr wrap="square" lIns="0" tIns="0" rIns="0" bIns="0" rtlCol="0" anchor="ctr"/>
          <a:lstStyle/>
          <a:p>
            <a:pPr indent="0" marL="0">
              <a:buNone/>
            </a:pPr>
            <a:r>
              <a:rPr lang="en-US" sz="1200" dirty="0">
                <a:solidFill>
                  <a:srgbClr val="A8D5BA"/>
                </a:solidFill>
                <a:latin typeface="Calibri" pitchFamily="34" charset="0"/>
                <a:ea typeface="Calibri" pitchFamily="34" charset="-122"/>
                <a:cs typeface="Calibri" pitchFamily="34" charset="-120"/>
              </a:rPr>
              <a:t>Algunos animales perciben tensión en el hogar antes de que se exprese — estados emocionales que todavía no se han dicho en voz alta.</a:t>
            </a:r>
            <a:endParaRPr lang="en-US" sz="1200" dirty="0"/>
          </a:p>
        </p:txBody>
      </p:sp>
      <p:sp>
        <p:nvSpPr>
          <p:cNvPr id="19" name="Shape 16"/>
          <p:cNvSpPr/>
          <p:nvPr/>
        </p:nvSpPr>
        <p:spPr>
          <a:xfrm>
            <a:off x="4818888" y="4169664"/>
            <a:ext cx="3776472" cy="36576"/>
          </a:xfrm>
          <a:prstGeom prst="rect">
            <a:avLst/>
          </a:prstGeom>
          <a:solidFill>
            <a:srgbClr val="6B9E78"/>
          </a:solidFill>
          <a:ln w="12700">
            <a:solidFill>
              <a:srgbClr val="6B9E78"/>
            </a:solidFill>
            <a:prstDash val="solid"/>
          </a:ln>
        </p:spPr>
      </p:sp>
      <p:sp>
        <p:nvSpPr>
          <p:cNvPr id="20" name="Text 17"/>
          <p:cNvSpPr/>
          <p:nvPr/>
        </p:nvSpPr>
        <p:spPr>
          <a:xfrm>
            <a:off x="4818888" y="4261104"/>
            <a:ext cx="3776472" cy="475488"/>
          </a:xfrm>
          <a:prstGeom prst="rect">
            <a:avLst/>
          </a:prstGeom>
          <a:noFill/>
          <a:ln/>
        </p:spPr>
        <p:txBody>
          <a:bodyPr wrap="square" lIns="0" tIns="0" rIns="0" bIns="0" rtlCol="0" anchor="ctr"/>
          <a:lstStyle/>
          <a:p>
            <a:pPr indent="0" marL="0">
              <a:buNone/>
            </a:pPr>
            <a:r>
              <a:rPr lang="en-US" sz="1000" i="1" dirty="0">
                <a:solidFill>
                  <a:srgbClr val="C9A85C"/>
                </a:solidFill>
                <a:latin typeface="Calibri" pitchFamily="34" charset="0"/>
                <a:ea typeface="Calibri" pitchFamily="34" charset="-122"/>
                <a:cs typeface="Calibri" pitchFamily="34" charset="-120"/>
              </a:rPr>
              <a:t>Aspen = sin causa  /  Mimulus = con objeto identificable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EFE6"/>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E3A2F"/>
          </a:solidFill>
          <a:ln w="12700">
            <a:solidFill>
              <a:srgbClr val="1E3A2F"/>
            </a:solidFill>
            <a:prstDash val="solid"/>
          </a:ln>
        </p:spPr>
      </p:sp>
      <p:sp>
        <p:nvSpPr>
          <p:cNvPr id="3" name="Shape 1"/>
          <p:cNvSpPr/>
          <p:nvPr/>
        </p:nvSpPr>
        <p:spPr>
          <a:xfrm>
            <a:off x="0" y="0"/>
            <a:ext cx="128016" cy="5143500"/>
          </a:xfrm>
          <a:prstGeom prst="rect">
            <a:avLst/>
          </a:prstGeom>
          <a:solidFill>
            <a:srgbClr val="1E3A2F"/>
          </a:solidFill>
          <a:ln w="12700">
            <a:solidFill>
              <a:srgbClr val="1E3A2F"/>
            </a:solidFill>
            <a:prstDash val="solid"/>
          </a:ln>
        </p:spPr>
      </p:sp>
      <p:pic>
        <p:nvPicPr>
          <p:cNvPr id="4" name="Image 0" descr="/sessions/focused-admiring-fermi/mnt/Mascotas_2026/Programa/logo centro.png">    </p:cNvPr>
          <p:cNvPicPr>
            <a:picLocks noChangeAspect="1"/>
          </p:cNvPicPr>
          <p:nvPr/>
        </p:nvPicPr>
        <p:blipFill>
          <a:blip r:embed="rId1"/>
          <a:stretch>
            <a:fillRect/>
          </a:stretch>
        </p:blipFill>
        <p:spPr>
          <a:xfrm>
            <a:off x="8485632" y="109728"/>
            <a:ext cx="347472" cy="347472"/>
          </a:xfrm>
          <a:prstGeom prst="rect">
            <a:avLst/>
          </a:prstGeom>
        </p:spPr>
      </p:pic>
      <p:sp>
        <p:nvSpPr>
          <p:cNvPr id="5" name="Shape 2"/>
          <p:cNvSpPr/>
          <p:nvPr/>
        </p:nvSpPr>
        <p:spPr>
          <a:xfrm>
            <a:off x="411480" y="256032"/>
            <a:ext cx="868680" cy="274320"/>
          </a:xfrm>
          <a:prstGeom prst="rect">
            <a:avLst/>
          </a:prstGeom>
          <a:solidFill>
            <a:srgbClr val="1E3A2F"/>
          </a:solidFill>
          <a:ln w="12700">
            <a:solidFill>
              <a:srgbClr val="1E3A2F"/>
            </a:solidFill>
            <a:prstDash val="solid"/>
          </a:ln>
        </p:spPr>
      </p:sp>
      <p:sp>
        <p:nvSpPr>
          <p:cNvPr id="6" name="Text 3"/>
          <p:cNvSpPr/>
          <p:nvPr/>
        </p:nvSpPr>
        <p:spPr>
          <a:xfrm>
            <a:off x="411480" y="256032"/>
            <a:ext cx="86868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PASO 5</a:t>
            </a:r>
            <a:endParaRPr lang="en-US" sz="800" dirty="0"/>
          </a:p>
        </p:txBody>
      </p:sp>
      <p:sp>
        <p:nvSpPr>
          <p:cNvPr id="7" name="Text 4"/>
          <p:cNvSpPr/>
          <p:nvPr/>
        </p:nvSpPr>
        <p:spPr>
          <a:xfrm>
            <a:off x="411480" y="658368"/>
            <a:ext cx="8321040" cy="566928"/>
          </a:xfrm>
          <a:prstGeom prst="rect">
            <a:avLst/>
          </a:prstGeom>
          <a:noFill/>
          <a:ln/>
        </p:spPr>
        <p:txBody>
          <a:bodyPr wrap="square" lIns="0" tIns="0" rIns="0" bIns="0" rtlCol="0" anchor="ctr"/>
          <a:lstStyle/>
          <a:p>
            <a:pPr indent="0" marL="0">
              <a:buNone/>
            </a:pPr>
            <a:r>
              <a:rPr lang="en-US" sz="3600" b="1" dirty="0">
                <a:solidFill>
                  <a:srgbClr val="1E3A2F"/>
                </a:solidFill>
                <a:latin typeface="Georgia" pitchFamily="34" charset="0"/>
                <a:ea typeface="Georgia" pitchFamily="34" charset="-122"/>
                <a:cs typeface="Georgia" pitchFamily="34" charset="-120"/>
              </a:rPr>
              <a:t>Cómo Preparar el Frasco</a:t>
            </a:r>
            <a:endParaRPr lang="en-US" sz="3600" dirty="0"/>
          </a:p>
        </p:txBody>
      </p:sp>
      <p:sp>
        <p:nvSpPr>
          <p:cNvPr id="8" name="Shape 5"/>
          <p:cNvSpPr/>
          <p:nvPr/>
        </p:nvSpPr>
        <p:spPr>
          <a:xfrm>
            <a:off x="365760" y="1389888"/>
            <a:ext cx="5394960" cy="3493008"/>
          </a:xfrm>
          <a:prstGeom prst="rect">
            <a:avLst/>
          </a:prstGeom>
          <a:solidFill>
            <a:srgbClr val="1E3A2F"/>
          </a:solidFill>
          <a:ln w="12700">
            <a:solidFill>
              <a:srgbClr val="1E3A2F"/>
            </a:solidFill>
            <a:prstDash val="solid"/>
          </a:ln>
          <a:effectLst>
            <a:outerShdw sx="100000" sy="100000" kx="0" ky="0" algn="bl" rotWithShape="0" blurRad="101600" dist="38100" dir="8100000">
              <a:srgbClr val="000000">
                <a:alpha val="12000"/>
              </a:srgbClr>
            </a:outerShdw>
          </a:effectLst>
        </p:spPr>
      </p:sp>
      <p:sp>
        <p:nvSpPr>
          <p:cNvPr id="9" name="Text 6"/>
          <p:cNvSpPr/>
          <p:nvPr/>
        </p:nvSpPr>
        <p:spPr>
          <a:xfrm>
            <a:off x="566928" y="1517904"/>
            <a:ext cx="4992624" cy="256032"/>
          </a:xfrm>
          <a:prstGeom prst="rect">
            <a:avLst/>
          </a:prstGeom>
          <a:noFill/>
          <a:ln/>
        </p:spPr>
        <p:txBody>
          <a:bodyPr wrap="square" lIns="0" tIns="0" rIns="0" bIns="0" rtlCol="0" anchor="ctr"/>
          <a:lstStyle/>
          <a:p>
            <a:pPr indent="0" marL="0">
              <a:buNone/>
            </a:pPr>
            <a:r>
              <a:rPr lang="en-US" sz="900" b="1" spc="150" kern="0" dirty="0">
                <a:solidFill>
                  <a:srgbClr val="C9A85C"/>
                </a:solidFill>
                <a:latin typeface="Calibri" pitchFamily="34" charset="0"/>
                <a:ea typeface="Calibri" pitchFamily="34" charset="-122"/>
                <a:cs typeface="Calibri" pitchFamily="34" charset="-120"/>
              </a:rPr>
              <a:t>EL FRASCO DE TRATAMIENTO</a:t>
            </a:r>
            <a:endParaRPr lang="en-US" sz="900" dirty="0"/>
          </a:p>
        </p:txBody>
      </p:sp>
      <p:sp>
        <p:nvSpPr>
          <p:cNvPr id="10" name="Shape 7"/>
          <p:cNvSpPr/>
          <p:nvPr/>
        </p:nvSpPr>
        <p:spPr>
          <a:xfrm>
            <a:off x="566928" y="1993392"/>
            <a:ext cx="219456" cy="219456"/>
          </a:xfrm>
          <a:prstGeom prst="rect">
            <a:avLst/>
          </a:prstGeom>
          <a:solidFill>
            <a:srgbClr val="C9A85C"/>
          </a:solidFill>
          <a:ln w="12700">
            <a:solidFill>
              <a:srgbClr val="C9A85C"/>
            </a:solidFill>
            <a:prstDash val="solid"/>
          </a:ln>
        </p:spPr>
      </p:sp>
      <p:sp>
        <p:nvSpPr>
          <p:cNvPr id="11" name="Text 8"/>
          <p:cNvSpPr/>
          <p:nvPr/>
        </p:nvSpPr>
        <p:spPr>
          <a:xfrm>
            <a:off x="932688" y="1920240"/>
            <a:ext cx="4553712" cy="402336"/>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Frasco de vidrio color ámbar con gotero</a:t>
            </a:r>
            <a:endParaRPr lang="en-US" sz="1400" dirty="0"/>
          </a:p>
        </p:txBody>
      </p:sp>
      <p:sp>
        <p:nvSpPr>
          <p:cNvPr id="12" name="Shape 9"/>
          <p:cNvSpPr/>
          <p:nvPr/>
        </p:nvSpPr>
        <p:spPr>
          <a:xfrm>
            <a:off x="566928" y="2468880"/>
            <a:ext cx="219456" cy="219456"/>
          </a:xfrm>
          <a:prstGeom prst="rect">
            <a:avLst/>
          </a:prstGeom>
          <a:solidFill>
            <a:srgbClr val="C9A85C"/>
          </a:solidFill>
          <a:ln w="12700">
            <a:solidFill>
              <a:srgbClr val="C9A85C"/>
            </a:solidFill>
            <a:prstDash val="solid"/>
          </a:ln>
        </p:spPr>
      </p:sp>
      <p:sp>
        <p:nvSpPr>
          <p:cNvPr id="13" name="Text 10"/>
          <p:cNvSpPr/>
          <p:nvPr/>
        </p:nvSpPr>
        <p:spPr>
          <a:xfrm>
            <a:off x="932688" y="2395728"/>
            <a:ext cx="4553712" cy="402336"/>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5 ml de plata coloidal (fondo)</a:t>
            </a:r>
            <a:endParaRPr lang="en-US" sz="1400" dirty="0"/>
          </a:p>
        </p:txBody>
      </p:sp>
      <p:sp>
        <p:nvSpPr>
          <p:cNvPr id="14" name="Shape 11"/>
          <p:cNvSpPr/>
          <p:nvPr/>
        </p:nvSpPr>
        <p:spPr>
          <a:xfrm>
            <a:off x="566928" y="2944368"/>
            <a:ext cx="219456" cy="219456"/>
          </a:xfrm>
          <a:prstGeom prst="rect">
            <a:avLst/>
          </a:prstGeom>
          <a:solidFill>
            <a:srgbClr val="C9A85C"/>
          </a:solidFill>
          <a:ln w="12700">
            <a:solidFill>
              <a:srgbClr val="C9A85C"/>
            </a:solidFill>
            <a:prstDash val="solid"/>
          </a:ln>
        </p:spPr>
      </p:sp>
      <p:sp>
        <p:nvSpPr>
          <p:cNvPr id="15" name="Text 12"/>
          <p:cNvSpPr/>
          <p:nvPr/>
        </p:nvSpPr>
        <p:spPr>
          <a:xfrm>
            <a:off x="932688" y="2871216"/>
            <a:ext cx="4553712" cy="402336"/>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2 gotas de cada esencia — máximo 7 flores</a:t>
            </a:r>
            <a:endParaRPr lang="en-US" sz="1400" dirty="0"/>
          </a:p>
        </p:txBody>
      </p:sp>
      <p:sp>
        <p:nvSpPr>
          <p:cNvPr id="16" name="Shape 13"/>
          <p:cNvSpPr/>
          <p:nvPr/>
        </p:nvSpPr>
        <p:spPr>
          <a:xfrm>
            <a:off x="566928" y="3419856"/>
            <a:ext cx="219456" cy="219456"/>
          </a:xfrm>
          <a:prstGeom prst="rect">
            <a:avLst/>
          </a:prstGeom>
          <a:solidFill>
            <a:srgbClr val="C9A85C"/>
          </a:solidFill>
          <a:ln w="12700">
            <a:solidFill>
              <a:srgbClr val="C9A85C"/>
            </a:solidFill>
            <a:prstDash val="solid"/>
          </a:ln>
        </p:spPr>
      </p:sp>
      <p:sp>
        <p:nvSpPr>
          <p:cNvPr id="17" name="Text 14"/>
          <p:cNvSpPr/>
          <p:nvPr/>
        </p:nvSpPr>
        <p:spPr>
          <a:xfrm>
            <a:off x="932688" y="3346704"/>
            <a:ext cx="4553712" cy="402336"/>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Completar con agua de manantial</a:t>
            </a:r>
            <a:endParaRPr lang="en-US" sz="1400" dirty="0"/>
          </a:p>
        </p:txBody>
      </p:sp>
      <p:sp>
        <p:nvSpPr>
          <p:cNvPr id="18" name="Shape 15"/>
          <p:cNvSpPr/>
          <p:nvPr/>
        </p:nvSpPr>
        <p:spPr>
          <a:xfrm>
            <a:off x="566928" y="3877056"/>
            <a:ext cx="4992624" cy="36576"/>
          </a:xfrm>
          <a:prstGeom prst="rect">
            <a:avLst/>
          </a:prstGeom>
          <a:solidFill>
            <a:srgbClr val="6B9E78"/>
          </a:solidFill>
          <a:ln w="12700">
            <a:solidFill>
              <a:srgbClr val="6B9E78"/>
            </a:solidFill>
            <a:prstDash val="solid"/>
          </a:ln>
        </p:spPr>
      </p:sp>
      <p:sp>
        <p:nvSpPr>
          <p:cNvPr id="19" name="Text 16"/>
          <p:cNvSpPr/>
          <p:nvPr/>
        </p:nvSpPr>
        <p:spPr>
          <a:xfrm>
            <a:off x="566928" y="3968496"/>
            <a:ext cx="4992624" cy="658368"/>
          </a:xfrm>
          <a:prstGeom prst="rect">
            <a:avLst/>
          </a:prstGeom>
          <a:noFill/>
          <a:ln/>
        </p:spPr>
        <p:txBody>
          <a:bodyPr wrap="square" lIns="0" tIns="0" rIns="0" bIns="0" rtlCol="0" anchor="ctr"/>
          <a:lstStyle/>
          <a:p>
            <a:pPr indent="0" marL="0">
              <a:buNone/>
            </a:pPr>
            <a:r>
              <a:rPr lang="en-US" sz="1100" i="1" dirty="0">
                <a:solidFill>
                  <a:srgbClr val="A8D5BA"/>
                </a:solidFill>
                <a:latin typeface="Calibri" pitchFamily="34" charset="0"/>
                <a:ea typeface="Calibri" pitchFamily="34" charset="-122"/>
                <a:cs typeface="Calibri" pitchFamily="34" charset="-120"/>
              </a:rPr>
              <a:t>Sin plata coloidal: solo agua de manantial — cambiar el frasco cada 2 semanas en lugar de un mes.</a:t>
            </a:r>
            <a:endParaRPr lang="en-US" sz="1100" dirty="0"/>
          </a:p>
        </p:txBody>
      </p:sp>
      <p:sp>
        <p:nvSpPr>
          <p:cNvPr id="20" name="Shape 17"/>
          <p:cNvSpPr/>
          <p:nvPr/>
        </p:nvSpPr>
        <p:spPr>
          <a:xfrm>
            <a:off x="6035040" y="1389888"/>
            <a:ext cx="2834640" cy="1627632"/>
          </a:xfrm>
          <a:prstGeom prst="rect">
            <a:avLst/>
          </a:prstGeom>
          <a:solidFill>
            <a:srgbClr val="6B9E78"/>
          </a:solidFill>
          <a:ln w="12700">
            <a:solidFill>
              <a:srgbClr val="6B9E78"/>
            </a:solidFill>
            <a:prstDash val="solid"/>
          </a:ln>
          <a:effectLst>
            <a:outerShdw sx="100000" sy="100000" kx="0" ky="0" algn="bl" rotWithShape="0" blurRad="101600" dist="38100" dir="8100000">
              <a:srgbClr val="000000">
                <a:alpha val="12000"/>
              </a:srgbClr>
            </a:outerShdw>
          </a:effectLst>
        </p:spPr>
      </p:sp>
      <p:sp>
        <p:nvSpPr>
          <p:cNvPr id="21" name="Text 18"/>
          <p:cNvSpPr/>
          <p:nvPr/>
        </p:nvSpPr>
        <p:spPr>
          <a:xfrm>
            <a:off x="6236208" y="1499616"/>
            <a:ext cx="2432304" cy="256032"/>
          </a:xfrm>
          <a:prstGeom prst="rect">
            <a:avLst/>
          </a:prstGeom>
          <a:noFill/>
          <a:ln/>
        </p:spPr>
        <p:txBody>
          <a:bodyPr wrap="square" lIns="0" tIns="0" rIns="0" bIns="0" rtlCol="0" anchor="ctr"/>
          <a:lstStyle/>
          <a:p>
            <a:pPr indent="0" marL="0">
              <a:buNone/>
            </a:pPr>
            <a:r>
              <a:rPr lang="en-US" sz="900" b="1" spc="150" kern="0" dirty="0">
                <a:solidFill>
                  <a:srgbClr val="1E3A2F"/>
                </a:solidFill>
                <a:latin typeface="Calibri" pitchFamily="34" charset="0"/>
                <a:ea typeface="Calibri" pitchFamily="34" charset="-122"/>
                <a:cs typeface="Calibri" pitchFamily="34" charset="-120"/>
              </a:rPr>
              <a:t>FRECUENCIA</a:t>
            </a:r>
            <a:endParaRPr lang="en-US" sz="900" dirty="0"/>
          </a:p>
        </p:txBody>
      </p:sp>
      <p:sp>
        <p:nvSpPr>
          <p:cNvPr id="22" name="Text 19"/>
          <p:cNvSpPr/>
          <p:nvPr/>
        </p:nvSpPr>
        <p:spPr>
          <a:xfrm>
            <a:off x="6236208" y="1828800"/>
            <a:ext cx="2432304" cy="621792"/>
          </a:xfrm>
          <a:prstGeom prst="rect">
            <a:avLst/>
          </a:prstGeom>
          <a:noFill/>
          <a:ln/>
        </p:spPr>
        <p:txBody>
          <a:bodyPr wrap="square" lIns="0" tIns="0" rIns="0" bIns="0" rtlCol="0" anchor="ctr"/>
          <a:lstStyle/>
          <a:p>
            <a:pPr indent="0" marL="0">
              <a:buNone/>
            </a:pPr>
            <a:r>
              <a:rPr lang="en-US" sz="1400" b="1" dirty="0">
                <a:solidFill>
                  <a:srgbClr val="1E3A2F"/>
                </a:solidFill>
                <a:latin typeface="Georgia" pitchFamily="34" charset="0"/>
                <a:ea typeface="Georgia" pitchFamily="34" charset="-122"/>
                <a:cs typeface="Georgia" pitchFamily="34" charset="-120"/>
              </a:rPr>
              <a:t>4 gotas  ·  4 veces al día</a:t>
            </a:r>
            <a:endParaRPr lang="en-US" sz="1400" dirty="0"/>
          </a:p>
          <a:p>
            <a:pPr indent="0" marL="0">
              <a:buNone/>
            </a:pPr>
            <a:r>
              <a:rPr lang="en-US" sz="1400" b="1" dirty="0">
                <a:solidFill>
                  <a:srgbClr val="1E3A2F"/>
                </a:solidFill>
                <a:latin typeface="Georgia" pitchFamily="34" charset="0"/>
                <a:ea typeface="Georgia" pitchFamily="34" charset="-122"/>
                <a:cs typeface="Georgia" pitchFamily="34" charset="-120"/>
              </a:rPr>
              <a:t>Duración: ~1 mes</a:t>
            </a:r>
            <a:endParaRPr lang="en-US" sz="1400" dirty="0"/>
          </a:p>
        </p:txBody>
      </p:sp>
      <p:sp>
        <p:nvSpPr>
          <p:cNvPr id="23" name="Text 20"/>
          <p:cNvSpPr/>
          <p:nvPr/>
        </p:nvSpPr>
        <p:spPr>
          <a:xfrm>
            <a:off x="6236208" y="2523744"/>
            <a:ext cx="2432304" cy="292608"/>
          </a:xfrm>
          <a:prstGeom prst="rect">
            <a:avLst/>
          </a:prstGeom>
          <a:noFill/>
          <a:ln/>
        </p:spPr>
        <p:txBody>
          <a:bodyPr wrap="square" lIns="0" tIns="0" rIns="0" bIns="0" rtlCol="0" anchor="ctr"/>
          <a:lstStyle/>
          <a:p>
            <a:pPr indent="0" marL="0">
              <a:buNone/>
            </a:pPr>
            <a:r>
              <a:rPr lang="en-US" sz="1200" i="1" dirty="0">
                <a:solidFill>
                  <a:srgbClr val="1E3A2F"/>
                </a:solidFill>
                <a:latin typeface="Calibri" pitchFamily="34" charset="0"/>
                <a:ea typeface="Calibri" pitchFamily="34" charset="-122"/>
                <a:cs typeface="Calibri" pitchFamily="34" charset="-120"/>
              </a:rPr>
              <a:t>En crisis: cada 15 min.</a:t>
            </a:r>
            <a:endParaRPr lang="en-US" sz="1200" dirty="0"/>
          </a:p>
        </p:txBody>
      </p:sp>
      <p:sp>
        <p:nvSpPr>
          <p:cNvPr id="24" name="Shape 21"/>
          <p:cNvSpPr/>
          <p:nvPr/>
        </p:nvSpPr>
        <p:spPr>
          <a:xfrm>
            <a:off x="6035040" y="3163824"/>
            <a:ext cx="2834640" cy="1719072"/>
          </a:xfrm>
          <a:prstGeom prst="rect">
            <a:avLst/>
          </a:prstGeom>
          <a:solidFill>
            <a:srgbClr val="EDE5D8"/>
          </a:solidFill>
          <a:ln w="12700">
            <a:solidFill>
              <a:srgbClr val="E0D8CE"/>
            </a:solidFill>
            <a:prstDash val="solid"/>
          </a:ln>
          <a:effectLst>
            <a:outerShdw sx="100000" sy="100000" kx="0" ky="0" algn="bl" rotWithShape="0" blurRad="101600" dist="38100" dir="8100000">
              <a:srgbClr val="000000">
                <a:alpha val="12000"/>
              </a:srgbClr>
            </a:outerShdw>
          </a:effectLst>
        </p:spPr>
      </p:sp>
      <p:sp>
        <p:nvSpPr>
          <p:cNvPr id="25" name="Text 22"/>
          <p:cNvSpPr/>
          <p:nvPr/>
        </p:nvSpPr>
        <p:spPr>
          <a:xfrm>
            <a:off x="6236208" y="3273552"/>
            <a:ext cx="2432304" cy="256032"/>
          </a:xfrm>
          <a:prstGeom prst="rect">
            <a:avLst/>
          </a:prstGeom>
          <a:noFill/>
          <a:ln/>
        </p:spPr>
        <p:txBody>
          <a:bodyPr wrap="square" lIns="0" tIns="0" rIns="0" bIns="0" rtlCol="0" anchor="ctr"/>
          <a:lstStyle/>
          <a:p>
            <a:pPr indent="0" marL="0">
              <a:buNone/>
            </a:pPr>
            <a:r>
              <a:rPr lang="en-US" sz="900" b="1" spc="150" kern="0" dirty="0">
                <a:solidFill>
                  <a:srgbClr val="4A6355"/>
                </a:solidFill>
                <a:latin typeface="Calibri" pitchFamily="34" charset="0"/>
                <a:ea typeface="Calibri" pitchFamily="34" charset="-122"/>
                <a:cs typeface="Calibri" pitchFamily="34" charset="-120"/>
              </a:rPr>
              <a:t>VÍAS</a:t>
            </a:r>
            <a:endParaRPr lang="en-US" sz="900" dirty="0"/>
          </a:p>
        </p:txBody>
      </p:sp>
      <p:sp>
        <p:nvSpPr>
          <p:cNvPr id="26" name="Text 23"/>
          <p:cNvSpPr/>
          <p:nvPr/>
        </p:nvSpPr>
        <p:spPr>
          <a:xfrm>
            <a:off x="6236208" y="3621024"/>
            <a:ext cx="2432304" cy="1115568"/>
          </a:xfrm>
          <a:prstGeom prst="rect">
            <a:avLst/>
          </a:prstGeom>
          <a:noFill/>
          <a:ln/>
        </p:spPr>
        <p:txBody>
          <a:bodyPr wrap="square" lIns="0" tIns="0" rIns="0" bIns="0" rtlCol="0" anchor="ctr"/>
          <a:lstStyle/>
          <a:p>
            <a:pPr indent="0" marL="0">
              <a:buNone/>
            </a:pPr>
            <a:r>
              <a:rPr lang="en-US" sz="1200" dirty="0">
                <a:solidFill>
                  <a:srgbClr val="1E3A2F"/>
                </a:solidFill>
                <a:latin typeface="Calibri" pitchFamily="34" charset="0"/>
                <a:ea typeface="Calibri" pitchFamily="34" charset="-122"/>
                <a:cs typeface="Calibri" pitchFamily="34" charset="-120"/>
              </a:rPr>
              <a:t>Oral: boca, encías, nariz</a:t>
            </a:r>
            <a:endParaRPr lang="en-US" sz="1200" dirty="0"/>
          </a:p>
          <a:p>
            <a:pPr indent="0" marL="0">
              <a:buNone/>
            </a:pPr>
            <a:r>
              <a:rPr lang="en-US" sz="1200" dirty="0">
                <a:solidFill>
                  <a:srgbClr val="1E3A2F"/>
                </a:solidFill>
                <a:latin typeface="Calibri" pitchFamily="34" charset="0"/>
                <a:ea typeface="Calibri" pitchFamily="34" charset="-122"/>
                <a:cs typeface="Calibri" pitchFamily="34" charset="-120"/>
              </a:rPr>
              <a:t>En el agua de beber</a:t>
            </a:r>
            <a:endParaRPr lang="en-US" sz="1200" dirty="0"/>
          </a:p>
          <a:p>
            <a:pPr indent="0" marL="0">
              <a:buNone/>
            </a:pPr>
            <a:r>
              <a:rPr lang="en-US" sz="1200" dirty="0">
                <a:solidFill>
                  <a:srgbClr val="1E3A2F"/>
                </a:solidFill>
                <a:latin typeface="Calibri" pitchFamily="34" charset="0"/>
                <a:ea typeface="Calibri" pitchFamily="34" charset="-122"/>
                <a:cs typeface="Calibri" pitchFamily="34" charset="-120"/>
              </a:rPr>
              <a:t>Tópica: orejas, almohadillas</a:t>
            </a:r>
            <a:endParaRPr lang="en-US" sz="1200" dirty="0"/>
          </a:p>
          <a:p>
            <a:pPr indent="0" marL="0">
              <a:buNone/>
            </a:pPr>
            <a:r>
              <a:rPr lang="en-US" sz="1200" dirty="0">
                <a:solidFill>
                  <a:srgbClr val="1E3A2F"/>
                </a:solidFill>
                <a:latin typeface="Calibri" pitchFamily="34" charset="0"/>
                <a:ea typeface="Calibri" pitchFamily="34" charset="-122"/>
                <a:cs typeface="Calibri" pitchFamily="34" charset="-120"/>
              </a:rPr>
              <a:t>Aspersión ambiental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3A2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5C"/>
          </a:solidFill>
          <a:ln w="12700">
            <a:solidFill>
              <a:srgbClr val="C9A85C"/>
            </a:solidFill>
            <a:prstDash val="solid"/>
          </a:ln>
        </p:spPr>
      </p:sp>
      <p:sp>
        <p:nvSpPr>
          <p:cNvPr id="3" name="Shape 1"/>
          <p:cNvSpPr/>
          <p:nvPr/>
        </p:nvSpPr>
        <p:spPr>
          <a:xfrm>
            <a:off x="0" y="0"/>
            <a:ext cx="128016" cy="5143500"/>
          </a:xfrm>
          <a:prstGeom prst="rect">
            <a:avLst/>
          </a:prstGeom>
          <a:solidFill>
            <a:srgbClr val="C9A85C"/>
          </a:solidFill>
          <a:ln w="12700">
            <a:solidFill>
              <a:srgbClr val="C9A85C"/>
            </a:solidFill>
            <a:prstDash val="solid"/>
          </a:ln>
        </p:spPr>
      </p:sp>
      <p:pic>
        <p:nvPicPr>
          <p:cNvPr id="4" name="Image 0" descr="/sessions/focused-admiring-fermi/mnt/Mascotas_2026/Programa/logo centro.png">    </p:cNvPr>
          <p:cNvPicPr>
            <a:picLocks noChangeAspect="1"/>
          </p:cNvPicPr>
          <p:nvPr/>
        </p:nvPicPr>
        <p:blipFill>
          <a:blip r:embed="rId1"/>
          <a:stretch>
            <a:fillRect/>
          </a:stretch>
        </p:blipFill>
        <p:spPr>
          <a:xfrm>
            <a:off x="8485632" y="109728"/>
            <a:ext cx="347472" cy="347472"/>
          </a:xfrm>
          <a:prstGeom prst="rect">
            <a:avLst/>
          </a:prstGeom>
        </p:spPr>
      </p:pic>
      <p:sp>
        <p:nvSpPr>
          <p:cNvPr id="5" name="Shape 2"/>
          <p:cNvSpPr/>
          <p:nvPr/>
        </p:nvSpPr>
        <p:spPr>
          <a:xfrm>
            <a:off x="411480" y="256032"/>
            <a:ext cx="868680" cy="274320"/>
          </a:xfrm>
          <a:prstGeom prst="rect">
            <a:avLst/>
          </a:prstGeom>
          <a:solidFill>
            <a:srgbClr val="6B9E78"/>
          </a:solidFill>
          <a:ln w="12700">
            <a:solidFill>
              <a:srgbClr val="6B9E78"/>
            </a:solidFill>
            <a:prstDash val="solid"/>
          </a:ln>
        </p:spPr>
      </p:sp>
      <p:sp>
        <p:nvSpPr>
          <p:cNvPr id="6" name="Text 3"/>
          <p:cNvSpPr/>
          <p:nvPr/>
        </p:nvSpPr>
        <p:spPr>
          <a:xfrm>
            <a:off x="411480" y="256032"/>
            <a:ext cx="86868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PASO 6</a:t>
            </a:r>
            <a:endParaRPr lang="en-US" sz="800" dirty="0"/>
          </a:p>
        </p:txBody>
      </p:sp>
      <p:sp>
        <p:nvSpPr>
          <p:cNvPr id="7" name="Text 4"/>
          <p:cNvSpPr/>
          <p:nvPr/>
        </p:nvSpPr>
        <p:spPr>
          <a:xfrm>
            <a:off x="411480" y="658368"/>
            <a:ext cx="8321040" cy="566928"/>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Ejercicio: Primera Fórmula</a:t>
            </a:r>
            <a:endParaRPr lang="en-US" sz="3600" dirty="0"/>
          </a:p>
        </p:txBody>
      </p:sp>
      <p:sp>
        <p:nvSpPr>
          <p:cNvPr id="8" name="Text 5"/>
          <p:cNvSpPr/>
          <p:nvPr/>
        </p:nvSpPr>
        <p:spPr>
          <a:xfrm>
            <a:off x="411480" y="1298448"/>
            <a:ext cx="7772400" cy="329184"/>
          </a:xfrm>
          <a:prstGeom prst="rect">
            <a:avLst/>
          </a:prstGeom>
          <a:noFill/>
          <a:ln/>
        </p:spPr>
        <p:txBody>
          <a:bodyPr wrap="square" lIns="0" tIns="0" rIns="0" bIns="0" rtlCol="0" anchor="ctr"/>
          <a:lstStyle/>
          <a:p>
            <a:pPr indent="0" marL="0">
              <a:buNone/>
            </a:pPr>
            <a:r>
              <a:rPr lang="en-US" sz="1300" i="1" dirty="0">
                <a:solidFill>
                  <a:srgbClr val="A8D5BA"/>
                </a:solidFill>
                <a:latin typeface="Calibri" pitchFamily="34" charset="0"/>
                <a:ea typeface="Calibri" pitchFamily="34" charset="-122"/>
                <a:cs typeface="Calibri" pitchFamily="34" charset="-120"/>
              </a:rPr>
              <a:t>Con la foto de tu animal frente a ti y la tabla de las 7 flores:</a:t>
            </a:r>
            <a:endParaRPr lang="en-US" sz="1300" dirty="0"/>
          </a:p>
        </p:txBody>
      </p:sp>
      <p:sp>
        <p:nvSpPr>
          <p:cNvPr id="9" name="Shape 6"/>
          <p:cNvSpPr/>
          <p:nvPr/>
        </p:nvSpPr>
        <p:spPr>
          <a:xfrm>
            <a:off x="365760" y="1792224"/>
            <a:ext cx="8412480" cy="822960"/>
          </a:xfrm>
          <a:prstGeom prst="rect">
            <a:avLst/>
          </a:prstGeom>
          <a:solidFill>
            <a:srgbClr val="2A5040"/>
          </a:solidFill>
          <a:ln w="12700">
            <a:solidFill>
              <a:srgbClr val="2A5040"/>
            </a:solidFill>
            <a:prstDash val="solid"/>
          </a:ln>
          <a:effectLst>
            <a:outerShdw sx="100000" sy="100000" kx="0" ky="0" algn="bl" rotWithShape="0" blurRad="101600" dist="38100" dir="8100000">
              <a:srgbClr val="000000">
                <a:alpha val="12000"/>
              </a:srgbClr>
            </a:outerShdw>
          </a:effectLst>
        </p:spPr>
      </p:sp>
      <p:sp>
        <p:nvSpPr>
          <p:cNvPr id="10" name="Shape 7"/>
          <p:cNvSpPr/>
          <p:nvPr/>
        </p:nvSpPr>
        <p:spPr>
          <a:xfrm>
            <a:off x="365760" y="1792224"/>
            <a:ext cx="475488" cy="822960"/>
          </a:xfrm>
          <a:prstGeom prst="rect">
            <a:avLst/>
          </a:prstGeom>
          <a:solidFill>
            <a:srgbClr val="C9A85C"/>
          </a:solidFill>
          <a:ln w="12700">
            <a:solidFill>
              <a:srgbClr val="C9A85C"/>
            </a:solidFill>
            <a:prstDash val="solid"/>
          </a:ln>
        </p:spPr>
      </p:sp>
      <p:sp>
        <p:nvSpPr>
          <p:cNvPr id="11" name="Text 8"/>
          <p:cNvSpPr/>
          <p:nvPr/>
        </p:nvSpPr>
        <p:spPr>
          <a:xfrm>
            <a:off x="365760" y="1792224"/>
            <a:ext cx="475488" cy="822960"/>
          </a:xfrm>
          <a:prstGeom prst="rect">
            <a:avLst/>
          </a:prstGeom>
          <a:noFill/>
          <a:ln/>
        </p:spPr>
        <p:txBody>
          <a:bodyPr wrap="square" lIns="0" tIns="0" rIns="0" bIns="0" rtlCol="0" anchor="ctr"/>
          <a:lstStyle/>
          <a:p>
            <a:pPr algn="ctr" indent="0" marL="0">
              <a:buNone/>
            </a:pPr>
            <a:r>
              <a:rPr lang="en-US" sz="1700" b="1" dirty="0">
                <a:solidFill>
                  <a:srgbClr val="1E3A2F"/>
                </a:solidFill>
                <a:latin typeface="Georgia" pitchFamily="34" charset="0"/>
                <a:ea typeface="Georgia" pitchFamily="34" charset="-122"/>
                <a:cs typeface="Georgia" pitchFamily="34" charset="-120"/>
              </a:rPr>
              <a:t>1</a:t>
            </a:r>
            <a:endParaRPr lang="en-US" sz="1700" dirty="0"/>
          </a:p>
        </p:txBody>
      </p:sp>
      <p:sp>
        <p:nvSpPr>
          <p:cNvPr id="12" name="Text 9"/>
          <p:cNvSpPr/>
          <p:nvPr/>
        </p:nvSpPr>
        <p:spPr>
          <a:xfrm>
            <a:off x="969264" y="1865376"/>
            <a:ext cx="7589520" cy="676656"/>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¿Cuál es el estado o síntoma que más te preocupa de tu mascota ahora mismo?</a:t>
            </a:r>
            <a:endParaRPr lang="en-US" sz="1400" dirty="0"/>
          </a:p>
        </p:txBody>
      </p:sp>
      <p:sp>
        <p:nvSpPr>
          <p:cNvPr id="13" name="Shape 10"/>
          <p:cNvSpPr/>
          <p:nvPr/>
        </p:nvSpPr>
        <p:spPr>
          <a:xfrm>
            <a:off x="365760" y="2743200"/>
            <a:ext cx="8412480" cy="822960"/>
          </a:xfrm>
          <a:prstGeom prst="rect">
            <a:avLst/>
          </a:prstGeom>
          <a:solidFill>
            <a:srgbClr val="2A5040"/>
          </a:solidFill>
          <a:ln w="12700">
            <a:solidFill>
              <a:srgbClr val="2A5040"/>
            </a:solidFill>
            <a:prstDash val="solid"/>
          </a:ln>
          <a:effectLst>
            <a:outerShdw sx="100000" sy="100000" kx="0" ky="0" algn="bl" rotWithShape="0" blurRad="101600" dist="38100" dir="8100000">
              <a:srgbClr val="000000">
                <a:alpha val="12000"/>
              </a:srgbClr>
            </a:outerShdw>
          </a:effectLst>
        </p:spPr>
      </p:sp>
      <p:sp>
        <p:nvSpPr>
          <p:cNvPr id="14" name="Shape 11"/>
          <p:cNvSpPr/>
          <p:nvPr/>
        </p:nvSpPr>
        <p:spPr>
          <a:xfrm>
            <a:off x="365760" y="2743200"/>
            <a:ext cx="475488" cy="822960"/>
          </a:xfrm>
          <a:prstGeom prst="rect">
            <a:avLst/>
          </a:prstGeom>
          <a:solidFill>
            <a:srgbClr val="C9A85C"/>
          </a:solidFill>
          <a:ln w="12700">
            <a:solidFill>
              <a:srgbClr val="C9A85C"/>
            </a:solidFill>
            <a:prstDash val="solid"/>
          </a:ln>
        </p:spPr>
      </p:sp>
      <p:sp>
        <p:nvSpPr>
          <p:cNvPr id="15" name="Text 12"/>
          <p:cNvSpPr/>
          <p:nvPr/>
        </p:nvSpPr>
        <p:spPr>
          <a:xfrm>
            <a:off x="365760" y="2743200"/>
            <a:ext cx="475488" cy="822960"/>
          </a:xfrm>
          <a:prstGeom prst="rect">
            <a:avLst/>
          </a:prstGeom>
          <a:noFill/>
          <a:ln/>
        </p:spPr>
        <p:txBody>
          <a:bodyPr wrap="square" lIns="0" tIns="0" rIns="0" bIns="0" rtlCol="0" anchor="ctr"/>
          <a:lstStyle/>
          <a:p>
            <a:pPr algn="ctr" indent="0" marL="0">
              <a:buNone/>
            </a:pPr>
            <a:r>
              <a:rPr lang="en-US" sz="1700" b="1" dirty="0">
                <a:solidFill>
                  <a:srgbClr val="1E3A2F"/>
                </a:solidFill>
                <a:latin typeface="Georgia" pitchFamily="34" charset="0"/>
                <a:ea typeface="Georgia" pitchFamily="34" charset="-122"/>
                <a:cs typeface="Georgia" pitchFamily="34" charset="-120"/>
              </a:rPr>
              <a:t>2</a:t>
            </a:r>
            <a:endParaRPr lang="en-US" sz="1700" dirty="0"/>
          </a:p>
        </p:txBody>
      </p:sp>
      <p:sp>
        <p:nvSpPr>
          <p:cNvPr id="16" name="Text 13"/>
          <p:cNvSpPr/>
          <p:nvPr/>
        </p:nvSpPr>
        <p:spPr>
          <a:xfrm>
            <a:off x="969264" y="2816352"/>
            <a:ext cx="7589520" cy="676656"/>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¿Cuál de las 7 flores te parece más cercana? Puede ser una, dos o tres.</a:t>
            </a:r>
            <a:endParaRPr lang="en-US" sz="1400" dirty="0"/>
          </a:p>
        </p:txBody>
      </p:sp>
      <p:sp>
        <p:nvSpPr>
          <p:cNvPr id="17" name="Shape 14"/>
          <p:cNvSpPr/>
          <p:nvPr/>
        </p:nvSpPr>
        <p:spPr>
          <a:xfrm>
            <a:off x="365760" y="3694176"/>
            <a:ext cx="8412480" cy="822960"/>
          </a:xfrm>
          <a:prstGeom prst="rect">
            <a:avLst/>
          </a:prstGeom>
          <a:solidFill>
            <a:srgbClr val="2A5040"/>
          </a:solidFill>
          <a:ln w="12700">
            <a:solidFill>
              <a:srgbClr val="2A5040"/>
            </a:solidFill>
            <a:prstDash val="solid"/>
          </a:ln>
          <a:effectLst>
            <a:outerShdw sx="100000" sy="100000" kx="0" ky="0" algn="bl" rotWithShape="0" blurRad="101600" dist="38100" dir="8100000">
              <a:srgbClr val="000000">
                <a:alpha val="12000"/>
              </a:srgbClr>
            </a:outerShdw>
          </a:effectLst>
        </p:spPr>
      </p:sp>
      <p:sp>
        <p:nvSpPr>
          <p:cNvPr id="18" name="Shape 15"/>
          <p:cNvSpPr/>
          <p:nvPr/>
        </p:nvSpPr>
        <p:spPr>
          <a:xfrm>
            <a:off x="365760" y="3694176"/>
            <a:ext cx="475488" cy="822960"/>
          </a:xfrm>
          <a:prstGeom prst="rect">
            <a:avLst/>
          </a:prstGeom>
          <a:solidFill>
            <a:srgbClr val="C9A85C"/>
          </a:solidFill>
          <a:ln w="12700">
            <a:solidFill>
              <a:srgbClr val="C9A85C"/>
            </a:solidFill>
            <a:prstDash val="solid"/>
          </a:ln>
        </p:spPr>
      </p:sp>
      <p:sp>
        <p:nvSpPr>
          <p:cNvPr id="19" name="Text 16"/>
          <p:cNvSpPr/>
          <p:nvPr/>
        </p:nvSpPr>
        <p:spPr>
          <a:xfrm>
            <a:off x="365760" y="3694176"/>
            <a:ext cx="475488" cy="822960"/>
          </a:xfrm>
          <a:prstGeom prst="rect">
            <a:avLst/>
          </a:prstGeom>
          <a:noFill/>
          <a:ln/>
        </p:spPr>
        <p:txBody>
          <a:bodyPr wrap="square" lIns="0" tIns="0" rIns="0" bIns="0" rtlCol="0" anchor="ctr"/>
          <a:lstStyle/>
          <a:p>
            <a:pPr algn="ctr" indent="0" marL="0">
              <a:buNone/>
            </a:pPr>
            <a:r>
              <a:rPr lang="en-US" sz="1700" b="1" dirty="0">
                <a:solidFill>
                  <a:srgbClr val="1E3A2F"/>
                </a:solidFill>
                <a:latin typeface="Georgia" pitchFamily="34" charset="0"/>
                <a:ea typeface="Georgia" pitchFamily="34" charset="-122"/>
                <a:cs typeface="Georgia" pitchFamily="34" charset="-120"/>
              </a:rPr>
              <a:t>3</a:t>
            </a:r>
            <a:endParaRPr lang="en-US" sz="1700" dirty="0"/>
          </a:p>
        </p:txBody>
      </p:sp>
      <p:sp>
        <p:nvSpPr>
          <p:cNvPr id="20" name="Text 17"/>
          <p:cNvSpPr/>
          <p:nvPr/>
        </p:nvSpPr>
        <p:spPr>
          <a:xfrm>
            <a:off x="969264" y="3767328"/>
            <a:ext cx="7589520" cy="676656"/>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¿Hay algo en tu propia vida que resuene con esa elección?</a:t>
            </a:r>
            <a:endParaRPr lang="en-US" sz="1400" dirty="0"/>
          </a:p>
        </p:txBody>
      </p:sp>
      <p:sp>
        <p:nvSpPr>
          <p:cNvPr id="21" name="Shape 18"/>
          <p:cNvSpPr/>
          <p:nvPr/>
        </p:nvSpPr>
        <p:spPr>
          <a:xfrm>
            <a:off x="365760" y="4681728"/>
            <a:ext cx="8412480" cy="36576"/>
          </a:xfrm>
          <a:prstGeom prst="rect">
            <a:avLst/>
          </a:prstGeom>
          <a:solidFill>
            <a:srgbClr val="6B9E78"/>
          </a:solidFill>
          <a:ln w="12700">
            <a:solidFill>
              <a:srgbClr val="6B9E78"/>
            </a:solidFill>
            <a:prstDash val="solid"/>
          </a:ln>
        </p:spPr>
      </p:sp>
      <p:sp>
        <p:nvSpPr>
          <p:cNvPr id="22" name="Text 19"/>
          <p:cNvSpPr/>
          <p:nvPr/>
        </p:nvSpPr>
        <p:spPr>
          <a:xfrm>
            <a:off x="411480" y="4754880"/>
            <a:ext cx="8321040" cy="320040"/>
          </a:xfrm>
          <a:prstGeom prst="rect">
            <a:avLst/>
          </a:prstGeom>
          <a:noFill/>
          <a:ln/>
        </p:spPr>
        <p:txBody>
          <a:bodyPr wrap="square" lIns="0" tIns="0" rIns="0" bIns="0" rtlCol="0" anchor="ctr"/>
          <a:lstStyle/>
          <a:p>
            <a:pPr algn="ctr" indent="0" marL="0">
              <a:buNone/>
            </a:pPr>
            <a:r>
              <a:rPr lang="en-US" sz="1000" i="1" dirty="0">
                <a:solidFill>
                  <a:srgbClr val="A8D5BA"/>
                </a:solidFill>
                <a:latin typeface="Calibri" pitchFamily="34" charset="0"/>
                <a:ea typeface="Calibri" pitchFamily="34" charset="-122"/>
                <a:cs typeface="Calibri" pitchFamily="34" charset="-120"/>
              </a:rPr>
              <a:t>Lo que elijan hoy es un punto de entrada — no una fórmula definitiva. La fórmula cambia a medida que el animal cambia.</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3A2F"/>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9A85C"/>
          </a:solidFill>
          <a:ln w="12700">
            <a:solidFill>
              <a:srgbClr val="C9A85C"/>
            </a:solidFill>
            <a:prstDash val="solid"/>
          </a:ln>
        </p:spPr>
      </p:sp>
      <p:sp>
        <p:nvSpPr>
          <p:cNvPr id="3" name="Shape 1"/>
          <p:cNvSpPr/>
          <p:nvPr/>
        </p:nvSpPr>
        <p:spPr>
          <a:xfrm>
            <a:off x="128016" y="0"/>
            <a:ext cx="9015984" cy="64008"/>
          </a:xfrm>
          <a:prstGeom prst="rect">
            <a:avLst/>
          </a:prstGeom>
          <a:solidFill>
            <a:srgbClr val="6B9E78"/>
          </a:solidFill>
          <a:ln w="12700">
            <a:solidFill>
              <a:srgbClr val="6B9E78"/>
            </a:solidFill>
            <a:prstDash val="solid"/>
          </a:ln>
        </p:spPr>
      </p:sp>
      <p:pic>
        <p:nvPicPr>
          <p:cNvPr id="4" name="Image 0" descr="/sessions/focused-admiring-fermi/mnt/Mascotas_2026/Programa/logo centro.png">    </p:cNvPr>
          <p:cNvPicPr>
            <a:picLocks noChangeAspect="1"/>
          </p:cNvPicPr>
          <p:nvPr/>
        </p:nvPicPr>
        <p:blipFill>
          <a:blip r:embed="rId1"/>
          <a:stretch>
            <a:fillRect/>
          </a:stretch>
        </p:blipFill>
        <p:spPr>
          <a:xfrm>
            <a:off x="8485632" y="109728"/>
            <a:ext cx="347472" cy="347472"/>
          </a:xfrm>
          <a:prstGeom prst="rect">
            <a:avLst/>
          </a:prstGeom>
        </p:spPr>
      </p:pic>
      <p:sp>
        <p:nvSpPr>
          <p:cNvPr id="5" name="Shape 2"/>
          <p:cNvSpPr/>
          <p:nvPr/>
        </p:nvSpPr>
        <p:spPr>
          <a:xfrm>
            <a:off x="411480" y="256032"/>
            <a:ext cx="868680" cy="274320"/>
          </a:xfrm>
          <a:prstGeom prst="rect">
            <a:avLst/>
          </a:prstGeom>
          <a:solidFill>
            <a:srgbClr val="6B9E78"/>
          </a:solidFill>
          <a:ln w="12700">
            <a:solidFill>
              <a:srgbClr val="6B9E78"/>
            </a:solidFill>
            <a:prstDash val="solid"/>
          </a:ln>
        </p:spPr>
      </p:sp>
      <p:sp>
        <p:nvSpPr>
          <p:cNvPr id="6" name="Text 3"/>
          <p:cNvSpPr/>
          <p:nvPr/>
        </p:nvSpPr>
        <p:spPr>
          <a:xfrm>
            <a:off x="411480" y="256032"/>
            <a:ext cx="86868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PASO 7</a:t>
            </a:r>
            <a:endParaRPr lang="en-US" sz="800" dirty="0"/>
          </a:p>
        </p:txBody>
      </p:sp>
      <p:sp>
        <p:nvSpPr>
          <p:cNvPr id="7" name="Text 4"/>
          <p:cNvSpPr/>
          <p:nvPr/>
        </p:nvSpPr>
        <p:spPr>
          <a:xfrm>
            <a:off x="411480" y="658368"/>
            <a:ext cx="8321040" cy="603504"/>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El Sistema es Uno</a:t>
            </a:r>
            <a:endParaRPr lang="en-US" sz="4000" dirty="0"/>
          </a:p>
        </p:txBody>
      </p:sp>
      <p:sp>
        <p:nvSpPr>
          <p:cNvPr id="8" name="Text 5"/>
          <p:cNvSpPr/>
          <p:nvPr/>
        </p:nvSpPr>
        <p:spPr>
          <a:xfrm>
            <a:off x="411480" y="1371600"/>
            <a:ext cx="7772400" cy="384048"/>
          </a:xfrm>
          <a:prstGeom prst="rect">
            <a:avLst/>
          </a:prstGeom>
          <a:noFill/>
          <a:ln/>
        </p:spPr>
        <p:txBody>
          <a:bodyPr wrap="square" lIns="0" tIns="0" rIns="0" bIns="0" rtlCol="0" anchor="ctr"/>
          <a:lstStyle/>
          <a:p>
            <a:pPr indent="0" marL="0">
              <a:buNone/>
            </a:pPr>
            <a:r>
              <a:rPr lang="en-US" sz="1400" i="1" dirty="0">
                <a:solidFill>
                  <a:srgbClr val="A8D5BA"/>
                </a:solidFill>
                <a:latin typeface="Calibri" pitchFamily="34" charset="0"/>
                <a:ea typeface="Calibri" pitchFamily="34" charset="-122"/>
                <a:cs typeface="Calibri" pitchFamily="34" charset="-120"/>
              </a:rPr>
              <a:t>Cuando elijan flores para su animal, observen cuáles les resuenan también a ustedes.</a:t>
            </a:r>
            <a:endParaRPr lang="en-US" sz="1400" dirty="0"/>
          </a:p>
        </p:txBody>
      </p:sp>
      <p:sp>
        <p:nvSpPr>
          <p:cNvPr id="9" name="Shape 6"/>
          <p:cNvSpPr/>
          <p:nvPr/>
        </p:nvSpPr>
        <p:spPr>
          <a:xfrm>
            <a:off x="365760" y="1920240"/>
            <a:ext cx="8412480" cy="1389888"/>
          </a:xfrm>
          <a:prstGeom prst="rect">
            <a:avLst/>
          </a:prstGeom>
          <a:solidFill>
            <a:srgbClr val="2A5040"/>
          </a:solidFill>
          <a:ln w="12700">
            <a:solidFill>
              <a:srgbClr val="2A5040"/>
            </a:solidFill>
            <a:prstDash val="solid"/>
          </a:ln>
          <a:effectLst>
            <a:outerShdw sx="100000" sy="100000" kx="0" ky="0" algn="bl" rotWithShape="0" blurRad="101600" dist="38100" dir="8100000">
              <a:srgbClr val="000000">
                <a:alpha val="12000"/>
              </a:srgbClr>
            </a:outerShdw>
          </a:effectLst>
        </p:spPr>
      </p:sp>
      <p:sp>
        <p:nvSpPr>
          <p:cNvPr id="10" name="Text 7"/>
          <p:cNvSpPr/>
          <p:nvPr/>
        </p:nvSpPr>
        <p:spPr>
          <a:xfrm>
            <a:off x="548640" y="1920240"/>
            <a:ext cx="8229600" cy="1389888"/>
          </a:xfrm>
          <a:prstGeom prst="rect">
            <a:avLst/>
          </a:prstGeom>
          <a:noFill/>
          <a:ln/>
        </p:spPr>
        <p:txBody>
          <a:bodyPr wrap="square" lIns="0" tIns="0" rIns="0" bIns="0" rtlCol="0" anchor="ctr"/>
          <a:lstStyle/>
          <a:p>
            <a:pPr algn="ctr" indent="0" marL="0">
              <a:buNone/>
            </a:pPr>
            <a:r>
              <a:rPr lang="en-US" sz="2200" i="1" dirty="0">
                <a:solidFill>
                  <a:srgbClr val="FFFFFF"/>
                </a:solidFill>
                <a:latin typeface="Georgia" pitchFamily="34" charset="0"/>
                <a:ea typeface="Georgia" pitchFamily="34" charset="-122"/>
                <a:cs typeface="Georgia" pitchFamily="34" charset="-120"/>
              </a:rPr>
              <a:t>Con frecuencia suficiente, la flor que necesita el animal</a:t>
            </a:r>
            <a:endParaRPr lang="en-US" sz="2200" dirty="0"/>
          </a:p>
          <a:p>
            <a:pPr algn="ctr" indent="0" marL="0">
              <a:buNone/>
            </a:pPr>
            <a:r>
              <a:rPr lang="en-US" sz="2200" i="1" dirty="0">
                <a:solidFill>
                  <a:srgbClr val="FFFFFF"/>
                </a:solidFill>
                <a:latin typeface="Georgia" pitchFamily="34" charset="0"/>
                <a:ea typeface="Georgia" pitchFamily="34" charset="-122"/>
                <a:cs typeface="Georgia" pitchFamily="34" charset="-120"/>
              </a:rPr>
              <a:t>es la misma que necesita el dueño.</a:t>
            </a:r>
            <a:endParaRPr lang="en-US" sz="2200" dirty="0"/>
          </a:p>
        </p:txBody>
      </p:sp>
      <p:sp>
        <p:nvSpPr>
          <p:cNvPr id="11" name="Shape 8"/>
          <p:cNvSpPr/>
          <p:nvPr/>
        </p:nvSpPr>
        <p:spPr>
          <a:xfrm>
            <a:off x="2286000" y="3493008"/>
            <a:ext cx="4572000" cy="36576"/>
          </a:xfrm>
          <a:prstGeom prst="rect">
            <a:avLst/>
          </a:prstGeom>
          <a:solidFill>
            <a:srgbClr val="C9A85C"/>
          </a:solidFill>
          <a:ln w="12700">
            <a:solidFill>
              <a:srgbClr val="C9A85C"/>
            </a:solidFill>
            <a:prstDash val="solid"/>
          </a:ln>
        </p:spPr>
      </p:sp>
      <p:sp>
        <p:nvSpPr>
          <p:cNvPr id="12" name="Text 9"/>
          <p:cNvSpPr/>
          <p:nvPr/>
        </p:nvSpPr>
        <p:spPr>
          <a:xfrm>
            <a:off x="411480" y="3639312"/>
            <a:ext cx="8321040" cy="457200"/>
          </a:xfrm>
          <a:prstGeom prst="rect">
            <a:avLst/>
          </a:prstGeom>
          <a:noFill/>
          <a:ln/>
        </p:spPr>
        <p:txBody>
          <a:bodyPr wrap="square" lIns="0" tIns="0" rIns="0" bIns="0" rtlCol="0" anchor="ctr"/>
          <a:lstStyle/>
          <a:p>
            <a:pPr algn="ctr" indent="0" marL="0">
              <a:buNone/>
            </a:pPr>
            <a:r>
              <a:rPr lang="en-US" sz="2200" b="1" dirty="0">
                <a:solidFill>
                  <a:srgbClr val="C9A85C"/>
                </a:solidFill>
                <a:latin typeface="Georgia" pitchFamily="34" charset="0"/>
                <a:ea typeface="Georgia" pitchFamily="34" charset="-122"/>
                <a:cs typeface="Georgia" pitchFamily="34" charset="-120"/>
              </a:rPr>
              <a:t>El sistema es uno.</a:t>
            </a:r>
            <a:endParaRPr lang="en-US" sz="2200" dirty="0"/>
          </a:p>
        </p:txBody>
      </p:sp>
      <p:sp>
        <p:nvSpPr>
          <p:cNvPr id="13" name="Text 10"/>
          <p:cNvSpPr/>
          <p:nvPr/>
        </p:nvSpPr>
        <p:spPr>
          <a:xfrm>
            <a:off x="411480" y="4160520"/>
            <a:ext cx="8321040" cy="402336"/>
          </a:xfrm>
          <a:prstGeom prst="rect">
            <a:avLst/>
          </a:prstGeom>
          <a:noFill/>
          <a:ln/>
        </p:spPr>
        <p:txBody>
          <a:bodyPr wrap="square" lIns="0" tIns="0" rIns="0" bIns="0" rtlCol="0" anchor="ctr"/>
          <a:lstStyle/>
          <a:p>
            <a:pPr algn="ctr" indent="0" marL="0">
              <a:buNone/>
            </a:pPr>
            <a:r>
              <a:rPr lang="en-US" sz="1600" i="1" dirty="0">
                <a:solidFill>
                  <a:srgbClr val="A8D5BA"/>
                </a:solidFill>
                <a:latin typeface="Calibri" pitchFamily="34" charset="0"/>
                <a:ea typeface="Calibri" pitchFamily="34" charset="-122"/>
                <a:cs typeface="Calibri" pitchFamily="34" charset="-120"/>
              </a:rPr>
              <a:t>Cuando una parte sana, el todo se mueve.</a:t>
            </a:r>
            <a:endParaRPr lang="en-US" sz="1600" dirty="0"/>
          </a:p>
        </p:txBody>
      </p:sp>
      <p:sp>
        <p:nvSpPr>
          <p:cNvPr id="14" name="Text 11"/>
          <p:cNvSpPr/>
          <p:nvPr/>
        </p:nvSpPr>
        <p:spPr>
          <a:xfrm>
            <a:off x="411480" y="4773168"/>
            <a:ext cx="8321040" cy="274320"/>
          </a:xfrm>
          <a:prstGeom prst="rect">
            <a:avLst/>
          </a:prstGeom>
          <a:noFill/>
          <a:ln/>
        </p:spPr>
        <p:txBody>
          <a:bodyPr wrap="square" lIns="0" tIns="0" rIns="0" bIns="0" rtlCol="0" anchor="ctr"/>
          <a:lstStyle/>
          <a:p>
            <a:pPr algn="ctr" indent="0" marL="0">
              <a:buNone/>
            </a:pPr>
            <a:r>
              <a:rPr lang="en-US" sz="900" dirty="0">
                <a:solidFill>
                  <a:srgbClr val="4A6355"/>
                </a:solidFill>
                <a:latin typeface="Calibri" pitchFamily="34" charset="0"/>
                <a:ea typeface="Calibri" pitchFamily="34" charset="-122"/>
                <a:cs typeface="Calibri" pitchFamily="34" charset="-120"/>
              </a:rPr>
              <a:t>Instituto Centrobioenergetica  ·  Dr. Miguel Ojeda Rios  ·  Módulo 1  ·  27 marzo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Flores de Bach para Tu Mascota — Bloque 4</dc:title>
  <dc:subject>PptxGenJS Presentation</dc:subject>
  <dc:creator>Dr. Miguel Ojeda Rios</dc:creator>
  <cp:lastModifiedBy>Dr. Miguel Ojeda Rios</cp:lastModifiedBy>
  <cp:revision>1</cp:revision>
  <dcterms:created xsi:type="dcterms:W3CDTF">2026-03-27T19:04:48Z</dcterms:created>
  <dcterms:modified xsi:type="dcterms:W3CDTF">2026-03-27T19:04:48Z</dcterms:modified>
</cp:coreProperties>
</file>