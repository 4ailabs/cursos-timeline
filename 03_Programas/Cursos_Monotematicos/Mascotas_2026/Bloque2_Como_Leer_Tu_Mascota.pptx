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371600"/>
            <a:ext cx="8321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Leer Lo Que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Muestra Tu Mascota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11480" y="30632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·  Lo Que Tu Mascota Quiere Decirte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200400" y="3611880"/>
            <a:ext cx="2743200" cy="3657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7490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Centrobioenergetica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4187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Miguel Ojeda Rios  ·  Viernes 27 de marzo 2026  ·  3:45 – 4:45 pm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749040" y="4617720"/>
            <a:ext cx="1645920" cy="40233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4617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74320"/>
            <a:ext cx="868680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74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858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Tipos de Pregunta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11480" y="1389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veterinario ya revisó y no hay explicación clínica completa.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874520"/>
            <a:ext cx="3977640" cy="288036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1993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34086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Fisiológica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548640" y="2944368"/>
            <a:ext cx="3383280" cy="36576"/>
          </a:xfrm>
          <a:prstGeom prst="rect">
            <a:avLst/>
          </a:prstGeom>
          <a:solidFill>
            <a:srgbClr val="D4EDE1"/>
          </a:solidFill>
          <a:ln w="12700">
            <a:solidFill>
              <a:srgbClr val="D4ED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63240"/>
            <a:ext cx="3611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nivel de estrés crónico está viviendo este animal en su entorno?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estrés crónico tiene efectos físicos documentados — en el sistema digestivo, la piel, el sistema inmune, el sistema urinario.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es alternativo — es fisiología básica.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800600" y="1874520"/>
            <a:ext cx="3977640" cy="288036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83480" y="1993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83480" y="234086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Etológica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4983480" y="2944368"/>
            <a:ext cx="3383280" cy="36576"/>
          </a:xfrm>
          <a:prstGeom prst="rect">
            <a:avLst/>
          </a:prstGeom>
          <a:solidFill>
            <a:srgbClr val="3A2A00"/>
          </a:solidFill>
          <a:ln w="12700">
            <a:solidFill>
              <a:srgbClr val="3A2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3063240"/>
            <a:ext cx="3611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¿Alguno de los instintos naturales de esta especie está siendo bloqueado?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animal con instintos bloqueados desarrolla síntomas conductuales y físicos predecibles.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dos preguntas cubren la gran mayoría de los casos sin diagnóstico veterinario claro.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"/>
            <a:ext cx="868680" cy="25603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389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Fisiología del Estrés — 4 Sistemas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28600" y="1078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1078992"/>
            <a:ext cx="4160520" cy="43891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1247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Digestivo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788920" y="11887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Sist. nervioso entérico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3192" y="1600200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neuronas que la médula espinal. Directamente conectado al eje de estrés.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Vómito recurrente, diarrea persistente, pérdida de apetito sostenida.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¿qué tensión crónica hay en el entorno que no se resuelve?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078992"/>
            <a:ext cx="4160520" cy="438912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1247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269480" y="11887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cutánea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73752" y="1600200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cortisol crónico altera la barrera cutánea — documentado en dermatología veterinaria.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Acral lick, sobreaseo con calvas: catalogados como trastornos de estrés.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instalan tras cambios en el entorno relacional.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8600" y="3035808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3035808"/>
            <a:ext cx="4160520" cy="438912"/>
          </a:xfrm>
          <a:prstGeom prst="rect">
            <a:avLst/>
          </a:prstGeom>
          <a:solidFill>
            <a:srgbClr val="7A9EB5"/>
          </a:solidFill>
          <a:ln w="12700">
            <a:solidFill>
              <a:srgbClr val="7A9E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081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Urinario (gatos)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788920" y="314553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 — AAFP estándar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93192" y="3557016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 está explícitamente ligada al estrés ambiental en las guías de la AAFP.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diagnóstico veterinario estándar — no especulación alternativa.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¿qué hay en el entorno de este gato que es impredecible de forma crónica?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09160" y="3035808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3035808"/>
            <a:ext cx="4160520" cy="43891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3081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Conducta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269480" y="314553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espejo más honesto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73752" y="3557016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 de separación, agresividad reactiva, hiperactividad, apatía sin causa médica.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problemas de carácter — son respuestas del sistema nervioso.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vínculo con el estado emocional del dueño está publicado.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28600" y="4919472"/>
            <a:ext cx="8686800" cy="201168"/>
          </a:xfrm>
          <a:prstGeom prst="rect">
            <a:avLst/>
          </a:prstGeom>
          <a:solidFill>
            <a:srgbClr val="C9A85C">
              <a:alpha val="18000"/>
            </a:srgbClr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biología. El estrés crónico no es una abstracción — tiene efectos físicos medibles.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VOZ DE LA MEDICINA VETERINARIA CONVENCIONAL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la medicina veterinaria dice lo mismo que decimos nosotros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8595360" cy="1554480"/>
          </a:xfrm>
          <a:prstGeom prst="rect">
            <a:avLst/>
          </a:prstGeom>
          <a:solidFill>
            <a:srgbClr val="7A9EB5"/>
          </a:solidFill>
          <a:ln w="12700">
            <a:solidFill>
              <a:srgbClr val="7A9E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188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Cistitis Idiopática Felina (FIC)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 está explícitamente ligada al estrés ambiental en las guías de la AAFP — Asociación Americana de Felinos. Es diagnóstico estándar. No especulación alternativa — diagnóstico publicado en la literatura convencional.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834640"/>
            <a:ext cx="2697480" cy="5486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importa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33649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gato necesita predictibilidad en su espacio. La inestabilidad crónica del entorno se porta en el sistema urinario.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172968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2834640"/>
            <a:ext cx="2697480" cy="54864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0128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el gato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10128" y="33649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qué hay de malo en el gato — es qué hay de inestable en el entorno relacional de ese gato.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71616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71616" y="2834640"/>
            <a:ext cx="2697480" cy="54864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correcta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08776" y="33649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hay en el entorno de este animal que es impredecible de forma crónica? Esa pregunta cambia el diagnóstico.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74320" y="460857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hay veterinarios en el grupo, empezar aquí.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-731520"/>
            <a:ext cx="6400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0" b="1" dirty="0">
                <a:solidFill>
                  <a:srgbClr val="6B9E78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347472"/>
            <a:ext cx="868680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804672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Instintos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Primarios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11480" y="3246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animal necesita hacer.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puede — enferma.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1480" y="4251960"/>
            <a:ext cx="1920240" cy="3840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0" y="4251960"/>
            <a:ext cx="1920240" cy="3840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4251960"/>
            <a:ext cx="1920240" cy="3840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0" y="4251960"/>
            <a:ext cx="1920240" cy="3840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Conejo  ·  Caballo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INSTINTOS MÁS FRECUENTEMENTE BLOQUEADOS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Perro y Gato — Los Dos Más Comunes en Consulta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28600" y="1051560"/>
            <a:ext cx="4160520" cy="41148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051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" y="155448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554480"/>
            <a:ext cx="64008" cy="100584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grupal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2011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moverse con su grupo y conocer el territorio. Sin exploración ni variedad de estímulos — la ansiedad de separación frecuentemente empieza aquí.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" y="2670048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2670048"/>
            <a:ext cx="64008" cy="100584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 propósito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" y="31272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tener una función en la manada. Sin ninguna tarea, desarrolla conductas de descarga: ladrar, destruir, repetir circuitos.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28600" y="3785616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3785616"/>
            <a:ext cx="64008" cy="100584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8770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de manada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1480" y="4242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ladrido compulsivo casi siempre es una necesidad de comunicar algo que no tiene canal. Tiene algo que decir — el mensaje no llega.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1051560"/>
            <a:ext cx="4160520" cy="41148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1051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155448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554480"/>
            <a:ext cx="64008" cy="100584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3776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Territorialidad vertical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937760" y="2011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acceso a puntos altos para sentirse seguro. Sin esa opción vive en tensión territorial permanente.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2670048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2670048"/>
            <a:ext cx="64008" cy="100584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3776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 solitaria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937760" y="31272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instinto de caza no se sacia con el plato de comida. Sin estimulación de juego activo, se redirige o se convierte en hiperactividad nocturna.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54880" y="3785616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3785616"/>
            <a:ext cx="64008" cy="100584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38770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Autosuficiencia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937760" y="4242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control sobre su entorno — cuándo interactúa, cuándo se retira. Impedirlo genera estrés crónico independiente de cuánto se lo quiera.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INSTINTOS PRIMARIOS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 · Conejo · Caballo — El Principio Universal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8595360" cy="6858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1338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para cualquier especie: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0" y="11338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hace este animal en su hábitat natural que NO puede hacer en el entorno que le hemos creado?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19202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920240"/>
            <a:ext cx="2697480" cy="438912"/>
          </a:xfrm>
          <a:prstGeom prst="rect">
            <a:avLst/>
          </a:prstGeom>
          <a:solidFill>
            <a:srgbClr val="7A9EB5"/>
          </a:solidFill>
          <a:ln w="12700">
            <a:solidFill>
              <a:srgbClr val="7A9E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9933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1480" y="2496312"/>
            <a:ext cx="274320" cy="274320"/>
          </a:xfrm>
          <a:prstGeom prst="ellipse">
            <a:avLst/>
          </a:prstGeom>
          <a:solidFill>
            <a:srgbClr val="7A9EB5"/>
          </a:solidFill>
          <a:ln w="12700">
            <a:solidFill>
              <a:srgbClr val="7A9E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279806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espacio para volar → instinto central bloqueado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3392424"/>
            <a:ext cx="274320" cy="274320"/>
          </a:xfrm>
          <a:prstGeom prst="ellipse">
            <a:avLst/>
          </a:prstGeom>
          <a:solidFill>
            <a:srgbClr val="7A9EB5"/>
          </a:solidFill>
          <a:ln w="12700">
            <a:solidFill>
              <a:srgbClr val="7A9E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374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Forrajeo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" y="369417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búsqueda de alimento → segundo instinto central bloqueado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4279392"/>
            <a:ext cx="2514600" cy="475488"/>
          </a:xfrm>
          <a:prstGeom prst="rect">
            <a:avLst/>
          </a:prstGeom>
          <a:solidFill>
            <a:srgbClr val="7A9EB5">
              <a:alpha val="80000"/>
            </a:srgbClr>
          </a:solidFill>
          <a:ln w="12700">
            <a:solidFill>
              <a:srgbClr val="7A9E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4297680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instintos centrales bloqueados → conductas compulsivas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172968" y="19202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72968" y="1920240"/>
            <a:ext cx="2697480" cy="43891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10128" y="19933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Conejo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310128" y="2496312"/>
            <a:ext cx="274320" cy="274320"/>
          </a:xfrm>
          <a:prstGeom prst="ellipse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75888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Excavar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675888" y="279806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posibilidad de excavar → necesidad básica insatisfecha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10128" y="3392424"/>
            <a:ext cx="274320" cy="274320"/>
          </a:xfrm>
          <a:prstGeom prst="ellipse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75888" y="3374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Roer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3675888" y="369417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objetos apropiados → problemas dentales y digestivos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64408" y="4279392"/>
            <a:ext cx="2514600" cy="475488"/>
          </a:xfrm>
          <a:prstGeom prst="rect">
            <a:avLst/>
          </a:prstGeom>
          <a:solidFill>
            <a:srgbClr val="6B9E78">
              <a:alpha val="80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37560" y="4297680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más básicas insatisfechas → problemas físicos directos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071616" y="19202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071616" y="1920240"/>
            <a:ext cx="2697480" cy="438912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08776" y="19933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Caballo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208776" y="2496312"/>
            <a:ext cx="274320" cy="274320"/>
          </a:xfrm>
          <a:prstGeom prst="ellipse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74536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amplio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574536" y="279806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espacio → instinto de movimiento suprimido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08776" y="3392424"/>
            <a:ext cx="274320" cy="274320"/>
          </a:xfrm>
          <a:prstGeom prst="ellipse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74536" y="3374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social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6574536" y="369417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manada → instinto social suprimido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63056" y="4279392"/>
            <a:ext cx="2514600" cy="475488"/>
          </a:xfrm>
          <a:prstGeom prst="rect">
            <a:avLst/>
          </a:prstGeom>
          <a:solidFill>
            <a:srgbClr val="C8876E">
              <a:alpha val="80000"/>
            </a:srgbClr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36208" y="4297680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instintos principales suprimidos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-731520"/>
            <a:ext cx="6400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0" b="1" dirty="0">
                <a:solidFill>
                  <a:srgbClr val="6B9E78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347472"/>
            <a:ext cx="868680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804672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Patrones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Relacionales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1148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en que el estado emocional sostenido del dueño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campo específico en el entorno del animal.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1480" y="4224528"/>
            <a:ext cx="832104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porque el dueño haga algo mal — a veces son patrones completamente involuntarios, incluso inconscientes."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459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Patrones Relacionales Dueño–Animal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43891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 Patrón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dueño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animal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 Absorción de 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 no resuelto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 de instintos de supervivencia · enfermedades crónicas sin causa clara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 Reflejo de ansiedad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Ansiedad generalizada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Hipervigilancia · ladrido compulsivo · incapacidad de calmarse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 Sobreprotección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excesivo del entorno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autonomía · exploración bloqueada · no puede regularse solo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 Abandono emocional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Presencia física, ausencia afectiva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Hiperactivación del apego · ansiedad de separación · conducta pegajosa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 Conflicto de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 al animal como sustituto humano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 de TODOS los instintos naturales — el patrón más disruptivo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 Energía depresiva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Depresión · apatía · sin propósito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 absorbe y suprime su vitalidad — 'apagado' sin causa veterinaria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 Culpa del dueño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Sobreindulgencia para compensar culpa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se expresa dentro de lo que el dueño tolera · bloquea expresión natural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28600" y="5093208"/>
            <a:ext cx="8686800" cy="201168"/>
          </a:xfrm>
          <a:prstGeom prst="rect">
            <a:avLst/>
          </a:prstGeom>
          <a:solidFill>
            <a:srgbClr val="6B9E78">
              <a:alpha val="20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509320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palabra "patrón" — no "conflicto". Patrón es descriptivo y neutral.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"/>
            <a:ext cx="1005840" cy="22860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389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Correlaciones Clínicas — Sistema del Animal · Tensión del Dueño  (1 de 2)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228600" y="841248"/>
            <a:ext cx="8686800" cy="256032"/>
          </a:xfrm>
          <a:prstGeom prst="rect">
            <a:avLst/>
          </a:prstGeom>
          <a:solidFill>
            <a:srgbClr val="C9A85C">
              <a:alpha val="75000"/>
            </a:srgbClr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diccionario. Son pistas. El vet descartó todo + estrés crónico confirmado → ¿hay algo de esto que resuene?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70432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7607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muestra el animal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vale la pena preguntarle al dueño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Vómito recurrente sin causa médica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¿Hay algo que llevas tiempo sin poder resolver — algo que 'no terminas de digerir'?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Diarrea crónica que no cede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¿Hay algo que necesitas soltar — una situación, un vínculo — pero no puedes o no sabes cómo?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 de apetito / apatía sostenida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¿Hay una pérdida de propósito o una energía depresiva de fondo en el hogar en este período?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Dermatitis o problemas de piel recurrentes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¿Hubo una separación significativa cerca del inicio — de una persona, un lugar, un proyecto?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Rascado compulsivo / zonas calvas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¿Hay tensión sostenida en el hogar — algo que todos cargan pero nadie habla?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"/>
            <a:ext cx="1005840" cy="22860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389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Correlaciones Clínicas — Sistema del Animal · Tensión del Dueño  (2 de 2)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70432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7607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muestra el animal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vale la pena preguntarle al dueño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Ansiedad de separación extrema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es tu relación con el abandono — real o anticipado? ¿Hay una necesidad afectiva no satisfecha?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Agresividad territorial desproporcionada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tan seguro se siente tu propio territorio — tu trabajo, tu casa, tus límites personales?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Problemas urinarios idiopáticos (gatos)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¿Hay algo donde sientes que no puedes poner límites — donde no puedes marcar tu espacio?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Otitis recurrente sin causa estructural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¿Hay algo que estás evitando escuchar — una conversación, una verdad que pospones?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mamario (perra o gata)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¿Hay una preocupación intensa y sostenida por alguien a quien quieres que llevas en silencio?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943600" y="4892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6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animal no acusa. Señala."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74320"/>
            <a:ext cx="868680" cy="25603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74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Tres Preguntas sobre Tu Animal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11480" y="1371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tu mascota frente a ti  ·  5 minutos  ·  En silencio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057400"/>
            <a:ext cx="411480" cy="411480"/>
          </a:xfrm>
          <a:prstGeom prst="ellipse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19019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síntoma o conducta que más te llama la atención de tu mascota?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331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Localízalo: ¿es físico (digestivo, piel, urinario, otro) o conductual?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852928"/>
            <a:ext cx="841248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081528"/>
            <a:ext cx="411480" cy="411480"/>
          </a:xfrm>
          <a:prstGeom prst="ellipse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560" y="29260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apareció?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33558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más estaba cambiando en el entorno del animal en esas semanas — en la casa, la rutina, la vida de las personas que viven con él?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877056"/>
            <a:ext cx="841248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51560" y="39502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¿Alguno de los instintos propios de su especie está bloqueado?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3799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hacer lo que biológicamente necesita hacer en el entorno que le has creado?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tres preguntas son la herramienta. No hay tabla que las reemplace — cada sistema es único.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92608"/>
            <a:ext cx="868680" cy="25603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713232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Tienen Ahora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411480" y="1664208"/>
            <a:ext cx="8321040" cy="62179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17373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fisiología del estrés — cómo afecta directamente 4 sistemas del animal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414016"/>
            <a:ext cx="8321040" cy="62179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532888"/>
            <a:ext cx="365760" cy="365760"/>
          </a:xfrm>
          <a:prstGeom prst="ellipse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487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instintos primarios por especie — qué necesita hacer y qué pasa si no puede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3163824"/>
            <a:ext cx="8321040" cy="62179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" y="323697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 patrones relacionales — cómo el campo emocional del dueño llega al animal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" y="3977640"/>
            <a:ext cx="832104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00507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"Todo lo que vimos hoy no es para culparse. Es para observar.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observación es el primer paso de cualquier cambio.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 animal ya les está mostrando algo."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  ·  Regresamos a las 5:00 pm con las Flores de Bach — Bloque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Leer Lo Que Muestra Tu Mascota — Bloque 2</dc:title>
  <dc:subject>PptxGenJS Presentation</dc:subject>
  <dc:creator>Dr. Miguel Ojeda Rios</dc:creator>
  <cp:lastModifiedBy>Dr. Miguel Ojeda Rios</cp:lastModifiedBy>
  <cp:revision>1</cp:revision>
  <dcterms:created xsi:type="dcterms:W3CDTF">2026-03-27T18:17:24Z</dcterms:created>
  <dcterms:modified xsi:type="dcterms:W3CDTF">2026-03-27T18:17:24Z</dcterms:modified>
</cp:coreProperties>
</file>