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4f66c41df1499f" /><Relationship Type="http://schemas.openxmlformats.org/officeDocument/2006/relationships/extended-properties" Target="/docProps/app.xml" Id="R64ce3bb470084cc6" /><Relationship Type="http://schemas.openxmlformats.org/officeDocument/2006/relationships/officeDocument" Target="/ppt/presentation.xml" Id="Rbc69c63cda2647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3c23f99c74e3b"/>
  </p:sldMasterIdLst>
  <p:notesMasterIdLst>
    <p:notesMasterId xmlns:r="http://schemas.openxmlformats.org/officeDocument/2006/relationships" r:id="R0b2f4b670c714588"/>
  </p:notesMasterIdLst>
  <p:sldIdLst>
    <p:sldId xmlns:r="http://schemas.openxmlformats.org/officeDocument/2006/relationships" id="256" r:id="R6c2feca2cfd64f7e"/>
    <p:sldId xmlns:r="http://schemas.openxmlformats.org/officeDocument/2006/relationships" id="257" r:id="R1e1fc9e0c64343c7"/>
    <p:sldId xmlns:r="http://schemas.openxmlformats.org/officeDocument/2006/relationships" id="258" r:id="Ree25ab3caf4745a3"/>
    <p:sldId xmlns:r="http://schemas.openxmlformats.org/officeDocument/2006/relationships" id="259" r:id="R9da6576ef1de4fad"/>
    <p:sldId xmlns:r="http://schemas.openxmlformats.org/officeDocument/2006/relationships" id="260" r:id="R25cc2ce8f38d4691"/>
    <p:sldId xmlns:r="http://schemas.openxmlformats.org/officeDocument/2006/relationships" id="261" r:id="Re573bb8bf3724abc"/>
    <p:sldId xmlns:r="http://schemas.openxmlformats.org/officeDocument/2006/relationships" id="262" r:id="R418e7a388ede4f45"/>
    <p:sldId xmlns:r="http://schemas.openxmlformats.org/officeDocument/2006/relationships" id="263" r:id="R7c0865857d4a403d"/>
    <p:sldId xmlns:r="http://schemas.openxmlformats.org/officeDocument/2006/relationships" id="264" r:id="Rc5e15f9347b7448c"/>
    <p:sldId xmlns:r="http://schemas.openxmlformats.org/officeDocument/2006/relationships" id="265" r:id="R6e7f2535e80d463b"/>
    <p:sldId xmlns:r="http://schemas.openxmlformats.org/officeDocument/2006/relationships" id="266" r:id="Rd21543a01ae7481b"/>
    <p:sldId xmlns:r="http://schemas.openxmlformats.org/officeDocument/2006/relationships" id="267" r:id="R15edac78849942b9"/>
    <p:sldId xmlns:r="http://schemas.openxmlformats.org/officeDocument/2006/relationships" id="268" r:id="Rdaf5f435edda4932"/>
    <p:sldId xmlns:r="http://schemas.openxmlformats.org/officeDocument/2006/relationships" id="269" r:id="R50a08daa0f0e4f77"/>
    <p:sldId xmlns:r="http://schemas.openxmlformats.org/officeDocument/2006/relationships" id="270" r:id="R7a24207a517b4ab1"/>
    <p:sldId xmlns:r="http://schemas.openxmlformats.org/officeDocument/2006/relationships" id="271" r:id="Rf29909c8166a4d46"/>
    <p:sldId xmlns:r="http://schemas.openxmlformats.org/officeDocument/2006/relationships" id="272" r:id="R4f6c1e504ee849e3"/>
    <p:sldId xmlns:r="http://schemas.openxmlformats.org/officeDocument/2006/relationships" id="273" r:id="Rc92655e25bf14bba"/>
    <p:sldId xmlns:r="http://schemas.openxmlformats.org/officeDocument/2006/relationships" id="274" r:id="R5184067b0000485d"/>
    <p:sldId xmlns:r="http://schemas.openxmlformats.org/officeDocument/2006/relationships" id="275" r:id="R1e9b6f52f8c4435e"/>
    <p:sldId xmlns:r="http://schemas.openxmlformats.org/officeDocument/2006/relationships" id="276" r:id="R40a6ca827b1b4867"/>
    <p:sldId xmlns:r="http://schemas.openxmlformats.org/officeDocument/2006/relationships" id="277" r:id="R27da02c2cf93416d"/>
    <p:sldId xmlns:r="http://schemas.openxmlformats.org/officeDocument/2006/relationships" id="278" r:id="R4cc8c3b7f57e4d85"/>
    <p:sldId xmlns:r="http://schemas.openxmlformats.org/officeDocument/2006/relationships" id="279" r:id="R9be3819f7148425d"/>
    <p:sldId xmlns:r="http://schemas.openxmlformats.org/officeDocument/2006/relationships" id="280" r:id="R7789046f9af840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a55acba4bf4cf8" /><Relationship Type="http://schemas.openxmlformats.org/officeDocument/2006/relationships/slideMaster" Target="/ppt/slideMasters/slideMaster1.xml" Id="R9c53c23f99c74e3b" /><Relationship Type="http://schemas.openxmlformats.org/officeDocument/2006/relationships/notesMaster" Target="/ppt/notesMasters/notesMaster1.xml" Id="R0b2f4b670c714588" /><Relationship Type="http://schemas.openxmlformats.org/officeDocument/2006/relationships/presProps" Target="/ppt/presProps.xml" Id="Ref3bb0f3dda54f15" /><Relationship Type="http://schemas.openxmlformats.org/officeDocument/2006/relationships/tableStyles" Target="/ppt/tableStyles.xml" Id="R2d031281b6784f60" /><Relationship Type="http://schemas.openxmlformats.org/officeDocument/2006/relationships/slide" Target="/ppt/slides/slide1.xml" Id="R6c2feca2cfd64f7e" /><Relationship Type="http://schemas.openxmlformats.org/officeDocument/2006/relationships/slide" Target="/ppt/slides/slide2.xml" Id="R1e1fc9e0c64343c7" /><Relationship Type="http://schemas.openxmlformats.org/officeDocument/2006/relationships/slide" Target="/ppt/slides/slide3.xml" Id="Ree25ab3caf4745a3" /><Relationship Type="http://schemas.openxmlformats.org/officeDocument/2006/relationships/slide" Target="/ppt/slides/slide4.xml" Id="R9da6576ef1de4fad" /><Relationship Type="http://schemas.openxmlformats.org/officeDocument/2006/relationships/slide" Target="/ppt/slides/slide5.xml" Id="R25cc2ce8f38d4691" /><Relationship Type="http://schemas.openxmlformats.org/officeDocument/2006/relationships/slide" Target="/ppt/slides/slide6.xml" Id="Re573bb8bf3724abc" /><Relationship Type="http://schemas.openxmlformats.org/officeDocument/2006/relationships/slide" Target="/ppt/slides/slide7.xml" Id="R418e7a388ede4f45" /><Relationship Type="http://schemas.openxmlformats.org/officeDocument/2006/relationships/slide" Target="/ppt/slides/slide8.xml" Id="R7c0865857d4a403d" /><Relationship Type="http://schemas.openxmlformats.org/officeDocument/2006/relationships/slide" Target="/ppt/slides/slide9.xml" Id="Rc5e15f9347b7448c" /><Relationship Type="http://schemas.openxmlformats.org/officeDocument/2006/relationships/slide" Target="/ppt/slides/slide10.xml" Id="R6e7f2535e80d463b" /><Relationship Type="http://schemas.openxmlformats.org/officeDocument/2006/relationships/slide" Target="/ppt/slides/slide11.xml" Id="Rd21543a01ae7481b" /><Relationship Type="http://schemas.openxmlformats.org/officeDocument/2006/relationships/slide" Target="/ppt/slides/slide12.xml" Id="R15edac78849942b9" /><Relationship Type="http://schemas.openxmlformats.org/officeDocument/2006/relationships/slide" Target="/ppt/slides/slide13.xml" Id="Rdaf5f435edda4932" /><Relationship Type="http://schemas.openxmlformats.org/officeDocument/2006/relationships/slide" Target="/ppt/slides/slide14.xml" Id="R50a08daa0f0e4f77" /><Relationship Type="http://schemas.openxmlformats.org/officeDocument/2006/relationships/slide" Target="/ppt/slides/slide15.xml" Id="R7a24207a517b4ab1" /><Relationship Type="http://schemas.openxmlformats.org/officeDocument/2006/relationships/slide" Target="/ppt/slides/slide16.xml" Id="Rf29909c8166a4d46" /><Relationship Type="http://schemas.openxmlformats.org/officeDocument/2006/relationships/slide" Target="/ppt/slides/slide17.xml" Id="R4f6c1e504ee849e3" /><Relationship Type="http://schemas.openxmlformats.org/officeDocument/2006/relationships/slide" Target="/ppt/slides/slide18.xml" Id="Rc92655e25bf14bba" /><Relationship Type="http://schemas.openxmlformats.org/officeDocument/2006/relationships/slide" Target="/ppt/slides/slide19.xml" Id="R5184067b0000485d" /><Relationship Type="http://schemas.openxmlformats.org/officeDocument/2006/relationships/slide" Target="/ppt/slides/slide20.xml" Id="R1e9b6f52f8c4435e" /><Relationship Type="http://schemas.openxmlformats.org/officeDocument/2006/relationships/slide" Target="/ppt/slides/slide21.xml" Id="R40a6ca827b1b4867" /><Relationship Type="http://schemas.openxmlformats.org/officeDocument/2006/relationships/slide" Target="/ppt/slides/slide22.xml" Id="R27da02c2cf93416d" /><Relationship Type="http://schemas.openxmlformats.org/officeDocument/2006/relationships/slide" Target="/ppt/slides/slide23.xml" Id="R4cc8c3b7f57e4d85" /><Relationship Type="http://schemas.openxmlformats.org/officeDocument/2006/relationships/slide" Target="/ppt/slides/slide24.xml" Id="R9be3819f7148425d" /><Relationship Type="http://schemas.openxmlformats.org/officeDocument/2006/relationships/slide" Target="/ppt/slides/slide25.xml" Id="R7789046f9af8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77fa15b1942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90fc0c78734d69" /><Relationship Type="http://schemas.openxmlformats.org/officeDocument/2006/relationships/notesMaster" Target="/ppt/notesMasters/notesMaster1.xml" Id="Rd1e690cb0cec40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df3c9d3b574f74" /><Relationship Type="http://schemas.openxmlformats.org/officeDocument/2006/relationships/notesMaster" Target="/ppt/notesMasters/notesMaster1.xml" Id="R22f2a843088442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832eff9d4a4b3a" /><Relationship Type="http://schemas.openxmlformats.org/officeDocument/2006/relationships/notesMaster" Target="/ppt/notesMasters/notesMaster1.xml" Id="Rde03b4ea4c6540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4014f19814f16" /><Relationship Type="http://schemas.openxmlformats.org/officeDocument/2006/relationships/notesMaster" Target="/ppt/notesMasters/notesMaster1.xml" Id="R6f60a05e871443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e60884fb45414b" /><Relationship Type="http://schemas.openxmlformats.org/officeDocument/2006/relationships/notesMaster" Target="/ppt/notesMasters/notesMaster1.xml" Id="R9a410ccf498243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0f39f004484587" /><Relationship Type="http://schemas.openxmlformats.org/officeDocument/2006/relationships/notesMaster" Target="/ppt/notesMasters/notesMaster1.xml" Id="R2c72d5f5b95647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339fe0ada14308" /><Relationship Type="http://schemas.openxmlformats.org/officeDocument/2006/relationships/notesMaster" Target="/ppt/notesMasters/notesMaster1.xml" Id="R0b8b266e1a9b4b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0f2ac8be540a6" /><Relationship Type="http://schemas.openxmlformats.org/officeDocument/2006/relationships/notesMaster" Target="/ppt/notesMasters/notesMaster1.xml" Id="R1991d14195514e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d7b007b20e455d" /><Relationship Type="http://schemas.openxmlformats.org/officeDocument/2006/relationships/notesMaster" Target="/ppt/notesMasters/notesMaster1.xml" Id="R870c8277173f4d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eb47a3ce584f69" /><Relationship Type="http://schemas.openxmlformats.org/officeDocument/2006/relationships/notesMaster" Target="/ppt/notesMasters/notesMaster1.xml" Id="Ra0fe19f00cc146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e5c7b13eb244d5" /><Relationship Type="http://schemas.openxmlformats.org/officeDocument/2006/relationships/notesMaster" Target="/ppt/notesMasters/notesMaster1.xml" Id="R95fbe15d0fb743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014e1c811245a8" /><Relationship Type="http://schemas.openxmlformats.org/officeDocument/2006/relationships/notesMaster" Target="/ppt/notesMasters/notesMaster1.xml" Id="R35b568aa35724b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6a7feaf21946a4" /><Relationship Type="http://schemas.openxmlformats.org/officeDocument/2006/relationships/notesMaster" Target="/ppt/notesMasters/notesMaster1.xml" Id="Ra464c1e6a6ea47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b1454f79d3483a" /><Relationship Type="http://schemas.openxmlformats.org/officeDocument/2006/relationships/notesMaster" Target="/ppt/notesMasters/notesMaster1.xml" Id="Rb7bb52c5f44f44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8e9ccffc854426" /><Relationship Type="http://schemas.openxmlformats.org/officeDocument/2006/relationships/notesMaster" Target="/ppt/notesMasters/notesMaster1.xml" Id="Rf8ddf6e0b53a42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2f87c1f1c64d9e" /><Relationship Type="http://schemas.openxmlformats.org/officeDocument/2006/relationships/notesMaster" Target="/ppt/notesMasters/notesMaster1.xml" Id="R790234d1d37643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be1422cffd4e86" /><Relationship Type="http://schemas.openxmlformats.org/officeDocument/2006/relationships/notesMaster" Target="/ppt/notesMasters/notesMaster1.xml" Id="R16a4a6015a1149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9438894dd847b3" /><Relationship Type="http://schemas.openxmlformats.org/officeDocument/2006/relationships/notesMaster" Target="/ppt/notesMasters/notesMaster1.xml" Id="Rb4d9e547bc254c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72143922584164" /><Relationship Type="http://schemas.openxmlformats.org/officeDocument/2006/relationships/notesMaster" Target="/ppt/notesMasters/notesMaster1.xml" Id="R3b6249b68cba48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a4f54f7ce34600" /><Relationship Type="http://schemas.openxmlformats.org/officeDocument/2006/relationships/notesMaster" Target="/ppt/notesMasters/notesMaster1.xml" Id="R6bc4d11d8726473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26e676ab8a4922" /><Relationship Type="http://schemas.openxmlformats.org/officeDocument/2006/relationships/notesMaster" Target="/ppt/notesMasters/notesMaster1.xml" Id="R7212c9eb71ea45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eb6df0c29d4c93" /><Relationship Type="http://schemas.openxmlformats.org/officeDocument/2006/relationships/notesMaster" Target="/ppt/notesMasters/notesMaster1.xml" Id="R5b0c51bd18654d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1e88e3f58a4294" /><Relationship Type="http://schemas.openxmlformats.org/officeDocument/2006/relationships/notesMaster" Target="/ppt/notesMasters/notesMaster1.xml" Id="R4f1a3e0ffe2b4f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29d28fc8abb461a" /><Relationship Type="http://schemas.openxmlformats.org/officeDocument/2006/relationships/notesMaster" Target="/ppt/notesMasters/notesMaster1.xml" Id="R5c3d997ff0dc4e0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c0c608745f2448b" /><Relationship Type="http://schemas.openxmlformats.org/officeDocument/2006/relationships/notesMaster" Target="/ppt/notesMasters/notesMaster1.xml" Id="Rabe6e053aecb43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Apertura. Presenta la clase como una demostración observacional: veremos primero la escena, luego la pregunta y por último el puente teórico. La portada usa una imagen editorial generada a partir del estilo visual aprobado.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 que los nombres y detalles identificables se han omitido. La clase muestra una forma de observar y preguntar; no convierte una escena en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los tres mecanismos como hipótesis de trabajo que luego se verán en casos concretos. La teoría entra después de la experiencia, no como una explicación que tape la observación.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ritmo de la sesión para Zoom. Anticipa que habrá momentos de silencio y preguntas al grupo.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primer caso y pide al grupo que observe el bloqueo sin interpretar todavía.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tomados del guion y de la sesión comentada. Mantén el caso anonimizado y evita convertir el dolor de tobillo en una interpretación causal.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 la pregunta exacta y deja tiempo para respuestas. En la sesión, la consultante señala la orientación de las figuras hacia ella. Ese dato abre la exploración.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Frases de trabajo del caso. Marca que no se trata de repetir una frase como fórmula, sino de observar qué responsabilidad está asumiendo la consultante y qué permiso necesita construir.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escena de familia se exporta del layout y se usa como evidencia visual de la ampliación. Las frases son intervenciones orientativas del guion, no guiones automáticos.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 los cinco hallazgos de la sesión. Enfatiza que la formulación nace del lenguaje de la consultante después de observar la escena.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Muestra la escena completa sin añadir interpretación. Señala la dirección Oeste / Este y la diferencia entre figuras adultas y figura en escala infantil. Nota técnica: el layout exporta la vista cenital con sus ejes visibles.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Puente práctico del caso 1. No atribuir eficacia universal. La idea es que la configuración ofrece otra unidad de observación para dialogar con la persona.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segundo caso como una demostración de distancia psicológica.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Preguntas textuales del guion. No adelantes la biografía del padre. La escena permite que la emoción se formule antes de explicar el motivo.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Después de la cadena de preguntas, el caso aporta la razón biográfica: el padre se ausentaba por trabajo. Señala que la posición funciona como puerta de entrada, no como explicación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Moser, J. S. et al. (2017). Third-person self-talk facilitates emotion regulation without engaging cognitive control: Converging evidence from ERP and fMRI. Scientific Reports, 7:4519. El guion conecta este hallazgo con la escena del padre lejano; presentarlo como conexión teórica, no como equivalencia experimental de la técnica con figuras.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el tercer caso: la decisión de levantarse aparece primero como movimiento de la figura.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guion especifica que el consultante decide levantarse, mueve la figura y comprueba que su propio cuerpo se modifica. La escena es una secuencia antes / después, no una demostración clínica universal.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Goldin-Meadow, S. et al. (2001). Explaining Math: Gesturing Lightens the Load. Psychological Science, 12(6). Presentar como un puente de comprensión del papel del movimiento, no como prueba directa de la técnica con muñecos.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una diapositiva de frase terapéutica independiente de la escena. Subraya el criterio: describir lo que la persona hizo, devolverle autoridad y no imponer una lectura.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bloque central. Evita presentar la escena como una prueba autónoma. La escucha, la evolución y el contexto siguen formando parte de la evaluación.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secuencia resume los movimientos observados en los tres casos. Úsala como guía de intervención, no como automatismo.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Criterios de exclusión y encuadre tomados del programa del taller citado en el guion. Si alguien pregunta por un caso concreto, devolver la conversación a la evaluación profesional y la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promocional basado en el guion. Mantén el tono informativo, sin prometer resultados clínicos.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visibles para preguntas. Mantén disponibles los archivos locales y la referencia de Lowenfeld. La bibliografía de los puentes teóricos procede del guion del Webinar 4 y su tabla de fuentes.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7772e77e348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0c629f9b55464a" /><Relationship Type="http://schemas.openxmlformats.org/officeDocument/2006/relationships/slideLayout" Target="/ppt/slideLayouts/slideLayout1.xml" Id="R566bd848aca24b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bd848aca24b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04f44357d4305" /><Relationship Type="http://schemas.openxmlformats.org/officeDocument/2006/relationships/image" Target="/ppt/media/image.png" Id="R70f09c8482c2469f" /><Relationship Type="http://schemas.openxmlformats.org/officeDocument/2006/relationships/notesSlide" Target="/ppt/notesSlides/notesSlide1.xml" Id="R356c33ce21b045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ce32d64ff4169" /><Relationship Type="http://schemas.openxmlformats.org/officeDocument/2006/relationships/image" Target="/ppt/media/image2.png" Id="R90e0914891ee4acf" /><Relationship Type="http://schemas.openxmlformats.org/officeDocument/2006/relationships/notesSlide" Target="/ppt/notesSlides/notesSlide2.xml" Id="Rd8fa32900d1545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5dafc20b041e7" /><Relationship Type="http://schemas.openxmlformats.org/officeDocument/2006/relationships/notesSlide" Target="/ppt/notesSlides/notesSlide3.xml" Id="R151766fe57e244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093f56f0d4550" /><Relationship Type="http://schemas.openxmlformats.org/officeDocument/2006/relationships/notesSlide" Target="/ppt/notesSlides/notesSlide4.xml" Id="R164fd70f529046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689c407364d1f" /><Relationship Type="http://schemas.openxmlformats.org/officeDocument/2006/relationships/image" Target="/ppt/media/image3.png" Id="R271a07c515f94f8b" /><Relationship Type="http://schemas.openxmlformats.org/officeDocument/2006/relationships/notesSlide" Target="/ppt/notesSlides/notesSlide5.xml" Id="Rf35690ad62ca49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d86a5b6b745b0" /><Relationship Type="http://schemas.openxmlformats.org/officeDocument/2006/relationships/image" Target="/ppt/media/image4.png" Id="Rf7794648741b4ed7" /><Relationship Type="http://schemas.openxmlformats.org/officeDocument/2006/relationships/notesSlide" Target="/ppt/notesSlides/notesSlide6.xml" Id="R5de68e18316d47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0df59a9e948ac" /><Relationship Type="http://schemas.openxmlformats.org/officeDocument/2006/relationships/image" Target="/ppt/media/image5.png" Id="R9586e6823619478b" /><Relationship Type="http://schemas.openxmlformats.org/officeDocument/2006/relationships/notesSlide" Target="/ppt/notesSlides/notesSlide7.xml" Id="R081f61df992641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9bd8e3a8e4f5c" /><Relationship Type="http://schemas.openxmlformats.org/officeDocument/2006/relationships/notesSlide" Target="/ppt/notesSlides/notesSlide8.xml" Id="R67097b5c95864a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08296e67a4199" /><Relationship Type="http://schemas.openxmlformats.org/officeDocument/2006/relationships/image" Target="/ppt/media/image6.png" Id="R20b4a5aa3d4745d1" /><Relationship Type="http://schemas.openxmlformats.org/officeDocument/2006/relationships/notesSlide" Target="/ppt/notesSlides/notesSlide9.xml" Id="Radc8351d9d1c49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c2b937e454ec3" /><Relationship Type="http://schemas.openxmlformats.org/officeDocument/2006/relationships/notesSlide" Target="/ppt/notesSlides/notesSlide10.xml" Id="Rcb12b7f2a0404c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91276ce694833" /><Relationship Type="http://schemas.openxmlformats.org/officeDocument/2006/relationships/image" Target="/ppt/media/image7.png" Id="R14622644d4d74d0f" /><Relationship Type="http://schemas.openxmlformats.org/officeDocument/2006/relationships/notesSlide" Target="/ppt/notesSlides/notesSlide11.xml" Id="R474f149fdfb74c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9c1e3d17c4f1f" /><Relationship Type="http://schemas.openxmlformats.org/officeDocument/2006/relationships/notesSlide" Target="/ppt/notesSlides/notesSlide12.xml" Id="Ra915793c3f4247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4b33842c417b" /><Relationship Type="http://schemas.openxmlformats.org/officeDocument/2006/relationships/image" Target="/ppt/media/image8.png" Id="Ra69bc87de76143a7" /><Relationship Type="http://schemas.openxmlformats.org/officeDocument/2006/relationships/notesSlide" Target="/ppt/notesSlides/notesSlide13.xml" Id="R29ff1c499ffa4c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6e5f37e0846e6" /><Relationship Type="http://schemas.openxmlformats.org/officeDocument/2006/relationships/image" Target="/ppt/media/image9.png" Id="Ree8fe40029124373" /><Relationship Type="http://schemas.openxmlformats.org/officeDocument/2006/relationships/notesSlide" Target="/ppt/notesSlides/notesSlide14.xml" Id="R8f772654881e4d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1dbae865a41b9" /><Relationship Type="http://schemas.openxmlformats.org/officeDocument/2006/relationships/notesSlide" Target="/ppt/notesSlides/notesSlide15.xml" Id="Rca5b1141510b47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068887c224bce" /><Relationship Type="http://schemas.openxmlformats.org/officeDocument/2006/relationships/notesSlide" Target="/ppt/notesSlides/notesSlide16.xml" Id="R1f02258c33e04a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08902fd794dc2" /><Relationship Type="http://schemas.openxmlformats.org/officeDocument/2006/relationships/image" Target="/ppt/media/image10.png" Id="R371446a409834973" /><Relationship Type="http://schemas.openxmlformats.org/officeDocument/2006/relationships/notesSlide" Target="/ppt/notesSlides/notesSlide17.xml" Id="Raeff261c2dba45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baa79f3cc406b" /><Relationship Type="http://schemas.openxmlformats.org/officeDocument/2006/relationships/image" Target="/ppt/media/image11.png" Id="R7dc21094935f4d95" /><Relationship Type="http://schemas.openxmlformats.org/officeDocument/2006/relationships/image" Target="/ppt/media/image12.png" Id="R895af84a1230487b" /><Relationship Type="http://schemas.openxmlformats.org/officeDocument/2006/relationships/notesSlide" Target="/ppt/notesSlides/notesSlide18.xml" Id="Rdbda2212e97f4f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625f92c514f2a" /><Relationship Type="http://schemas.openxmlformats.org/officeDocument/2006/relationships/notesSlide" Target="/ppt/notesSlides/notesSlide19.xml" Id="Rf601140bbac648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42bcdc3314b94" /><Relationship Type="http://schemas.openxmlformats.org/officeDocument/2006/relationships/notesSlide" Target="/ppt/notesSlides/notesSlide20.xml" Id="Rc42f5276137a41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1df4e6dc84217" /><Relationship Type="http://schemas.openxmlformats.org/officeDocument/2006/relationships/notesSlide" Target="/ppt/notesSlides/notesSlide21.xml" Id="R322ac7e95aec4d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bd98d792843c8" /><Relationship Type="http://schemas.openxmlformats.org/officeDocument/2006/relationships/notesSlide" Target="/ppt/notesSlides/notesSlide22.xml" Id="R5875724afe6f4f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d539982724479" /><Relationship Type="http://schemas.openxmlformats.org/officeDocument/2006/relationships/notesSlide" Target="/ppt/notesSlides/notesSlide23.xml" Id="Rf9039da4ce0342e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4c62c37584775" /><Relationship Type="http://schemas.openxmlformats.org/officeDocument/2006/relationships/notesSlide" Target="/ppt/notesSlides/notesSlide24.xml" Id="R9690e82507914e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0c3b66cc54502" /><Relationship Type="http://schemas.openxmlformats.org/officeDocument/2006/relationships/notesSlide" Target="/ppt/notesSlides/notesSlide25.xml" Id="R0c20779f616741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09c8482c246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6019-4DD3-4047-A451-2401A222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69ABD-155F-449E-8588-3BCDE1AA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4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E7C45-6CF8-4301-8E70-84B04B89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▶   WEBINAR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2B64E-59FF-4348-9C9E-D2533D27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TERAPIA CON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59D8F-8ADA-469B-A716-1DBF7FAD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MUÑECOS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8738E-281B-4367-B350-690221CD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B1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4EDB6-0400-425C-A7DC-3DC65FCE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01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TRES SESIONES REALES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49E2F-A39D-42CF-A4B4-E701E238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HOJA REVELA LO QUE LA</a:t>
            </a:r>
          </a:p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CONVERSACIÓN NO ALCANZA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306A8-93D2-4A71-A5D7-5D4F857B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8467F-C449-450E-9CBD-CDBDBD33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291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Casos anonimizados · demostración en vivo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4139C-7279-4678-9553-CC73F1B2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769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DR. MIGUEL OJEDA 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F2409-AD38-4A83-90BB-77D791C8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INSTITUTO CENTROBIOENERGÉTICA</a:t>
            </a:r>
          </a:p>
        </p:txBody>
      </p:sp>
    </p:spTree>
    <p:extLst>
      <p:ext uri="{BB962C8B-B14F-4D97-AF65-F5344CB8AC3E}">
        <p14:creationId xmlns:p14="http://schemas.microsoft.com/office/powerpoint/2010/main" val="200790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7198C-8529-461E-9BD2-AA5D2DF2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ENCUADRE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A64A5-2873-4174-A542-DD77EFF7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62EEF-AC8C-4E99-8190-34C7DF27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21234-2695-4EAB-AD57-574515A0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clase para mirar antes de explicar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2E7FD-FCF2-4E6F-85E7-2F67FCF6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Tres sesiones reales, una misma pregunta: ¿qué aparece cuando la relación ocupa un lugar?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C00BF-4582-4DAE-84E8-1E65B5FE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019175"/>
            <a:ext cx="4572000" cy="295275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0914891ee4acf"/>
          <a:srcRect xmlns:a="http://schemas.openxmlformats.org/drawingml/2006/main" l="5937" t="0" r="59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066800"/>
            <a:ext cx="447675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69F48-1E13-4F92-BCDA-B52C3A9E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Escena inicial: una figura en el tablero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E6CCA-8FD4-488C-B40E-DA02147E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DURACIÓN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473A9-A025-4D25-83EC-EF99E1EC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70 min + 10 min de preguntas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B400B-891D-4722-B647-0BDDEFB5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MATERIAL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81CC3-905A-49D5-A27D-52445774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Figuras, hoja, ejes y preguntas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FFE90-005F-44F1-AC07-FDB317D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ENCUADRE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9E34A-AB80-4F38-91D6-2FD1D9DD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Casos reales anonimizados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A0A16-E8E0-48B9-9A9B-4FE7B592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C0872-5446-4B0C-ACF3-B0771B6C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910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“Hoy no vamos a empezar por la teoría. Vamos a empezar por lo que la escena hace visible.”</a:t>
            </a:r>
          </a:p>
        </p:txBody>
      </p:sp>
    </p:spTree>
    <p:extLst>
      <p:ext uri="{BB962C8B-B14F-4D97-AF65-F5344CB8AC3E}">
        <p14:creationId xmlns:p14="http://schemas.microsoft.com/office/powerpoint/2010/main" val="2127947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29771-7E4D-4F17-B920-7B8CE27F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MAPA DE LA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86AA4-6D08-4189-AA54-EAE1654E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0FD22-5379-4580-907B-BB7187DD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5E585-A591-4245-B0EE-34DA68BE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Qué vas a observar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429C0-9ABD-425E-90C3-FE0AA4CC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mismo proceso se despliega en tres mecanismos visibles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AE897-AE5F-4808-8729-2778883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474EF-1E8C-4F00-9C50-AE045F4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80268-8071-41C7-80A6-C63E8EE4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Externalización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AD727-C0EC-4AA8-AF71-52763454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relación sale del cuerpo y ocupa una posición en la hoja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03D19-97A1-4F63-BE34-64A545E7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EC33C-E16A-4052-9CC2-7CAED2A5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AAEDE-9705-42F2-ABB0-A4D71BE0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DDD79-72F9-43A7-8A78-6DB1E59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Distancia psicológica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CFD1D-117A-4D8B-82AA-E5CE13DF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separación cambia el acceso a la emoción y a la biografía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2D5E7-AFD6-48B6-9A1D-5D060CF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F697C-6687-495C-B42F-B48B45AF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9DEDC-D4E4-4298-9C16-82076997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39637-5981-4362-9DD1-34953440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Gesto y postura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E184F-30A1-4704-8650-9F53D4E3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Mover una figura modifica la forma de pensar la 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3AE68-5723-4F70-B897-A34FB12E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810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8AFAB-F3AB-49A6-B48B-09CDAC13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secuencia de lectura se mantiene estable: posición → pregunta → relato →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1125496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27EA7A-0B2A-43CB-AB70-E58DBBA2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MAPA DE LA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136AC-8DC3-42FC-A194-972468FC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102DA-1228-4A69-94DE-74A0FFA4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8754A-C5DD-4A5D-B259-7EC3967D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ruta de la demostración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2E637-6EE1-4C9B-B4DA-93F33780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Cada bloque agrega una capa: ver, preguntar, comprender, verificar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DE5E0-A898-49E8-8A75-4541D039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00012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3F9E7-95CB-4772-99F4-D0BA92E4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A7F28-6965-4011-B43D-1E2B68F8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2B8E0-6357-4AC8-BB3E-D36A8051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8B9F2-BAB8-4CFD-94F1-E1CE8609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escena inicial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DB50B-8CC8-4B27-A9DF-7F8DEC1F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A7C61-65E0-4988-ABFC-1E77088D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2BC8A-2629-4C73-9DDF-75A4D97B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E12D2-DA82-4BA8-A368-07B09BAD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llama la atención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DB99E-82CB-4472-96EA-2A7F48A9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783CC-5C0C-4B2A-9563-DBE7E558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B3FC9-1232-4368-A7C3-22BE92F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Comprender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06D2C-A8C8-4FC5-AEF2-A994F453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Biografía y teoría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BDE55-8C53-4901-B4CC-90636177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65E8B-CB63-45FA-ACB5-BD3464A3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7FB00-301D-452D-BB93-ED44834C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75851-45A8-4DB5-A260-6284607E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nueva posición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C82F5-E7CD-4891-B3EA-B315275B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53883-496B-47E3-B3D0-B9B58A50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540F8-CEFD-49BC-808B-A88870A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Verificar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E531D-2B48-44E5-9643-3C47F35F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cambia en el cuerpo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3CA71-2DF1-45F5-925F-BB118DC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051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558672-3586-489C-A978-33E1F7E8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48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95409-87B7-4C16-A015-416C8C28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338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Cerrar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3464FD-61E0-44E5-886C-5F7590F9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Límites y encuadre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AEBB9-051D-4C2B-8DE2-907BD4CC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F2F9A1-6357-4181-97FB-FA139688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Primero la imagen. Después la explicación.</a:t>
            </a:r>
          </a:p>
        </p:txBody>
      </p:sp>
    </p:spTree>
    <p:extLst>
      <p:ext uri="{BB962C8B-B14F-4D97-AF65-F5344CB8AC3E}">
        <p14:creationId xmlns:p14="http://schemas.microsoft.com/office/powerpoint/2010/main" val="1246767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a07c515f94f8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7C189-8031-4EAC-9DBE-D2097796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FDEFC-0739-4D07-9617-9E8FABC0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93378-E852-4E98-8B39-3830B4D3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F68F0-1B81-45C3-ABDD-8C5592D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bloqueo</a:t>
            </a:r>
          </a:p>
          <a:p xmlns:a="http://schemas.openxmlformats.org/drawingml/2006/main">
            <a:pPr algn="l">
              <a:def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del camino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63357-C6CF-4721-A46D-E7D792FF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Responsabilidad heredada, lealtades y permiso para descansar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F538A-BE22-44FA-9EE8-C46E61B3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BD6EF-41A2-44E0-BE38-25E1890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escena que comienza con dolor físico</a:t>
            </a:r>
          </a:p>
        </p:txBody>
      </p:sp>
    </p:spTree>
    <p:extLst>
      <p:ext uri="{BB962C8B-B14F-4D97-AF65-F5344CB8AC3E}">
        <p14:creationId xmlns:p14="http://schemas.microsoft.com/office/powerpoint/2010/main" val="1326624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D6EA-0A64-4D60-9D94-8C80B33B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RESPONSABILIDAD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272EA-81DA-46A1-81E3-E3A65146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4A0EC-7144-4FE8-8F27-8F3F620B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1AADF-FD61-477E-8C81-FCF223C1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contexto de la consultante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524DC-8486-49B8-8A5D-366F509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escena llega antes que la explicación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2CFD4-ADAE-4341-999B-5B9E098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000125"/>
            <a:ext cx="4591050" cy="295275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94648741b4ed7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047750"/>
            <a:ext cx="449580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C1866-2353-4102-8217-4156E0F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Una mujer de 45 años, sola en el tablero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6363F-5B1A-4B18-BA75-121DBAE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14E08-8FD4-4361-AF89-70185A95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45 años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5C276-8FCE-4A20-894D-569EBA15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7FA5B-C018-4056-97C0-376168B2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Casada · dos hijos adultos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8DBE6-4231-4B9F-A428-E9B88CC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VIDA DIARIA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7519B-2950-49F9-BB0B-C432FCAC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Lleva un negocio de abarrotes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A3B39-36CD-4C08-9FC3-640924CF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3B65F-A722-4A85-A2F5-827C944E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Dolor de tobillo y deuda de la casa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2B7F9-23AA-420A-B05D-9E39028C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primera decisión clínica es no llenar el silencio demasiado pronto.</a:t>
            </a:r>
          </a:p>
        </p:txBody>
      </p:sp>
    </p:spTree>
    <p:extLst>
      <p:ext uri="{BB962C8B-B14F-4D97-AF65-F5344CB8AC3E}">
        <p14:creationId xmlns:p14="http://schemas.microsoft.com/office/powerpoint/2010/main" val="205068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52565-8402-4257-8595-5004AB61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OBSERVACIÓN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C5AAF-D0F0-4A70-BE5B-3048CCE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7C49-0D75-4B95-8584-1791D079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2FF33-A6ED-44B5-A31B-1DD46941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Primera escena: el cuerpo en el centro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417CC-776A-492F-8F87-5D3034FA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pregunta no busca una respuesta correcta; busca una descripción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218AB-1F4C-432F-84A1-8E0F5EB8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6667500" cy="4191000"/>
          </a:xfrm>
          <a:prstGeom xmlns:a="http://schemas.openxmlformats.org/drawingml/2006/main" prst="roundRect">
            <a:avLst>
              <a:gd name="adj" fmla="val 90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6e6823619478b"/>
          <a:srcRect xmlns:a="http://schemas.openxmlformats.org/drawingml/2006/main" l="4869" t="0" r="48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66850"/>
            <a:ext cx="657225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5C14D-06FB-48C6-B75C-A9EFD251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Vista cenital exportada desde layout_caminos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C71E4-BF2B-44AE-A813-F9076D7E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3143250" cy="17526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2CB2C-4ECC-4C88-8AFF-104626B9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PREGUNTA AL GRUPO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F1C0C-05F4-4F0A-8F47-218FDD7B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AE8F5-22DC-4ADD-AF2F-7CF753A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2343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le llama la atención de esta escena?”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CA5F5-F891-4F9B-8408-A238A678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95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0DC8C-0543-4E7F-9B9D-A5A396E2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“Que quedaron completamente de frente a mí.”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32DB5-5436-4BE7-B63E-05376EC3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1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Observación antes de 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453729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7833C-0487-48C4-B37B-7044F41C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FRASES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DF4BC-8AF3-487F-B45A-18E82B09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CF8B0-33AF-473B-8D6E-F8F4A015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C53A1-B11E-4B3D-9345-73F46DED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misma escena puede escuchar dos frases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7F9E4-E1B9-4342-8A28-C30F70E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tono relacional cambia lo que la figura representa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D773A-C685-4CDE-B246-6BBECC9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una hija dice: “Mamá, me voy a Francia”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77007-4AFC-43FE-9569-FE6CA835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762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19050">
            <a:solidFill>
              <a:srgbClr val="B560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6094D-8596-4BE9-B7C2-6AD324A1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RESPUESTA QUE 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5E3A7-A646-468F-81D7-0D4F82FB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0EBE3-3205-4B9E-A9D2-3B17B9D8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3771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“¿Cómo me vas a dejar sola?</a:t>
            </a:r>
          </a:p>
          <a:p xmlns:a="http://schemas.openxmlformats.org/drawingml/2006/main">
            <a:pPr algn="l">
              <a:defRPr sz="180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¿Quién va a cuidar de mí?”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CE604-45F3-4026-82B1-0D8C9B68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762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19050">
            <a:solidFill>
              <a:srgbClr val="6279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2D892-C5D8-4AE6-8D39-01DBC571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RESPUESTA QUE ABRE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8BD48-D6F9-4C6C-A9B2-A60198AC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02CBF-7FB9-474C-869F-6115729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3771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“Me alegra que puedas ir.</a:t>
            </a:r>
          </a:p>
          <a:p xmlns:a="http://schemas.openxmlformats.org/drawingml/2006/main">
            <a:pPr algn="l">
              <a:defRPr sz="180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Yo también voy a estar bien.”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EF99C-A183-464F-9014-170D227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frase terapéutica no niega el vínculo. Le devuelve a cada quien su lugar.</a:t>
            </a:r>
          </a:p>
        </p:txBody>
      </p:sp>
    </p:spTree>
    <p:extLst>
      <p:ext uri="{BB962C8B-B14F-4D97-AF65-F5344CB8AC3E}">
        <p14:creationId xmlns:p14="http://schemas.microsoft.com/office/powerpoint/2010/main" val="1434612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D1500-90C3-484D-ACDA-3B641F4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3BA5F-8D29-4560-8348-72217560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62F44-EB2D-4E61-A44B-1AF4433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36EF3-B91A-4926-8936-64D6A5D9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aparecen los otros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3CA90-FA92-40B3-8748-FA76AF21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escena se amplía y también cambia la pregunta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288C0-B729-44EF-A3B6-2570D425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695325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4a5aa3d4745d1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5255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9ABA4-D00A-4503-B43F-BCF3F1C9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Padre, madre y consultante en una primera ampliación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35C58-DC69-44E5-A05A-78D6995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30289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2C729-0D79-4A26-BAC9-EA684EF9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PREGUNTAS DE 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2944B-CAD1-4F85-BB5F-2F661AA1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38375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mira a quién?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queda doblado?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¿Quién ocupa el centro?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9EFC5-EF2B-4DC9-88C4-962B401C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E3FBF-4176-4757-81C0-2E6664BB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2800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“Mamá, tú también tienes derecho a descansar.”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1A96C-0C2B-41B2-A733-B134C2CA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210AC-D6B2-49E6-8F1C-BC8AC2F9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2800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“Papá, tu lugar es el de adulto. Yo no soy tu pareja.”</a:t>
            </a:r>
          </a:p>
        </p:txBody>
      </p:sp>
    </p:spTree>
    <p:extLst>
      <p:ext uri="{BB962C8B-B14F-4D97-AF65-F5344CB8AC3E}">
        <p14:creationId xmlns:p14="http://schemas.microsoft.com/office/powerpoint/2010/main" val="12825989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B730B-A8A8-4860-9B5E-F32763C2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HALLAZGOS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59FBB-573C-4405-A5EA-D4D53B0A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CDB30-5A85-430A-BAD0-8723BE52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0426F-1986-43C5-9708-88ADC994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formulación aparece en sus palabras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B26A7-EC09-4AAD-A8F4-7F1A5C84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Cinco hallazgos que la consultante puede reconocer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164F8-4ECE-4482-9E9A-66F3E99E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09AED-12A1-4D62-B8F4-2EAB390B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90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Responsabilidad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381DC-8AE0-429F-90DC-0AAEA665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90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“Estoy cargando con todos”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9E745-F731-40D9-9C60-D3510FC9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66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A7CE8-EF96-40D1-94B0-22A39344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405E6-661C-404A-A8DB-8A53E424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52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Sufrimiento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21868-CE52-4E04-B726-3CC58C8E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52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“Me duele sostenerlo”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BF4BC-DC16-469B-A76B-E012CDD7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28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15E9E-9E86-4AB8-AA72-3C470103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F2FE9-80FD-4EF7-8E10-10B02B5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14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Placer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365D1-652B-4190-9DA0-B059D81E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“No me permito disfrutar”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3FB66-A0F6-4984-98CC-BC0BB2B8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90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2CFB0-D84A-4999-962F-1596951E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76895-51A0-4BC2-96C2-12629646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76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Descanso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9F4C6-48AB-45E8-933F-7CFA61CB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76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“También necesito parar”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A897C-5289-4EA7-BECE-9859DF9D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52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8AE08-B178-4528-942C-97171B29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08259-CE46-4914-A618-629CF66B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38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Lugar propio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EEA82-07D2-4AD4-B18A-6A55A47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38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“Puedo ser hija, no salvadora”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D9DD7-D174-49D4-804D-80B84009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9086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5433D-E472-4443-9CEC-A907DECC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teoría puede ordenar la experiencia. No tiene que hablar por la persona.</a:t>
            </a:r>
          </a:p>
        </p:txBody>
      </p:sp>
    </p:spTree>
    <p:extLst>
      <p:ext uri="{BB962C8B-B14F-4D97-AF65-F5344CB8AC3E}">
        <p14:creationId xmlns:p14="http://schemas.microsoft.com/office/powerpoint/2010/main" val="9527547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8DBDC-7E3C-4E7B-BC2F-748762D5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1 · SISTEMA COMPLETO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A9016-A4C3-4440-B6C3-78245A6C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79B25-0109-406B-A3CC-9ED82CE7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BC2EE-8353-485E-BED3-9EDE7B72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escena completa: una red de lealtades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99A93-4FB7-40E3-96B1-EB6EFEC6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El mapa permite ver simultáneamente dirección, distancia y tamaño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7650F-CAC5-412C-A040-035AA417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190625"/>
            <a:ext cx="11144250" cy="51435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22644d4d74d0f"/>
          <a:srcRect xmlns:a="http://schemas.openxmlformats.org/drawingml/2006/main" l="0" t="9387" r="0" b="9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238250"/>
            <a:ext cx="11049000" cy="504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F496D-96AD-4D24-B47F-92B6BD25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Escena completa exportada desde layout_caminos</a:t>
            </a:r>
          </a:p>
        </p:txBody>
      </p:sp>
    </p:spTree>
    <p:extLst>
      <p:ext uri="{BB962C8B-B14F-4D97-AF65-F5344CB8AC3E}">
        <p14:creationId xmlns:p14="http://schemas.microsoft.com/office/powerpoint/2010/main" val="2065751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A69ED-6F94-4BEE-B2DA-3F5F7ADA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75E25-067C-40CB-8703-211937FC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8DFFD-B404-49E3-B6A5-DB506615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3B712-C18D-470D-91A8-DFE1B831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Externalizar cambia la unidad de observación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3D1AC-7431-4862-A901-29590141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relación deja de ser solo un relato interno y se vuelve una configuración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F0D53-43A1-423F-97DB-3539BA2D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744A1-41D1-4C0F-8B97-70DC70FB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B6D04-EA88-4E65-9181-65FFCDDE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Separar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93F02-7493-41D6-9A17-A5BB149C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figura representa una relación sin ocupar el cuerpo de la consultante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AD030-200D-45B3-832B-8501C70D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241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58071-54CE-4070-9F6D-BAF66168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5E9FB-AB69-41A1-BA74-F85C7F34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B4DE8-C0F4-4875-963F-7E9C6798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Observar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B9AD7-69B2-4804-A09B-86048CEF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posición, la distancia y la orientación generan lenguaje descriptivo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EE323-9C73-4D91-8FE4-1D117AE7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FE940-8958-4578-B390-6ACA1117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24013-A8BF-4606-A1A2-B480E1A4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19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712DD-6BFD-4EF3-9E85-E8BA9674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Nombrar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98ECD-FC03-46B6-8472-491E8FF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persona encuentra una formulación propia y comprobable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26BB6-F664-4D1D-BF84-C1CDD1A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5CB81-6170-4759-BABA-6E73E04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796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9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“Primero se ve. Después se explica.”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DBA9E-2328-4F11-8D83-C1975D99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escena no sustituye la escucha ni la historia clínica.</a:t>
            </a:r>
          </a:p>
        </p:txBody>
      </p:sp>
    </p:spTree>
    <p:extLst>
      <p:ext uri="{BB962C8B-B14F-4D97-AF65-F5344CB8AC3E}">
        <p14:creationId xmlns:p14="http://schemas.microsoft.com/office/powerpoint/2010/main" val="6808990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bc87de76143a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7CFFA-6BBB-434E-ABD5-4699E5FF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43374-3CC9-40DB-89C0-BDC5AEE5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FBB0A-9E86-452B-A303-60D3483D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EC275-879A-42CD-BF56-90FAC881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distancia</a:t>
            </a:r>
          </a:p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que se puede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5A939-67E1-4E3B-8776-617BC44F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padre lejano, una emoción que aparece antes de la explicación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40862-AD1F-4F26-B6A7-17664C5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26E5F-41E8-48A0-9D50-923E4EA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Posición, tristeza y biografía</a:t>
            </a:r>
          </a:p>
        </p:txBody>
      </p:sp>
    </p:spTree>
    <p:extLst>
      <p:ext uri="{BB962C8B-B14F-4D97-AF65-F5344CB8AC3E}">
        <p14:creationId xmlns:p14="http://schemas.microsoft.com/office/powerpoint/2010/main" val="15804144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EF116-61F6-4F1F-BC2D-86E72A2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2 · DISTANCIA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27A8A-8EE2-4CF9-ABCF-99AB8741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8D0AF-4299-4048-8AA9-9728F4B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88102-BB1C-4F77-9E74-3C001BE1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Dos figuras y una separación significativa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C0834-7499-4F68-A86A-C2114D42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consultante observa antes de saber por qué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ED8F7-375A-4351-AB8D-3BBA1B84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6953250" cy="4572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fe40029124373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09700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F168F-6C73-4792-B74F-4097C8B7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Consultante y padre en posiciones alejadas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892C0-C489-43B6-85CC-5250B5C5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8C6C0-7C94-4FCF-9B50-DF3D967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“¿Cómo ves la posición?”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9FA8F-A970-4F37-AAD8-547E389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2E961-7BFD-4078-A2B1-60F687A5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“Dolorosa. Como forzada.”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84A68-FCFA-414A-82FB-DD73C668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2E5BF-4D57-4A8F-9665-E1B0697F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te llama la atención?”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1FC80-09A5-47F9-9B58-FFFA5EC2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C721A-33E4-4B58-AB9A-66C31EE1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720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“No lo miro. Está lejos.”</a:t>
            </a:r>
          </a:p>
        </p:txBody>
      </p:sp>
    </p:spTree>
    <p:extLst>
      <p:ext uri="{BB962C8B-B14F-4D97-AF65-F5344CB8AC3E}">
        <p14:creationId xmlns:p14="http://schemas.microsoft.com/office/powerpoint/2010/main" val="11867597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FA0F2-D886-4F0A-A55D-D9F07136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2 · SECUENCIA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6D075-2CEE-4376-A879-521F4AF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3AB60-E9C8-48C4-AEA1-C244681C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451D3-579A-4296-9579-A848E0BA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 la posición a la biografía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E6DFC-F80D-49CA-85F1-B29A063D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Cuatro preguntas mantienen el foco en lo que la escena revela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9C777-9434-4E98-97EC-B8DED7CC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C4990-0DDB-4AD0-B28B-77B00E95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25B29-1932-4D22-B484-5D2A1FC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9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Posición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B2809-B266-470E-BF5B-5B1C9282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036A9-270F-4F4B-865A-29A03A4B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0495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“¿Cómo ves la posición?”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1F99A-EACF-4C84-8DAE-AFFCE0C5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6ED65-9517-416C-B378-B740BFA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FEF9-A1DD-4DC3-A746-32A5DF74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Atención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5AA26-CD35-4EEA-9C1D-5FA8BA50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2412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70939-A6AF-498D-A59E-CD02ED0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05075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te llama la atención?”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4FAF7-977D-44C7-9BA7-8C95DE6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C0B31-46F2-45FE-AE1F-AD46220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03E7C-45FC-4535-B41D-EEF6EE0F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Emoción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2D896-421D-496C-817C-6739BE3E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E91F4-772A-449F-918D-D4C9D235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“¿Qué sientes?”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02C1C-C559-45E9-AD7D-25F2A08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EA7BD-6BC3-4C60-A840-6010EB4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5515C-04D5-497F-8041-AC12A724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Origen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A5554-2405-4602-AF75-3BF45585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EEDFC-5EC1-41B1-B96D-7104C2A1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05325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“¿De dónde surgirá?”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65768-A7DF-4776-B792-E18EA015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En el caso: tristeza → distancia → padre ausente por trabajo.</a:t>
            </a:r>
          </a:p>
        </p:txBody>
      </p:sp>
    </p:spTree>
    <p:extLst>
      <p:ext uri="{BB962C8B-B14F-4D97-AF65-F5344CB8AC3E}">
        <p14:creationId xmlns:p14="http://schemas.microsoft.com/office/powerpoint/2010/main" val="3454932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BBE0C-CA49-4C9D-A51B-3C486DB8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E9488-8CE3-4E27-9709-42355C40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0F857-30BB-406E-8327-ED4373A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C7968-D126-4F00-9DB4-8BB9D243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Distancia psicológica y regulación emocional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4590-C6E7-492B-80AA-FB012A99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Conexión con el Webinar 3: cambiar la posición cambia el punto de vista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7F1FE-21E1-4979-8CF7-2785BF4A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667250" cy="2743200"/>
          </a:xfrm>
          <a:prstGeom xmlns:a="http://schemas.openxmlformats.org/drawingml/2006/main" prst="roundRect">
            <a:avLst>
              <a:gd name="adj" fmla="val 1736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75EAE-06DD-4B98-8164-24C61A22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rPr>
              <a:t>HALLAZGO CITADO EN EL GUION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FC707-2CBA-4F04-94C1-D33E0D13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Moser, Dougherty, Mattson y colaboradores</a:t>
            </a:r>
          </a:p>
          <a:p xmlns:a="http://schemas.openxmlformats.org/drawingml/2006/main">
            <a:pPr algn="l">
              <a:def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(2017, Scientific Reports)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6A24-799E-483E-9593-E75D84E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El diálogo en tercera persona se estudió como una forma de distancia psicológica que facilita la regulación emocional sin exigir un esfuerzo consciente de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100BB-C930-45BD-9EEF-956A98E2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EN ESTA ESCENA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F6022-3FB1-4941-BE4E-8FD4B712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22B60-EB9F-472D-B7B0-6970FD52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Cuerpo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E3231-B175-4C37-8119-2CAC9743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9525" cy="2571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50491-82A5-4D04-8B56-F7509F83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D6F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9D8C4-8350-41EB-B09D-96B2B0DB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Figura del padre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3B046-0DB8-4009-A8AD-DC619FB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9525" cy="2571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DA855-97EC-4C8B-84B2-85BADF4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342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7898B-02BB-4D6E-AA66-3273FC5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290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Relato propio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7BB9B-FAE4-4EB9-BCD0-B4BC1B2A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2EB62-6623-4ED7-BE16-9391E1B8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33950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“La tristeza aparece antes de que la mente tenga tiempo de explicarla.”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81B82-71E1-4D09-9F63-C23D75F6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531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Fuente completa en las notas del presentador.</a:t>
            </a:r>
          </a:p>
        </p:txBody>
      </p:sp>
    </p:spTree>
    <p:extLst>
      <p:ext uri="{BB962C8B-B14F-4D97-AF65-F5344CB8AC3E}">
        <p14:creationId xmlns:p14="http://schemas.microsoft.com/office/powerpoint/2010/main" val="12963809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446a4098349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81EE4-1432-45FA-B706-5618DA2D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4E2F-82F3-4F98-95CE-FCBA6A51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6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03D07-A402-46F2-8BE2-0014FB40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CASO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6D5E1-A760-4ED5-9E52-BC6518E4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Cuando la figura</a:t>
            </a:r>
          </a:p>
          <a:p xmlns:a="http://schemas.openxmlformats.org/drawingml/2006/main">
            <a:pPr algn="l">
              <a:def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se levanta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239BA-31A0-4C46-84EC-C598D2A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Postura, gesto y una decisión que encuentra autoridad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F8255-94D1-429C-AA31-B3CF2C3F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74A33-49FA-4CBF-8D42-4BCD54B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El cambio se comprueba en el cuerpo</a:t>
            </a:r>
          </a:p>
        </p:txBody>
      </p:sp>
    </p:spTree>
    <p:extLst>
      <p:ext uri="{BB962C8B-B14F-4D97-AF65-F5344CB8AC3E}">
        <p14:creationId xmlns:p14="http://schemas.microsoft.com/office/powerpoint/2010/main" val="19401870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FD5F0-712C-46D2-A2A9-D3A39FFF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3 · POSTURA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86D0E-63D9-4ACE-B2CC-8FBB12D8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25165-D6B1-4D4B-A21C-A3647A34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264EB-D4D9-4D31-B3D7-85B1F665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Antes y después de una sola acción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AEE6B-9178-4BFD-A4A1-6A442440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hombre de 62 años mueve su propia figura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56D9F-089F-4FB9-ADAF-D3FEE578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857750" cy="352425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21094935f4d95"/>
          <a:srcRect xmlns:a="http://schemas.openxmlformats.org/drawingml/2006/main" l="10938" t="0" r="10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47625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7CC9C-3A1F-452A-A460-EE672D54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Antes: boca abajo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4B52E-627D-4EE1-A921-876C3D1B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857750" cy="352425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FBF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af84a1230487b"/>
          <a:srcRect xmlns:a="http://schemas.openxmlformats.org/drawingml/2006/main" l="10938" t="0" r="10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19250"/>
            <a:ext cx="4762500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6A8BB-D533-4764-B4EF-F350BD3A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Después: de pie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97D12-D6BE-4221-917F-E9D4B9C8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095375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18A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AA57A-D23D-4D0E-B45F-D63544FB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LEVANTAR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1FBC2-5C73-4E77-B3A2-92FB652F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D9B8A-FFCE-4352-B0ED-030B8220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00700"/>
            <a:ext cx="701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72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“Necesito volver a levantarme.”</a:t>
            </a:r>
          </a:p>
        </p:txBody>
      </p:sp>
    </p:spTree>
    <p:extLst>
      <p:ext uri="{BB962C8B-B14F-4D97-AF65-F5344CB8AC3E}">
        <p14:creationId xmlns:p14="http://schemas.microsoft.com/office/powerpoint/2010/main" val="14934363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BDFBA-AC6F-40DE-8B93-B725D50F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PUENTE TEÓRICO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6DD0F-3CCD-4C3D-A168-0F79B072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A8322-E1BE-4C53-803E-335D2AC5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A45EF-EAD5-4BA4-8893-0801861E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El gesto también hace trabajo cognitivo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FABF0-3BB8-413E-A42A-5BFF326B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Mover las manos no es solo acompañar una idea: puede ayudar a sostenerla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DE986-7597-4829-84AC-51909369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095750" cy="2857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9C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1C2EA-C15D-4070-8A5F-BFC15558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HALLAZGO CITADO EN EL GUION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209BC-B2CC-499B-B529-900A33D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Goldin-Meadow, Nusbaum, Kelly y Wagner</a:t>
            </a:r>
          </a:p>
          <a:p xmlns:a="http://schemas.openxmlformats.org/drawingml/2006/main">
            <a:pPr algn="l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(2001, Psychological Science)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D2B03-F33D-4EE7-B67C-812574F3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En tareas de explicación y memoria, el gesto se relacionó con una menor carga de procesamiento. El guion lo usa como puente para comprender el movimiento de la figura.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01B36-35AF-4023-B6C4-C76FE6CE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MOVIMIENTO → ORGANIZACIÓN → DECISIÓN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5D66E-3ACF-4D08-BA25-C9437F5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60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B4A40-D703-4B81-8AB9-260B39A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48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figura cae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9DC25-C43E-4CB2-9A94-9E0851A1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B669C-8F1A-4AB4-A9F5-8AD5078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052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mano la levanta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6BA15-DB8E-44C1-9305-97002EF2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B46C4-1492-4763-BD51-FF292AE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El cuerpo verifica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395F5-225F-42EC-BCAA-B28BE80C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87630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40A9F-8B30-4DA3-861B-9ADB8E03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80010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AD797-B739-4A26-9B86-D53D2929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5B8E4-E8F1-4A7E-86D8-87273507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14950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1575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“Tú mismo eres la autoridad que puede levantarte.”</a:t>
            </a:r>
          </a:p>
        </p:txBody>
      </p:sp>
    </p:spTree>
    <p:extLst>
      <p:ext uri="{BB962C8B-B14F-4D97-AF65-F5344CB8AC3E}">
        <p14:creationId xmlns:p14="http://schemas.microsoft.com/office/powerpoint/2010/main" val="9351711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F2D9B-80A5-4591-AE12-C56EED3C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CASO 3 · FRASE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370DC-DCD7-4B01-9F96-177C28EB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72FBB-9EF6-4CCA-8F39-BF7CC23C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B2459-11E3-4EA9-903A-56388E9A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frase que devuelve autoridad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4E31D-CA6A-46F0-A30F-5C2EAF6A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intervención acompaña el movimiento sin apropiarse de la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A4DF8-35F0-47B7-AFC2-E8770D5A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figura se levanta porque el consultante la mueve.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A6663-7E52-45EA-85DB-E10F5D15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9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956AD-E480-4506-B105-76F3CD1C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9105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0" i="1">
                <a:solidFill>
                  <a:srgbClr val="2B1B11"/>
                </a:solidFill>
                <a:latin typeface="Georgia"/>
                <a:ea typeface="Georgia"/>
                <a:cs typeface="Georgia"/>
              </a:defRPr>
            </a:pPr>
            <a:r>
              <a:rPr sz="2400" b="0" i="1">
                <a:solidFill>
                  <a:srgbClr val="2B1B11"/>
                </a:solidFill>
                <a:latin typeface="Georgia"/>
                <a:ea typeface="Georgia"/>
                <a:cs typeface="Georgia"/>
              </a:rPr>
              <a:t>“Tú mismo eres la autoridad que puede levantarte.”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5D28E-E36E-40DA-983A-810FE640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E6EAB-6D83-4ABE-BC58-AFE37C6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frase hace tres cosas: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8C569-5552-4A3B-88E3-6E665473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Devuelve agencia a la persona</a:t>
            </a:r>
          </a:p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Nombra lo que ya ocurrió</a:t>
            </a:r>
          </a:p>
          <a:p xmlns:a="http://schemas.openxmlformats.org/drawingml/2006/main">
            <a:pPr algn="l">
              <a:def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3B3630"/>
                </a:solidFill>
                <a:latin typeface="Helvetica Neue"/>
                <a:ea typeface="Helvetica Neue"/>
                <a:cs typeface="Helvetica Neue"/>
              </a:rPr>
              <a:t>Deja la decisión en sus manos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68289-6D4D-44D8-85CD-57A168D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Frase terapéutica fuera del layout: se proyecta como texto, no se fuerza dentro de una escena.</a:t>
            </a:r>
          </a:p>
        </p:txBody>
      </p:sp>
    </p:spTree>
    <p:extLst>
      <p:ext uri="{BB962C8B-B14F-4D97-AF65-F5344CB8AC3E}">
        <p14:creationId xmlns:p14="http://schemas.microsoft.com/office/powerpoint/2010/main" val="17502261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9F6DC-ECA7-40EB-9863-5A17AE22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12602-EB73-4F51-BEAF-2573E4BD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7FB23-844E-45F8-B6FF-8BE05065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768CF-8EFE-49F4-B69F-602E98AD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Saber mirar antes de explicar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41D4B-054B-48FD-B574-FFA6DE9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Los tres casos sostienen la misma disciplina clínica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26753-4B78-4D56-A248-C9599A1D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imagen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D8AEE-6AAE-4792-A945-2561CCA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24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0FDA0-21EE-42E6-A632-3ABDF497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33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muestra una relación o una postura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F548A-7CAD-40AE-842A-E950DA40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3D6FB4"/>
                </a:solidFill>
                <a:latin typeface="Helvetica Neue"/>
                <a:ea typeface="Helvetica Neue"/>
                <a:cs typeface="Helvetica Neue"/>
              </a:rPr>
              <a:t>La pregunta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33FB9-3961-4C93-9E5E-7FC93D3A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67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6304E-E59E-4FF9-9ABA-4897FE7A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76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deja que la persona describa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7B313-56CD-4337-B150-7374857A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La teoría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AECF0-CD7E-4062-8DD9-A6F0E412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0075"/>
            <a:ext cx="1047750" cy="95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CF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4508A-E99D-4995-B9CA-5D6F3B0A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95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ordena sin reemplazar la experiencia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4EE3A-C9B7-4C27-BDA9-C30B2E8D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9715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7FDAB-2635-4B24-9671-7CC1432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626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La herramienta abre un diálogo. La historia clínica sigue siendo indispensable.</a:t>
            </a:r>
          </a:p>
        </p:txBody>
      </p:sp>
    </p:spTree>
    <p:extLst>
      <p:ext uri="{BB962C8B-B14F-4D97-AF65-F5344CB8AC3E}">
        <p14:creationId xmlns:p14="http://schemas.microsoft.com/office/powerpoint/2010/main" val="18458875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E717F8-B3DC-4A49-8C18-3FF5235D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SÍNTESIS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AF62D-B7F9-4521-8168-088C5C8A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4B807-6470-4EF7-BB00-22DFF3D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56BA0-B69D-4166-9491-3DE1A06A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La secuencia de intervención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6A149-6AD9-47C4-AF4C-B7D2C88E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Un protocolo visual breve para sostener la conversación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B08B1-8DF8-40B4-B55A-D308A8D5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B1F93-74BA-4DDE-BE19-5DBA547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149AE-6461-4F46-9558-0A4346B2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Colocar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97466-E72D-4853-B25F-97657981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Quién y dónde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F6BBF-0A91-42B6-B068-342AB2D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616A3-7D22-434A-B189-CBE3744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05980-14DE-496D-8952-2F6F4559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Observar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2C44B-8792-40CE-86FD-546385A1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destaca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824B9-8285-444D-BF75-AE74FFF9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387FC-9D59-4B3C-805C-D92DCE9E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95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C5671-EF49-49EC-A632-474F2FCD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AAE8F-B0DB-4E6F-90F4-F0B350ED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siente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DA09A-59D3-4E3F-99D8-B4C32A29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9F1FD-2094-4287-821C-08FCE97E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D0A01-7061-4D8F-8CA0-459AA78B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Profundizar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8A210-C5C0-4ED3-8853-CF9B7763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De dónde surge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2D072-D658-41E9-9CF0-FD6481C7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C91FB-227D-4E1A-A139-71FC8AD9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02597-D60A-40B5-9F91-11B8BEBE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0A13B-4FCC-468F-8EA6-D0687D75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cambia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83E0E-1B81-455E-9899-04BABAF8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048000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E3EBDD"/>
          </a:solidFill>
          <a:ln xmlns:a="http://schemas.openxmlformats.org/drawingml/2006/main" w="9525">
            <a:solidFill>
              <a:srgbClr val="62796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F3414-C89F-439C-951D-5A244D83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93F16-4A60-49AF-8398-600C219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Verificar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55916-023B-423F-AA41-68E6787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Qué reconoce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AE820-8639-4B85-8293-2F81A741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La secuencia es editable y puede convertirse en una diapositiva de apoyo durante Zoom.</a:t>
            </a:r>
          </a:p>
        </p:txBody>
      </p:sp>
    </p:spTree>
    <p:extLst>
      <p:ext uri="{BB962C8B-B14F-4D97-AF65-F5344CB8AC3E}">
        <p14:creationId xmlns:p14="http://schemas.microsoft.com/office/powerpoint/2010/main" val="19157071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310BC-D3B1-4338-9DA6-161AE049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LÍMITES Y ENCUADRE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9EF57-AABE-4A58-92B1-7F4C085E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45427-DACA-4C17-884B-E8C2EE0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73DDC-54A6-4E2F-88E2-72780100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Límites de uso y encuadre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B610B-03E6-44BE-9B2C-E4080B1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herramienta necesita condiciones de seguridad y criterio clínico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44278-D1E5-4A2A-83C9-E48EA778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NO 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FF172-86B2-47FA-AF97-74A819DF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 sustituto de la escucha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prueba diagnóstica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Una interpretación automática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F0E75-C776-4888-BCE4-D335B88F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2796A"/>
                </a:solidFill>
                <a:latin typeface="Helvetica Neue"/>
                <a:ea typeface="Helvetica Neue"/>
                <a:cs typeface="Helvetica Neue"/>
              </a:rPr>
              <a:t>REQUIERE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F869E-CEFB-4602-A8E5-5A3FA390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Encuadre claro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Historia y contexto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Capacidad de regulación</a:t>
            </a:r>
          </a:p>
          <a:p xmlns:a="http://schemas.openxmlformats.org/drawingml/2006/main">
            <a:pPr algn="l">
              <a:def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Criterio profesional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EC87D-93FB-4090-889B-4985D5B8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9906000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0DED5"/>
          </a:solidFill>
          <a:ln xmlns:a="http://schemas.openxmlformats.org/drawingml/2006/main" w="9525">
            <a:solidFill>
              <a:srgbClr val="B5604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5D1F8-9193-4DE4-8AF6-14EA3DCD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No usar como intervención improvisada en psicosis activa o descompensación, duelo agudo reciente, cuadros disociativos o crisis con riesgo.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35ACE-CB33-473F-ACA4-644E9AAB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Consulta el programa del taller para el encuadre completo.</a:t>
            </a:r>
          </a:p>
        </p:txBody>
      </p:sp>
    </p:spTree>
    <p:extLst>
      <p:ext uri="{BB962C8B-B14F-4D97-AF65-F5344CB8AC3E}">
        <p14:creationId xmlns:p14="http://schemas.microsoft.com/office/powerpoint/2010/main" val="14185020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6B48B-F528-474C-9215-3EA75D50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370FF-F63C-42C1-96F4-2313D6E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F8671-0E95-449A-BB1D-964A62E1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8A43E-0226-41C6-BF1C-CBD4971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Módulo 1 empieza mañana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F61F6-01A4-402E-B60D-44E18FF8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práctica continúa con dos clases intensivas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22AD9-B1C2-42F4-88DF-BC9568A8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76250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FD0A0-C8DE-4D12-B3A7-A45BD281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MÓDULO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67A96-11C9-4B1F-8015-22C4EC3E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Los cuatro caminos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BBA48-CD3A-409B-B3FF-BE1A191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5 y 19 de septiembre</a:t>
            </a:r>
          </a:p>
          <a:p xmlns:a="http://schemas.openxmlformats.org/drawingml/2006/main">
            <a:pPr algn="ctr">
              <a:def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E7D8"/>
                </a:solidFill>
                <a:latin typeface="Helvetica Neue"/>
                <a:ea typeface="Helvetica Neue"/>
                <a:cs typeface="Helvetica Neue"/>
              </a:rPr>
              <a:t>10:00 a 18:00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970C2-2B0D-4FB1-A349-5279EA19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Para terapeutas y profesionales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F298A-B59B-4934-9B5D-D99291DC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Trabajo práctico con figuras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Lectura de posiciones y relaciones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Preguntas que abren relato</a:t>
            </a:r>
          </a:p>
          <a:p xmlns:a="http://schemas.openxmlformats.org/drawingml/2006/main">
            <a:pPr algn="l">
              <a:def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Criterio de encuadre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FF71A-E147-4468-8EEF-AB0CAC1A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36BB7-457E-410D-9C78-ED58EEF5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B5604A"/>
                </a:solidFill>
                <a:latin typeface="Helvetica Neue"/>
                <a:ea typeface="Helvetica Neue"/>
                <a:cs typeface="Helvetica Neue"/>
              </a:rPr>
              <a:t>La imagen puede preceder a la explicación.</a:t>
            </a:r>
          </a:p>
        </p:txBody>
      </p:sp>
    </p:spTree>
    <p:extLst>
      <p:ext uri="{BB962C8B-B14F-4D97-AF65-F5344CB8AC3E}">
        <p14:creationId xmlns:p14="http://schemas.microsoft.com/office/powerpoint/2010/main" val="10308017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67FF0-66D3-4526-927B-A7E4BC1E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WEBINAR 4  · 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01573-4A51-454E-A097-126620B5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B4005-A4EE-4E42-A3CE-B2779757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D9CFB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B8E6E-E3FA-4D51-953B-BAF0C422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Preguntas y fuentes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A10BE-AF22-470C-8379-19CBC452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Abrimos conversación sobre el método, el encuadre y los casos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865D2-844F-4633-ADF2-4A990425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¿Qué parte de una escena te resultó más difícil de leer?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8C48C-F738-4775-A653-B6EAA09A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FUENTES DEL GUIÓN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B40B0-C7AF-45CB-BB3A-ECE44E76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238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Sesion_Comentada_Responsabilidad_Heredada.md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Transcripciones/Terapia_Munecos_Mod1_Cap1.json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Transcripciones/Terapia_Munecos_Mod1_Cap3.json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Guion_Teleprompter_Webinar3.md, bloque teórico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• Programa_Taller_Dos_Clases.md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0C5FE-61D3-4E09-8DFF-906B35D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Moser et al. (2017), Scientific Reports 7:4519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Goldin-Meadow et al. (2001), Psychological Science 12(6)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Margaret Lowenfeld Trust, “The World Technique”</a:t>
            </a:r>
          </a:p>
          <a:p xmlns:a="http://schemas.openxmlformats.org/drawingml/2006/main">
            <a:pPr algn="l">
              <a:def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https://lowenfeld.org/the-world-technique/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B12E1-8107-4381-993C-93460F43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7200E-F5F2-4140-B7D5-6DD8B2AB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Gracias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73812-3EBB-47F3-868D-34EC419D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56C62"/>
                </a:solidFill>
                <a:latin typeface="Helvetica Neue"/>
                <a:ea typeface="Helvetica Neue"/>
                <a:cs typeface="Helvetica Neue"/>
              </a:rPr>
              <a:t>Dr. Miguel Ojeda Rios · Instituto Centrobioenergética</a:t>
            </a:r>
          </a:p>
        </p:txBody>
      </p:sp>
    </p:spTree>
    <p:extLst>
      <p:ext uri="{BB962C8B-B14F-4D97-AF65-F5344CB8AC3E}">
        <p14:creationId xmlns:p14="http://schemas.microsoft.com/office/powerpoint/2010/main" val="756963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2026-09-04T22:34:38.0330000Z</dcterms:created>
  <dcterms:modified xsi:type="dcterms:W3CDTF">2026-09-04T22:34:38.0330000Z</dcterms:modified>
</coreProperties>
</file>