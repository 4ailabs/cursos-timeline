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a4b769e5c940f6" /><Relationship Type="http://schemas.openxmlformats.org/officeDocument/2006/relationships/extended-properties" Target="/docProps/app.xml" Id="R7bcccc1439ef48b8" /><Relationship Type="http://schemas.openxmlformats.org/officeDocument/2006/relationships/officeDocument" Target="/ppt/presentation.xml" Id="R8d2b5b6dbe71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3af09109a4dcd"/>
  </p:sldMasterIdLst>
  <p:notesMasterIdLst>
    <p:notesMasterId xmlns:r="http://schemas.openxmlformats.org/officeDocument/2006/relationships" r:id="Rfca9903dfd6648ae"/>
  </p:notesMasterIdLst>
  <p:sldIdLst>
    <p:sldId xmlns:r="http://schemas.openxmlformats.org/officeDocument/2006/relationships" id="256" r:id="R3f5680e4848f4022"/>
    <p:sldId xmlns:r="http://schemas.openxmlformats.org/officeDocument/2006/relationships" id="257" r:id="R3d35fae7601644e6"/>
    <p:sldId xmlns:r="http://schemas.openxmlformats.org/officeDocument/2006/relationships" id="258" r:id="R180a906c8c4c4e35"/>
    <p:sldId xmlns:r="http://schemas.openxmlformats.org/officeDocument/2006/relationships" id="259" r:id="R312ff511c76f4215"/>
    <p:sldId xmlns:r="http://schemas.openxmlformats.org/officeDocument/2006/relationships" id="260" r:id="Rf439c0e89e0d4065"/>
    <p:sldId xmlns:r="http://schemas.openxmlformats.org/officeDocument/2006/relationships" id="261" r:id="R9c7888d530914761"/>
    <p:sldId xmlns:r="http://schemas.openxmlformats.org/officeDocument/2006/relationships" id="262" r:id="R6ab85b2e79864d1e"/>
    <p:sldId xmlns:r="http://schemas.openxmlformats.org/officeDocument/2006/relationships" id="263" r:id="Rbb9ba5dc3b924069"/>
    <p:sldId xmlns:r="http://schemas.openxmlformats.org/officeDocument/2006/relationships" id="264" r:id="R6ae048f0e46749a3"/>
    <p:sldId xmlns:r="http://schemas.openxmlformats.org/officeDocument/2006/relationships" id="265" r:id="Rf94d043d6ea04703"/>
    <p:sldId xmlns:r="http://schemas.openxmlformats.org/officeDocument/2006/relationships" id="266" r:id="Ra3bff5b59d724ef5"/>
    <p:sldId xmlns:r="http://schemas.openxmlformats.org/officeDocument/2006/relationships" id="267" r:id="R66c335f6575e44ff"/>
    <p:sldId xmlns:r="http://schemas.openxmlformats.org/officeDocument/2006/relationships" id="268" r:id="R5f03aa4b9de5474c"/>
    <p:sldId xmlns:r="http://schemas.openxmlformats.org/officeDocument/2006/relationships" id="269" r:id="Rcb04f63107c64dca"/>
    <p:sldId xmlns:r="http://schemas.openxmlformats.org/officeDocument/2006/relationships" id="270" r:id="R75f118f2bf224ef7"/>
    <p:sldId xmlns:r="http://schemas.openxmlformats.org/officeDocument/2006/relationships" id="271" r:id="Raa1e458eab294f3c"/>
    <p:sldId xmlns:r="http://schemas.openxmlformats.org/officeDocument/2006/relationships" id="272" r:id="R63af0a99ebb1462f"/>
    <p:sldId xmlns:r="http://schemas.openxmlformats.org/officeDocument/2006/relationships" id="273" r:id="R6c5cdc24585642e2"/>
    <p:sldId xmlns:r="http://schemas.openxmlformats.org/officeDocument/2006/relationships" id="274" r:id="R3958cafc4a16410a"/>
    <p:sldId xmlns:r="http://schemas.openxmlformats.org/officeDocument/2006/relationships" id="275" r:id="Rb82735a042b14620"/>
    <p:sldId xmlns:r="http://schemas.openxmlformats.org/officeDocument/2006/relationships" id="276" r:id="R1a2ad53c41c84a0d"/>
    <p:sldId xmlns:r="http://schemas.openxmlformats.org/officeDocument/2006/relationships" id="277" r:id="Rd1bac25b406e4d57"/>
    <p:sldId xmlns:r="http://schemas.openxmlformats.org/officeDocument/2006/relationships" id="278" r:id="R96869fe787924334"/>
    <p:sldId xmlns:r="http://schemas.openxmlformats.org/officeDocument/2006/relationships" id="279" r:id="Re37588846c664e3f"/>
    <p:sldId xmlns:r="http://schemas.openxmlformats.org/officeDocument/2006/relationships" id="280" r:id="R46daefe527844e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3de31f135f4094" /><Relationship Type="http://schemas.openxmlformats.org/officeDocument/2006/relationships/slideMaster" Target="/ppt/slideMasters/slideMaster1.xml" Id="R8593af09109a4dcd" /><Relationship Type="http://schemas.openxmlformats.org/officeDocument/2006/relationships/notesMaster" Target="/ppt/notesMasters/notesMaster1.xml" Id="Rfca9903dfd6648ae" /><Relationship Type="http://schemas.openxmlformats.org/officeDocument/2006/relationships/presProps" Target="/ppt/presProps.xml" Id="R058d9e9afa0b48ab" /><Relationship Type="http://schemas.openxmlformats.org/officeDocument/2006/relationships/tableStyles" Target="/ppt/tableStyles.xml" Id="Rd2b64e945d244273" /><Relationship Type="http://schemas.openxmlformats.org/officeDocument/2006/relationships/slide" Target="/ppt/slides/slide1.xml" Id="R3f5680e4848f4022" /><Relationship Type="http://schemas.openxmlformats.org/officeDocument/2006/relationships/slide" Target="/ppt/slides/slide2.xml" Id="R3d35fae7601644e6" /><Relationship Type="http://schemas.openxmlformats.org/officeDocument/2006/relationships/slide" Target="/ppt/slides/slide3.xml" Id="R180a906c8c4c4e35" /><Relationship Type="http://schemas.openxmlformats.org/officeDocument/2006/relationships/slide" Target="/ppt/slides/slide4.xml" Id="R312ff511c76f4215" /><Relationship Type="http://schemas.openxmlformats.org/officeDocument/2006/relationships/slide" Target="/ppt/slides/slide5.xml" Id="Rf439c0e89e0d4065" /><Relationship Type="http://schemas.openxmlformats.org/officeDocument/2006/relationships/slide" Target="/ppt/slides/slide6.xml" Id="R9c7888d530914761" /><Relationship Type="http://schemas.openxmlformats.org/officeDocument/2006/relationships/slide" Target="/ppt/slides/slide7.xml" Id="R6ab85b2e79864d1e" /><Relationship Type="http://schemas.openxmlformats.org/officeDocument/2006/relationships/slide" Target="/ppt/slides/slide8.xml" Id="Rbb9ba5dc3b924069" /><Relationship Type="http://schemas.openxmlformats.org/officeDocument/2006/relationships/slide" Target="/ppt/slides/slide9.xml" Id="R6ae048f0e46749a3" /><Relationship Type="http://schemas.openxmlformats.org/officeDocument/2006/relationships/slide" Target="/ppt/slides/slide10.xml" Id="Rf94d043d6ea04703" /><Relationship Type="http://schemas.openxmlformats.org/officeDocument/2006/relationships/slide" Target="/ppt/slides/slide11.xml" Id="Ra3bff5b59d724ef5" /><Relationship Type="http://schemas.openxmlformats.org/officeDocument/2006/relationships/slide" Target="/ppt/slides/slide12.xml" Id="R66c335f6575e44ff" /><Relationship Type="http://schemas.openxmlformats.org/officeDocument/2006/relationships/slide" Target="/ppt/slides/slide13.xml" Id="R5f03aa4b9de5474c" /><Relationship Type="http://schemas.openxmlformats.org/officeDocument/2006/relationships/slide" Target="/ppt/slides/slide14.xml" Id="Rcb04f63107c64dca" /><Relationship Type="http://schemas.openxmlformats.org/officeDocument/2006/relationships/slide" Target="/ppt/slides/slide15.xml" Id="R75f118f2bf224ef7" /><Relationship Type="http://schemas.openxmlformats.org/officeDocument/2006/relationships/slide" Target="/ppt/slides/slide16.xml" Id="Raa1e458eab294f3c" /><Relationship Type="http://schemas.openxmlformats.org/officeDocument/2006/relationships/slide" Target="/ppt/slides/slide17.xml" Id="R63af0a99ebb1462f" /><Relationship Type="http://schemas.openxmlformats.org/officeDocument/2006/relationships/slide" Target="/ppt/slides/slide18.xml" Id="R6c5cdc24585642e2" /><Relationship Type="http://schemas.openxmlformats.org/officeDocument/2006/relationships/slide" Target="/ppt/slides/slide19.xml" Id="R3958cafc4a16410a" /><Relationship Type="http://schemas.openxmlformats.org/officeDocument/2006/relationships/slide" Target="/ppt/slides/slide20.xml" Id="Rb82735a042b14620" /><Relationship Type="http://schemas.openxmlformats.org/officeDocument/2006/relationships/slide" Target="/ppt/slides/slide21.xml" Id="R1a2ad53c41c84a0d" /><Relationship Type="http://schemas.openxmlformats.org/officeDocument/2006/relationships/slide" Target="/ppt/slides/slide22.xml" Id="Rd1bac25b406e4d57" /><Relationship Type="http://schemas.openxmlformats.org/officeDocument/2006/relationships/slide" Target="/ppt/slides/slide23.xml" Id="R96869fe787924334" /><Relationship Type="http://schemas.openxmlformats.org/officeDocument/2006/relationships/slide" Target="/ppt/slides/slide24.xml" Id="Re37588846c664e3f" /><Relationship Type="http://schemas.openxmlformats.org/officeDocument/2006/relationships/slide" Target="/ppt/slides/slide25.xml" Id="R46daefe52784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268384e09b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93cfde5a047d1" /><Relationship Type="http://schemas.openxmlformats.org/officeDocument/2006/relationships/notesMaster" Target="/ppt/notesMasters/notesMaster1.xml" Id="Rb45f73fd15f540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cdb9d59b241bc" /><Relationship Type="http://schemas.openxmlformats.org/officeDocument/2006/relationships/notesMaster" Target="/ppt/notesMasters/notesMaster1.xml" Id="Ra3373a684728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640adc65854d70" /><Relationship Type="http://schemas.openxmlformats.org/officeDocument/2006/relationships/notesMaster" Target="/ppt/notesMasters/notesMaster1.xml" Id="Rea0acd14e6d642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59de3b5c54283" /><Relationship Type="http://schemas.openxmlformats.org/officeDocument/2006/relationships/notesMaster" Target="/ppt/notesMasters/notesMaster1.xml" Id="Rba44f90cd0ad49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3eedf45eb4c3c" /><Relationship Type="http://schemas.openxmlformats.org/officeDocument/2006/relationships/notesMaster" Target="/ppt/notesMasters/notesMaster1.xml" Id="Rc055f827b54841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5a01242b234def" /><Relationship Type="http://schemas.openxmlformats.org/officeDocument/2006/relationships/notesMaster" Target="/ppt/notesMasters/notesMaster1.xml" Id="Re8f60e2d23284e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b32cb6160a4047" /><Relationship Type="http://schemas.openxmlformats.org/officeDocument/2006/relationships/notesMaster" Target="/ppt/notesMasters/notesMaster1.xml" Id="R5c227347bfb241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187aa8772447d2" /><Relationship Type="http://schemas.openxmlformats.org/officeDocument/2006/relationships/notesMaster" Target="/ppt/notesMasters/notesMaster1.xml" Id="Rf515731b35e043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d3ce9ef35c43ea" /><Relationship Type="http://schemas.openxmlformats.org/officeDocument/2006/relationships/notesMaster" Target="/ppt/notesMasters/notesMaster1.xml" Id="Re24c3dc05835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ca5a4e56d04369" /><Relationship Type="http://schemas.openxmlformats.org/officeDocument/2006/relationships/notesMaster" Target="/ppt/notesMasters/notesMaster1.xml" Id="R7f198b939d4f49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7f088aea604309" /><Relationship Type="http://schemas.openxmlformats.org/officeDocument/2006/relationships/notesMaster" Target="/ppt/notesMasters/notesMaster1.xml" Id="R505d9e4c726b47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5b5e0cd5043b4" /><Relationship Type="http://schemas.openxmlformats.org/officeDocument/2006/relationships/notesMaster" Target="/ppt/notesMasters/notesMaster1.xml" Id="R0e698c48539948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ea7eebf70b4753" /><Relationship Type="http://schemas.openxmlformats.org/officeDocument/2006/relationships/notesMaster" Target="/ppt/notesMasters/notesMaster1.xml" Id="Rc8d4318890f74e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6b8d7f19ae4ceb" /><Relationship Type="http://schemas.openxmlformats.org/officeDocument/2006/relationships/notesMaster" Target="/ppt/notesMasters/notesMaster1.xml" Id="Rd5f9dea56ffc4a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aaca96bcb14d8e" /><Relationship Type="http://schemas.openxmlformats.org/officeDocument/2006/relationships/notesMaster" Target="/ppt/notesMasters/notesMaster1.xml" Id="R4b6f529b2baa4d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f59ae241a34919" /><Relationship Type="http://schemas.openxmlformats.org/officeDocument/2006/relationships/notesMaster" Target="/ppt/notesMasters/notesMaster1.xml" Id="Ra371ee0f5c464a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72cfce83f84b83" /><Relationship Type="http://schemas.openxmlformats.org/officeDocument/2006/relationships/notesMaster" Target="/ppt/notesMasters/notesMaster1.xml" Id="R793f4f203c2341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d818266b1248e5" /><Relationship Type="http://schemas.openxmlformats.org/officeDocument/2006/relationships/notesMaster" Target="/ppt/notesMasters/notesMaster1.xml" Id="R761e1d26b64246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796e0b0ebf4f02" /><Relationship Type="http://schemas.openxmlformats.org/officeDocument/2006/relationships/notesMaster" Target="/ppt/notesMasters/notesMaster1.xml" Id="R2b49bcaa98d446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e7e1d25d684a5b" /><Relationship Type="http://schemas.openxmlformats.org/officeDocument/2006/relationships/notesMaster" Target="/ppt/notesMasters/notesMaster1.xml" Id="R80ff64934c6e41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8cfbcd79614737" /><Relationship Type="http://schemas.openxmlformats.org/officeDocument/2006/relationships/notesMaster" Target="/ppt/notesMasters/notesMaster1.xml" Id="R15e778bbdd3046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44e474a76d4f93" /><Relationship Type="http://schemas.openxmlformats.org/officeDocument/2006/relationships/notesMaster" Target="/ppt/notesMasters/notesMaster1.xml" Id="Rd31a7b2699994e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b6d0ac52e24095" /><Relationship Type="http://schemas.openxmlformats.org/officeDocument/2006/relationships/notesMaster" Target="/ppt/notesMasters/notesMaster1.xml" Id="Rcfae3ab7148044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ad6bb13de64b09" /><Relationship Type="http://schemas.openxmlformats.org/officeDocument/2006/relationships/notesMaster" Target="/ppt/notesMasters/notesMaster1.xml" Id="Rd41358ee439f47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27fcd6800a4956" /><Relationship Type="http://schemas.openxmlformats.org/officeDocument/2006/relationships/notesMaster" Target="/ppt/notesMasters/notesMaster1.xml" Id="R0431fc2e6c29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Apertura. Presenta la clase como una demostración observacional: veremos primero la escena, luego la pregunta y por último el puente teórico. La portada usa una imagen editorial generada a partir del estilo visual aprobado.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 que los nombres y detalles identificables se han omitido. La clase muestra una forma de observar y preguntar; no convierte una escena en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los tres mecanismos como hipótesis de trabajo que luego se verán en casos concretos. La teoría entra después de la experiencia, no como una explicación que tape la observación.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ritmo de la sesión para Zoom. Anticipa que habrá momentos de silencio y preguntas al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primer caso y pide al grupo que observe el bloqueo sin interpretar todavía.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tomados del guion y de la sesión comentada. Mantén el caso anonimizado y evita convertir el dolor de tobillo en una interpretación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 la pregunta exacta y deja tiempo para respuestas. En la sesión, la consultante señala la orientación de las figuras hacia ella. Ese dato abre la exploración.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Frases de trabajo del caso. Marca que no se trata de repetir una frase como fórmula, sino de observar qué responsabilidad está asumiendo la consultante y qué permiso necesita construir.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escena de familia se exporta del layout y se usa como evidencia visual de la ampliación. Las frases son intervenciones orientativas del guion, no guiones automáticos.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 los cinco hallazgos de la sesión. Enfatiza que la formulación nace del lenguaje de la consultante después de observar la escena.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la escena completa sin añadir interpretación. Señala la dirección Oeste / Este y la diferencia entre figuras adultas y figura en escala infantil. Nota técnica: el layout exporta la vista cenital con sus ejes visibles.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Puente práctico del caso 1. No atribuir eficacia universal. La idea es que la configuración ofrece otra unidad de observación para dialogar con la persona.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segundo caso como una demostración de distancia psicológica.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Preguntas textuales del guion. No adelantes la biografía del padre. La escena permite que la emoción se formule antes de explicar el motivo.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Después de la cadena de preguntas, el caso aporta la razón biográfica: el padre se ausentaba por trabajo. Señala que la posición funciona como puerta de entrada, no como explicación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Moser, J. S. et al. (2017). Third-person self-talk facilitates emotion regulation without engaging cognitive control: Converging evidence from ERP and fMRI. Scientific Reports, 7:4519. El guion conecta este hallazgo con la escena del padre lejano; presentarlo como conexión teórica, no como equivalencia experimental de la técnica con figuras.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tercer caso: la decisión de levantarse aparece primero como movimiento de la figura.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guion especifica que el consultante decide levantarse, mueve la figura y comprueba que su propio cuerpo se modifica. La escena es una secuencia antes / después, no una demostración clínica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Goldin-Meadow, S. et al. (2001). Explaining Math: Gesturing Lightens the Load. Psychological Science, 12(6). Presentar como un puente de comprensión del papel del movimiento, no como prueba directa de la técnica con muñecos.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diapositiva de frase terapéutica independiente de la escena. Subraya el criterio: describir lo que la persona hizo, devolverle autoridad y no imponer una lectura.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bloque central. Evita presentar la escena como una prueba autónoma. La escucha, la evolución y el contexto siguen formando parte de la evaluación.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secuencia resume los movimientos observados en los tres casos. Úsala como guía de intervención, no como automatismo.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Criterios de exclusión y encuadre tomados del programa del taller citado en el guion. Si alguien pregunta por un caso concreto, devolver la conversación a la evaluación profesional y la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promocional basado en el guion. Mantén el tono informativo, sin prometer resultados clínicos.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visibles para preguntas. Mantén disponibles los archivos locales y la referencia de Lowenfeld. La bibliografía de los puentes teóricos procede del guion del Webinar 4 y su tabla de fuentes.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dcfec4a4446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0652d63f7477b" /><Relationship Type="http://schemas.openxmlformats.org/officeDocument/2006/relationships/slideLayout" Target="/ppt/slideLayouts/slideLayout1.xml" Id="R8fcab23d4cea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cab23d4cea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36f09b793406c" /><Relationship Type="http://schemas.openxmlformats.org/officeDocument/2006/relationships/image" Target="/ppt/media/image.png" Id="Rc7c30f7ef15a4416" /><Relationship Type="http://schemas.openxmlformats.org/officeDocument/2006/relationships/notesSlide" Target="/ppt/notesSlides/notesSlide1.xml" Id="Re903ca2bc594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4c60485ec45c9" /><Relationship Type="http://schemas.openxmlformats.org/officeDocument/2006/relationships/image" Target="/ppt/media/image2.png" Id="Rcadccb87298a4699" /><Relationship Type="http://schemas.openxmlformats.org/officeDocument/2006/relationships/notesSlide" Target="/ppt/notesSlides/notesSlide2.xml" Id="Rf48e210fdf51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b050402864add" /><Relationship Type="http://schemas.openxmlformats.org/officeDocument/2006/relationships/notesSlide" Target="/ppt/notesSlides/notesSlide3.xml" Id="Rfa732d5e2ccf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776b2d9c24814" /><Relationship Type="http://schemas.openxmlformats.org/officeDocument/2006/relationships/notesSlide" Target="/ppt/notesSlides/notesSlide4.xml" Id="R3e23c63a1a5745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901366c09439a" /><Relationship Type="http://schemas.openxmlformats.org/officeDocument/2006/relationships/image" Target="/ppt/media/image3.png" Id="Rd7b626b4ebfe469d" /><Relationship Type="http://schemas.openxmlformats.org/officeDocument/2006/relationships/notesSlide" Target="/ppt/notesSlides/notesSlide5.xml" Id="R5c910917fa494e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d3217e4e4c54" /><Relationship Type="http://schemas.openxmlformats.org/officeDocument/2006/relationships/image" Target="/ppt/media/image4.png" Id="R921c984e998546b9" /><Relationship Type="http://schemas.openxmlformats.org/officeDocument/2006/relationships/notesSlide" Target="/ppt/notesSlides/notesSlide6.xml" Id="Rd8526b33ca92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841b69e6f4aa5" /><Relationship Type="http://schemas.openxmlformats.org/officeDocument/2006/relationships/image" Target="/ppt/media/image5.png" Id="R1b1575b9ecf34571" /><Relationship Type="http://schemas.openxmlformats.org/officeDocument/2006/relationships/notesSlide" Target="/ppt/notesSlides/notesSlide7.xml" Id="R80fd6e1a595545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c51c2ef24162" /><Relationship Type="http://schemas.openxmlformats.org/officeDocument/2006/relationships/notesSlide" Target="/ppt/notesSlides/notesSlide8.xml" Id="R3ae5036a04b7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fbfd19e424b59" /><Relationship Type="http://schemas.openxmlformats.org/officeDocument/2006/relationships/image" Target="/ppt/media/image6.png" Id="Rd67ac91fc6d64b0f" /><Relationship Type="http://schemas.openxmlformats.org/officeDocument/2006/relationships/notesSlide" Target="/ppt/notesSlides/notesSlide9.xml" Id="R0a2b0e88fb374d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6133e7eaf466f" /><Relationship Type="http://schemas.openxmlformats.org/officeDocument/2006/relationships/notesSlide" Target="/ppt/notesSlides/notesSlide10.xml" Id="Ree690630bd9446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eb0f8279348c9" /><Relationship Type="http://schemas.openxmlformats.org/officeDocument/2006/relationships/image" Target="/ppt/media/image7.png" Id="R47975918acb54823" /><Relationship Type="http://schemas.openxmlformats.org/officeDocument/2006/relationships/notesSlide" Target="/ppt/notesSlides/notesSlide11.xml" Id="Re5751997daf046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e4b190cdb4451" /><Relationship Type="http://schemas.openxmlformats.org/officeDocument/2006/relationships/notesSlide" Target="/ppt/notesSlides/notesSlide12.xml" Id="R640a294a37174e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a8348ec9540d0" /><Relationship Type="http://schemas.openxmlformats.org/officeDocument/2006/relationships/image" Target="/ppt/media/image8.png" Id="R285a840012b7440f" /><Relationship Type="http://schemas.openxmlformats.org/officeDocument/2006/relationships/notesSlide" Target="/ppt/notesSlides/notesSlide13.xml" Id="R1fc1a9a3b8f94f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6a751b62147ec" /><Relationship Type="http://schemas.openxmlformats.org/officeDocument/2006/relationships/image" Target="/ppt/media/image9.png" Id="Rcf0fc817cbe547fe" /><Relationship Type="http://schemas.openxmlformats.org/officeDocument/2006/relationships/notesSlide" Target="/ppt/notesSlides/notesSlide14.xml" Id="R73c3dc8d2e0e41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82cb1bcf144ce" /><Relationship Type="http://schemas.openxmlformats.org/officeDocument/2006/relationships/notesSlide" Target="/ppt/notesSlides/notesSlide15.xml" Id="Rf05f0997e4fb44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1ca538fb14731" /><Relationship Type="http://schemas.openxmlformats.org/officeDocument/2006/relationships/notesSlide" Target="/ppt/notesSlides/notesSlide16.xml" Id="Rf42602342cd14e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11cd176e14229" /><Relationship Type="http://schemas.openxmlformats.org/officeDocument/2006/relationships/image" Target="/ppt/media/image10.png" Id="R66db0ebaf1284a96" /><Relationship Type="http://schemas.openxmlformats.org/officeDocument/2006/relationships/notesSlide" Target="/ppt/notesSlides/notesSlide17.xml" Id="R24583e33b0fc40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12ddc84414616" /><Relationship Type="http://schemas.openxmlformats.org/officeDocument/2006/relationships/image" Target="/ppt/media/image11.png" Id="R5f8ff275b1be4a9e" /><Relationship Type="http://schemas.openxmlformats.org/officeDocument/2006/relationships/image" Target="/ppt/media/image12.png" Id="Rbeb7f531d0dc4ceb" /><Relationship Type="http://schemas.openxmlformats.org/officeDocument/2006/relationships/notesSlide" Target="/ppt/notesSlides/notesSlide18.xml" Id="R1dd9b0ce2c4b47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5a1aa95e1494a" /><Relationship Type="http://schemas.openxmlformats.org/officeDocument/2006/relationships/notesSlide" Target="/ppt/notesSlides/notesSlide19.xml" Id="R87989e4b7f7e47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0d9a74f7345a0" /><Relationship Type="http://schemas.openxmlformats.org/officeDocument/2006/relationships/notesSlide" Target="/ppt/notesSlides/notesSlide20.xml" Id="R0fca26625ebf45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16de5003b4221" /><Relationship Type="http://schemas.openxmlformats.org/officeDocument/2006/relationships/notesSlide" Target="/ppt/notesSlides/notesSlide21.xml" Id="Rab54d5aca8d444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1eb5d97ac4b24" /><Relationship Type="http://schemas.openxmlformats.org/officeDocument/2006/relationships/notesSlide" Target="/ppt/notesSlides/notesSlide22.xml" Id="R11693f5984b543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0e52e2f1449d8" /><Relationship Type="http://schemas.openxmlformats.org/officeDocument/2006/relationships/notesSlide" Target="/ppt/notesSlides/notesSlide23.xml" Id="R55d58d21891c45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3fdaba1ea4de5" /><Relationship Type="http://schemas.openxmlformats.org/officeDocument/2006/relationships/notesSlide" Target="/ppt/notesSlides/notesSlide24.xml" Id="Re42dd46a4c174d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0df2267414e78" /><Relationship Type="http://schemas.openxmlformats.org/officeDocument/2006/relationships/notesSlide" Target="/ppt/notesSlides/notesSlide25.xml" Id="Rbca3071615234d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30f7ef15a44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E79B4-E5AE-4323-8C6B-8E364E34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075B-BA8F-4037-933C-8AC8700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4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699F7-51A1-4832-95F0-869836AF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▶   WEBINAR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DF6D6-E63E-48F3-8ED5-63C2C7D4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TERAPIA CON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968F-5216-480C-94CB-DAA8B18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MUÑECOS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DA3A4-776E-46FE-B4C4-764AC64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9AD0C-3982-4E65-AD3F-645B0AF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TRES SESIONES REALES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D4CCA-02FE-4A27-8EF8-7AD2E0D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HOJA REVELA LO QUE LA</a:t>
            </a:r>
          </a:p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CONVERSACIÓN NO ALCANZA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282BE-4F89-4BB4-A92D-A2F12887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265A4-9F1D-4331-B9A2-BB7BCAB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291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Casos anonimizados · demostración en vivo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34A1B-8593-47B3-BE6C-0809B59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76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DR. MIGUEL OJEDA 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32E82-989D-427A-B01F-450DAF0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INSTITUTO CENTROBIOENERGÉTICA</a:t>
            </a:r>
          </a:p>
        </p:txBody>
      </p:sp>
    </p:spTree>
    <p:extLst>
      <p:ext uri="{BB962C8B-B14F-4D97-AF65-F5344CB8AC3E}">
        <p14:creationId xmlns:p14="http://schemas.microsoft.com/office/powerpoint/2010/main" val="544940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CA5C6-9DE8-4DAE-BBB5-6D025A1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ENCUADRE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8F2B6-A142-4387-A2BF-3B120523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0E9B0-8DE4-412F-884A-FB64885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FF9AF-8493-4EE1-B584-09036C9A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clase para mirar antes de explicar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CD472-EA81-42DB-AE94-DDCA0930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Tres sesiones reales, una misma pregunta: ¿qué aparece cuando la relación ocupa un lugar?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7CFC6-44E3-4911-B030-8EFB70C6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19175"/>
            <a:ext cx="457200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ccb87298a4699"/>
          <a:srcRect xmlns:a="http://schemas.openxmlformats.org/drawingml/2006/main" l="5937" t="0" r="59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066800"/>
            <a:ext cx="447675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9026A-B90E-41B8-B25E-AC6E7B4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Escena inicial: una figura en 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53435-2615-47C6-94D3-C0C8CEAE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DURACIÓN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8457A-5DD7-4B01-A55D-9FF1F1C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70 min + 10 min de preguntas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29017-0703-4828-BC71-261191BE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E0D14-E7A0-4D18-9A18-DA86706B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Figuras, hoja, ejes y preguntas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45EFA-D0F4-4C2B-9C8E-E3F68E7E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ENCUADRE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4AE6E-8697-4318-AAB0-1AEA79C5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Casos reales anonimizados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308BA-A33B-46A1-BDE7-4D2D9F50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621AA-C7CC-426E-B708-B3A5181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910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“Hoy no vamos a empezar por la teoría. Vamos a empezar por lo que la escena hace visible.”</a:t>
            </a:r>
          </a:p>
        </p:txBody>
      </p:sp>
    </p:spTree>
    <p:extLst>
      <p:ext uri="{BB962C8B-B14F-4D97-AF65-F5344CB8AC3E}">
        <p14:creationId xmlns:p14="http://schemas.microsoft.com/office/powerpoint/2010/main" val="1087292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968CA-1C06-4BCC-BCCF-EF5F127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MAPA DE LA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8FC05-D245-4226-A1B7-BB350BE4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3A823-B02D-4C6C-9B6E-6E35920D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5FDEF-202D-48D6-B963-0B8DAE82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Qué vas a observar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BF558-6C7D-4451-B33D-48DD5E0A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mismo proceso se despliega en tres mecanismos visibles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4C746-E9C8-4F63-B554-1BF037BD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118F-5ED9-45E5-8B2C-1110E69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D059A-6AB0-4A1B-9B27-E4D26A3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Externalización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CF36A-2E5B-470A-8500-27923C83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relación sale del cuerpo y ocupa una posición en la hoja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CDD11-A7DA-48C6-BCFF-C7034C4F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4E4D5-04AF-4CDE-ACB6-F57A392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3DCA3-D7BD-4EF0-99BD-D3CCF54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4BB01-28B8-4B75-8852-E0493AB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Distancia psicológica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CE896-DE15-4F44-8D8A-77EB2BFC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separación cambia el acceso a la emoción y a la biografía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30A6F-BACB-4F30-8740-CFEC198F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999F1-1060-4532-8C29-A871BA8F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6E3B6-A11E-4881-A84E-8B1BF3C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95D2B-A7B7-420D-A8F9-E28F6FE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Gesto y postura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FC946-CE7F-40D6-B811-9064760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Mover una figura modifica la forma de pensar la 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1325E-C375-42A8-B24F-A7E22C01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B1951-A9FE-4397-AE87-E5B3DAA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secuencia de lectura se mantiene estable: posición → pregunta → relato →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254543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A896BA-4077-4323-A13A-2C9A60C9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MAPA DE LA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69D52-2007-4A67-9EF8-5950294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11190-D79F-4A2C-9FB6-F0FA18E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8807E-861C-4E1E-A808-F4372AA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ruta de la demostración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F166-F9B6-45A5-9A87-EEC9178C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Cada bloque agrega una capa: ver, preguntar, comprender, verificar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739C0-047A-484E-872D-4EEA49FB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457C1-D960-4143-BD91-578E448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CBB2B-1FD4-474B-B3C4-89B21E6A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6754F-BEBD-44E2-ABAE-FB75089B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AC3DF-65D5-4093-BFFF-CBD80E08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escena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3F233-5E77-4326-808F-43DF8ADA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4F7FA-C2F6-4F08-9497-873BCB3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93D36-ECD0-4EC3-BF0F-8455EDF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B316D-7FF1-42E7-9D66-14C8BD5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llama la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768C0-01BC-47CE-B168-503370CA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57F5B-38E8-41B4-8EA4-EE552A8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43B68-0EA0-4870-9A06-C7DC76E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Comprender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A83D9-F3A2-4D42-94B2-9BDE5F2C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Biografía y teoría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CBA85-07F1-4C18-8E30-32BD4E7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61C39-8231-4A89-AB20-578B914E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19D72-E481-4C97-A467-0DCE1E4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96FB7-907A-4C2E-BEFB-258A850F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nueva posición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0E7BB-B42F-47E8-A314-16F855C4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05E1D-9122-4D28-A6ED-E486E7D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D3FBD-2240-4C9C-8094-D2248BD4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9D8E8-6053-4488-A1D6-EF5C0C0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cambia en el cuerpo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B25FE-1634-4AB9-B5B4-A051EB1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86B2D-FFBD-4DE2-9D63-AFDBFB5A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8FA30-5172-459C-94D5-D565F4A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Cerrar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19ABB-1C6E-459D-AE2A-22489743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Límites y encuadre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61AB51-551D-472C-92D3-C72619C3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BEEB2-CE7D-4ABA-99BB-98759B56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Primero la imagen. Después la explicación.</a:t>
            </a:r>
          </a:p>
        </p:txBody>
      </p:sp>
    </p:spTree>
    <p:extLst>
      <p:ext uri="{BB962C8B-B14F-4D97-AF65-F5344CB8AC3E}">
        <p14:creationId xmlns:p14="http://schemas.microsoft.com/office/powerpoint/2010/main" val="954925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26b4ebfe469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6B2B4-B1D1-4B04-8198-DFF5133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37F45-BAB0-47EE-97BE-01E1D136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4BFEA-FE1C-423B-BC62-7A278A43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5B622-87E2-4A26-BED1-8A567062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bloqueo</a:t>
            </a:r>
          </a:p>
          <a:p xmlns:a="http://schemas.openxmlformats.org/drawingml/2006/main">
            <a:pPr algn="l">
              <a:def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del camino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8E1D6-056A-4561-A104-8DA8B91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Responsabilidad heredada, lealtades y permiso para descansar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DEF96-9376-481A-B947-E38551F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2DD94-568B-4890-8DEF-83B2BE1D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escena que comienza con dolor físico</a:t>
            </a:r>
          </a:p>
        </p:txBody>
      </p:sp>
    </p:spTree>
    <p:extLst>
      <p:ext uri="{BB962C8B-B14F-4D97-AF65-F5344CB8AC3E}">
        <p14:creationId xmlns:p14="http://schemas.microsoft.com/office/powerpoint/2010/main" val="1474003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19A89-2DF5-4384-AEC2-6733BCB3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RESPONSABILIDAD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42CF-7B1E-4232-8242-525BE70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2A5AF-E125-424D-849F-4B34966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C1B5A-60BF-4A94-BD27-2CB96739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contexto de la consultante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386DF-5C23-44EB-BA0B-28ED7873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escena llega antes que la explicación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F7D81-58BC-40CF-B2F4-7A474ABD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000125"/>
            <a:ext cx="459105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c984e998546b9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047750"/>
            <a:ext cx="44958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02E1F-1C11-448D-9286-BBDEA56C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mujer de 45 años, sola en 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FEC59-909A-47B7-BCD7-CC1B924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00257-326E-420F-969D-F5E5C42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45 años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E3DA3-769D-4278-B535-E77AC531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10462-6C46-4D1D-A4EA-DB93D62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Casada · dos hijos adultos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BB157-7284-456D-A1BD-BAEDFF1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VIDA DIARIA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B4E1C-6852-454B-BDD4-A7FA0A9F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Lleva un negocio de abarrotes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91CD4-E1DF-4971-B3EC-F8E43CD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C25BC-B67F-493F-B8DF-93C2D57C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Dolor de tobillo y deuda de la casa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F9DA6-84F5-4412-81EE-9AA8E38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primera decisión clínica es no llenar el silencio demasiado pronto.</a:t>
            </a:r>
          </a:p>
        </p:txBody>
      </p:sp>
    </p:spTree>
    <p:extLst>
      <p:ext uri="{BB962C8B-B14F-4D97-AF65-F5344CB8AC3E}">
        <p14:creationId xmlns:p14="http://schemas.microsoft.com/office/powerpoint/2010/main" val="23980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4A98D-E2F1-4CBD-86D7-81AB0463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OBSERVACIÓN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A47C3-F476-4F62-97E5-1CFA239B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917B2-189A-4DE4-A11F-AFA4ADB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F9B7C-F338-4B0C-B0A6-0EACC89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Primera escena: el cuerpo en el centro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B4B75-A61D-4C94-A2AB-F830B59F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pregunta no busca una respuesta correcta; busca una descripción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2B575-B17A-40B1-A84C-B6922160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6667500" cy="4191000"/>
          </a:xfrm>
          <a:prstGeom xmlns:a="http://schemas.openxmlformats.org/drawingml/2006/main" prst="roundRect">
            <a:avLst>
              <a:gd name="adj" fmla="val 90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575b9ecf34571"/>
          <a:srcRect xmlns:a="http://schemas.openxmlformats.org/drawingml/2006/main" l="4869" t="0" r="4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66850"/>
            <a:ext cx="657225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57805-F60B-428E-83C5-44D92FF4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Vista cenital exportada desde layout_caminos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3E269-36DE-4D05-898C-A1989232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143250" cy="1752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670C3-9021-4E4E-BB1D-526932D7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PREGUNTA AL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FE8E6-FAA5-4253-BE8A-1DE98F2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7DF91-DFA0-460A-9F18-7A7926D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le llama la atención de esta escena?”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87984-3FC7-4A22-A890-B8216E08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7C2C7-6094-4BE1-B5B5-252BB24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“Que quedaron completamente de frente a mí.”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E4691-1631-447E-83ED-2F756766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1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Observación antes de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644025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4C65C-56F5-4BF2-9E8B-26209B4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FRASES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56671-F4A2-4B3F-BA13-713BCB0E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4FAF0-8B66-43A6-9EEA-DAB3180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5C17D-2C59-4B25-841B-7BE3877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misma escena puede escuchar dos frases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15016-C55E-44DD-97AD-87C74F8E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tono relacional cambia lo que la figura representa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9EC2A-7EC8-4569-9A9D-36B5107F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una hija dice: “Mamá, me voy a Francia”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B294E-C5D5-4358-B10D-9236E66A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762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19050">
            <a:solidFill>
              <a:srgbClr val="B560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899D4-5D9C-4053-8D14-FBE686C1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RESPUESTA QUE 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05246-38B9-414B-9FB9-C5D9043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B68EA-DCB8-4887-BC77-50707F2B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3771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“No te preocupes si me enfermo, ¿eh?</a:t>
            </a:r>
          </a:p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Tú ve a disfrutar.”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B52BB-FD28-4607-A10C-1555D80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762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19050">
            <a:solidFill>
              <a:srgbClr val="6279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EECF8-78E9-474A-B6F5-0E4F8D11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RESPUESTA QUE ABRE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5141C-5450-4840-A474-13D3A698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F5D4E-EECF-4657-845B-16CF0191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3771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“Que te vaya bien.</a:t>
            </a:r>
          </a:p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Si encuentras algo por ahí, me lo traes.”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7A55E-1E9D-42DC-8B8E-0EE3C801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frase terapéutica no niega el vínculo. Le devuelve a cada quien su lugar.</a:t>
            </a:r>
          </a:p>
        </p:txBody>
      </p:sp>
    </p:spTree>
    <p:extLst>
      <p:ext uri="{BB962C8B-B14F-4D97-AF65-F5344CB8AC3E}">
        <p14:creationId xmlns:p14="http://schemas.microsoft.com/office/powerpoint/2010/main" val="842921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93A6D-9385-4592-B971-78125F7F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5346C-220B-4C0C-9F65-8D557B3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4BB50-579B-439C-8E63-5D532108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1786F-B034-409E-AA08-3A6FD64B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aparecen los otros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FB48D-D0E8-4F21-A9B6-970CB9A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escena se amplía y también cambia la 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FE27E-6584-4C29-A258-7A3CB51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95325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ac91fc6d64b0f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5255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E36A3-B859-4B93-9ED6-AE223D2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Padre, madre y consultante en una primera ampliación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375EE-7EC1-4AA6-8FEA-E6211425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0289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D28A0-0728-4120-B79A-0DFF97A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PREGUNTAS DE 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B1477-240D-4AF9-BACC-FDE368FE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mira a quién?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queda doblado?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ocupa el centro?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DB691-A752-48C2-B48F-D78B6B9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53303-84E8-49BA-ABAE-977B2C1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2800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42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“De ti vino la vida para mí, con lo bueno y con lo malo.”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FFFC3-8B92-450A-B5E0-F3482C9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D3ECC-4DFF-4236-8E3E-9B414BB7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“Yo soy tu hija y tú eres el papá.”</a:t>
            </a:r>
          </a:p>
        </p:txBody>
      </p:sp>
    </p:spTree>
    <p:extLst>
      <p:ext uri="{BB962C8B-B14F-4D97-AF65-F5344CB8AC3E}">
        <p14:creationId xmlns:p14="http://schemas.microsoft.com/office/powerpoint/2010/main" val="977631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2EDF7-63B9-4853-833C-9A0CD0DA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HALLAZGOS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EE639-7A44-41E5-9DF3-C6A3CB8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A06D4-6800-4ADA-A5D6-0B8F4D76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DBFD-4F70-4DEF-AB89-FF8B0DA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formulación aparece en sus palabras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0B6E3-4EE2-4C6C-8E21-80E2B46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Cinco hallazgos que la consultante puede reconocer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33F48-B02A-4892-BAC9-C0961E1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C29B8-5C03-443F-BA24-D859C88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90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Mirada familiar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D9878-0113-4E57-AAD3-EFA0D689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90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Sus padres la miran completamente de frente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EB693-8C22-471B-8675-803A479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66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6EA40-FF54-4E24-B44B-10FCDFF2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7C594-8784-4BA1-A280-A349B35C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52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Madre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0BDAE-EC51-4BFD-A3FB-9CDD919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52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Nombra la diferencia entre dos frases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C1E5A-3556-45FD-A649-74B658BE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28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32B0F-D3CE-4097-B5AC-E8B75BC6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061F5-63BE-4F0D-890C-071EC711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14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Hijo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ECC85-6AC0-45B9-B481-83B42D3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Mira hacia su abuela, no hacia ella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06EF8-D9C0-4EA7-BC34-A0CD9348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90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9B5A5-E355-46B0-B462-3062206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2A2F4-4698-44EA-8382-E269E23E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76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Responsabilidad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6D1D5-9D15-4E69-99AA-E2D928D3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76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Va a la responsabilidad porque así 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5854B-48D8-4F6C-B4A8-EEE69CB7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52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0A0D2-13F4-441A-AE1D-CD48DD03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C5352-62CC-4989-938E-53062BFC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38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Necesidad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52FF5-FAEF-4D23-9649-9041589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Para sentirse mejor necesita descanso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0E31F-FB98-4DEF-A67A-7AA70637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ED085-1FFA-4BAE-98A4-E3910DA7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teoría puede ordenar la experiencia. No tiene que hablar por la persona.</a:t>
            </a:r>
          </a:p>
        </p:txBody>
      </p:sp>
    </p:spTree>
    <p:extLst>
      <p:ext uri="{BB962C8B-B14F-4D97-AF65-F5344CB8AC3E}">
        <p14:creationId xmlns:p14="http://schemas.microsoft.com/office/powerpoint/2010/main" val="161070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E28F5-546D-4AC2-A087-F3387EA9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SISTEMA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290A9-8BB3-456E-9842-E959CDF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66DD8-AB57-4886-9627-A865152A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8A45C-7F4D-470A-A4DD-3B01B197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escena completa: una red de lealtades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FA533-EE95-4B31-9B64-593E4A3D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mapa permite ver simultáneamente dirección, distancia y tamaño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ECE11-0A12-4C41-8E61-C56170D2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90625"/>
            <a:ext cx="11144250" cy="51435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75918acb54823"/>
          <a:srcRect xmlns:a="http://schemas.openxmlformats.org/drawingml/2006/main" l="0" t="9387" r="0" b="9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11049000" cy="504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271E0-A253-46EE-B252-89F8721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Escena completa exportada desde layout_caminos</a:t>
            </a:r>
          </a:p>
        </p:txBody>
      </p:sp>
    </p:spTree>
    <p:extLst>
      <p:ext uri="{BB962C8B-B14F-4D97-AF65-F5344CB8AC3E}">
        <p14:creationId xmlns:p14="http://schemas.microsoft.com/office/powerpoint/2010/main" val="201505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667AE-996D-4371-9861-BA29D127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A7DDB-3510-4A8D-A1CD-172FF08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0D842-731B-4D4B-81F6-98D004E4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8075A-DF59-485B-A490-9F4116C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Externalizar cambia la unidad de observación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10A5A-B9BC-4165-8A76-C7FFCCAE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relación deja de ser solo un relato interno y se vuelve una configuración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66C0C-4998-4858-BB79-A307C03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793FC-328A-4190-9262-E32487C7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9B2CC-1129-480E-9D95-55C270EC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Separar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72BBE-9EB6-431B-B3E9-7287A70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figura representa una relación sin ocupar el cuerpo de la consultante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32C19-AB2C-4AD5-8D8C-CE7E7418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241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5E13C-B651-45C1-A9BC-7CFD8C1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9A8F4-8500-4125-ACC8-B27EFFC4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77A08-53A2-4EAB-9537-F6EBFD2B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2491B-7F73-4A77-B198-CCB5B04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posición, la distancia y la orientación generan lenguaje descriptivo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2C673-657D-4AB7-83B9-ABBB70E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6FA91-F6EF-4B7E-A656-96EA676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7E446-E4FE-4946-B92B-D502B649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29967-EF87-429A-B594-E8AD7D21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Nombrar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D451C-53EB-4AFA-AB00-345AA4A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persona encuentra una formulación propia y comprobable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153D0-E2A4-4C74-98C9-5F23F1D7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44836-DD8E-4032-9334-61EE510C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796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“Primero se ve. Después se explica.”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EC39A-964C-4F51-ACD7-B5124B73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escena no sustituye la escucha ni la historia clínica.</a:t>
            </a:r>
          </a:p>
        </p:txBody>
      </p:sp>
    </p:spTree>
    <p:extLst>
      <p:ext uri="{BB962C8B-B14F-4D97-AF65-F5344CB8AC3E}">
        <p14:creationId xmlns:p14="http://schemas.microsoft.com/office/powerpoint/2010/main" val="1898409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a840012b744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5ADE9-0D61-4E25-9A18-BA9834E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6BBF4-CF00-4900-9F20-60CDD1B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0C0E-EEA0-45D6-BA91-80D65F4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BCD6E-8442-4B08-97A7-C049290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distancia</a:t>
            </a:r>
          </a:p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que se puede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9BD9C-D483-42F7-A21C-9ED8082F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padre lejano, una emoción que aparece antes de la explicación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29350-8F96-499C-8C92-05D6CF34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EF851-388D-4AD0-BCD1-BA18014D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Posición, tristeza y biografía</a:t>
            </a:r>
          </a:p>
        </p:txBody>
      </p:sp>
    </p:spTree>
    <p:extLst>
      <p:ext uri="{BB962C8B-B14F-4D97-AF65-F5344CB8AC3E}">
        <p14:creationId xmlns:p14="http://schemas.microsoft.com/office/powerpoint/2010/main" val="15333660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000DE-E354-4763-8406-D9FCE02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2 · DISTANCIA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1E83-53BF-4AC7-932D-B8AA136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7FB2D-DE88-40C6-AB78-F3D3D0DF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6D53D-8502-4C85-97DA-DFDDE550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Dos figuras y una separación significativa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214DC-3F07-49EC-858B-AE00E8F6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consultante observa antes de saber por qué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4623-0F2E-4F61-8275-2975BA6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695325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fc817cbe547fe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0970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B73ED-9BED-48FC-89AF-DBE1F68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Consultante y padre en posiciones alejadas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FBE97-FDC2-4BCF-8860-DE353431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FDCC8-C51D-4BC3-A438-F13BCB4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ves la posición?”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0BD63-F4CE-4F9B-BB32-63F0FB8B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E9D52-E1F0-4A38-8D87-E8370F8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“Dolorosa. Como forzada.”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10DE0-BFAB-487F-9CA2-DE41E92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BA3C1-3501-40A5-8C59-FE8973EC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te llama la atención?”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2E1FA-33BF-4285-A5FC-59E430E8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9AD74-CF85-4F26-8CB1-21B0F074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“No lo miro. Está lejos.”</a:t>
            </a:r>
          </a:p>
        </p:txBody>
      </p:sp>
    </p:spTree>
    <p:extLst>
      <p:ext uri="{BB962C8B-B14F-4D97-AF65-F5344CB8AC3E}">
        <p14:creationId xmlns:p14="http://schemas.microsoft.com/office/powerpoint/2010/main" val="14675775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58419-E039-42B0-9124-BD861B01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2 · SECUENCIA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5071D-9791-4F59-92D6-C0149B04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24CC2-7774-40FF-9580-56740159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5C29-F293-4FAD-A1FC-CF49D1C1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 la posición a la biografía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89D95-C038-4BEE-8840-D286DBCA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Cuatro preguntas mantienen el foco en lo que la escena revela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9165-E395-43C7-82C9-ABFED6E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6713B-D63C-4C2D-8215-41BC4E09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97230-24BC-412F-AD6C-5EE4C925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9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Posición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C7370-2F4A-4E3D-8C4C-6C023F3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80BB6-9E39-4CA0-B97F-E8BCDC6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0495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ves la posición?”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9B421-4F39-4322-A8A5-691F91C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044C9-A712-48B7-A15D-A3DDE15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342F6-6895-41C3-B593-171EB29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Atención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C80D1-7CCE-48B2-BC99-2374FC1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E3126-0C15-4C16-B3EF-8155287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05075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te llama la atención?”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FE36A-1679-4341-B00B-F7052970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0CF49-F4BC-4A84-B23D-5897CA5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76C8A-2EAB-44E3-86A0-7CD11FA1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Emoción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90070-D1E4-401B-88D7-80787FD0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F875F-8C24-4B03-806E-EBDADBE9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sientes?”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595AA-34CD-42B4-A8DE-5D69057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F0066-9A83-4C5C-B70C-7DAC1282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DE0A1-21F1-42DE-A3C6-D848118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Origen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AB17D-5213-4D14-A632-FACA8B4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F1623-6BB1-41F1-B618-549824F2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05325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“¿De dónde surgirá?”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FCD60-5522-4729-BD51-C145392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En el caso: tristeza → distancia → padre ausente por trabajo.</a:t>
            </a:r>
          </a:p>
        </p:txBody>
      </p:sp>
    </p:spTree>
    <p:extLst>
      <p:ext uri="{BB962C8B-B14F-4D97-AF65-F5344CB8AC3E}">
        <p14:creationId xmlns:p14="http://schemas.microsoft.com/office/powerpoint/2010/main" val="7645502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8C1BE-702C-4CED-95CE-32319BD3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DBB0A-65A9-495A-9C1B-866ECD9D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4E8B1-E18F-4C53-9FD6-A394020E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DDD56-7CF3-485D-883D-4763729F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Distancia psicológica y regulación emocional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BAEAE-DCA1-41C9-AA48-2900841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Conexión con el Webinar 3: cambiar la posición cambia el punto de vista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BB9F0-0DDA-444F-AFD0-5E42DC0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667250" cy="2743200"/>
          </a:xfrm>
          <a:prstGeom xmlns:a="http://schemas.openxmlformats.org/drawingml/2006/main" prst="roundRect">
            <a:avLst>
              <a:gd name="adj" fmla="val 1736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8BE5F-343B-4BD0-BF89-C706A956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rPr>
              <a:t>HALLAZGO CITADO EN EL GUION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F3446-6D64-4F29-A640-684A46E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Moser, Dougherty, Mattson y colaboradores</a:t>
            </a:r>
          </a:p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(2017, Scientific Reports)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3CFF9-51B8-4EFB-B780-43DEA150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El diálogo en tercera persona se estudió como una forma de distancia psicológica que facilita la regulación emocional sin exigir un esfuerzo consciente de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2C1F0-E13E-422B-BEFC-A8B91F55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EN ESTA ESCENA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2C754-6AAC-49D2-BDA5-60C0CC7A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1B5AD-AF5E-493C-837C-B150C09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Cuerpo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699CF-5367-4126-A4AC-AB5D827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9525" cy="2571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4CC76-07A7-4BE9-9124-98133F63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9D1A4-75F8-488F-9E8A-BA4D6014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Figura del padre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AB23F-9879-4CD8-B98A-35B8870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9525" cy="2571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B43F3-75E3-4837-8532-7CDB447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4247D-2A32-411A-AF07-1CF1E83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Relato propio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4B38D-3EAD-4CBC-92FA-3C85D41E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27CAD-85CE-4CE6-944D-A28FCF4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“La tristeza aparece antes de que la mente tenga tiempo de explicarla.”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07F90-4E22-431C-923D-5C547924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53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Fuente completa en las notas del presentador.</a:t>
            </a:r>
          </a:p>
        </p:txBody>
      </p:sp>
    </p:spTree>
    <p:extLst>
      <p:ext uri="{BB962C8B-B14F-4D97-AF65-F5344CB8AC3E}">
        <p14:creationId xmlns:p14="http://schemas.microsoft.com/office/powerpoint/2010/main" val="17107488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b0ebaf1284a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A1608-1B3A-4F7F-8638-77915DD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36913-EE50-4E42-B16C-430E07D0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AB127-31BF-45E8-A43E-ECA2EAE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65014-C25D-4962-A4B2-ACC1A5B2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la figura</a:t>
            </a:r>
          </a:p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se levanta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D63E8-2119-403E-AEF1-E7F35E0B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Postura, gesto y una decisión que encuentra autoridad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A866E-01B6-48CA-9BDE-F9A53FB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BB9BE-B3DD-4C6C-9E0E-8D305A4C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El cambio se comprueba en el cuerpo</a:t>
            </a:r>
          </a:p>
        </p:txBody>
      </p:sp>
    </p:spTree>
    <p:extLst>
      <p:ext uri="{BB962C8B-B14F-4D97-AF65-F5344CB8AC3E}">
        <p14:creationId xmlns:p14="http://schemas.microsoft.com/office/powerpoint/2010/main" val="570705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4BEBB-4138-4A20-8163-28DDF009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3 · POSTURA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75C57-FB4B-4C4D-9580-0F8A9B8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A0E8D-6BBD-43D0-9C1E-911273E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07A1C-0C2D-4880-B1EC-370D8A9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Antes y después de una sola acción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7FEC2-95FE-4087-B971-913C0D0F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hombre de 62 años mueve su propia figura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6525E-72D9-489F-88DC-2F1A133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857750" cy="352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ff275b1be4a9e"/>
          <a:srcRect xmlns:a="http://schemas.openxmlformats.org/drawingml/2006/main" l="10938" t="0" r="10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5C069-A6AA-451E-860B-91D8EB8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Antes: boca 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D5920-E97D-4057-9132-A48BE9A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857750" cy="352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7f531d0dc4ceb"/>
          <a:srcRect xmlns:a="http://schemas.openxmlformats.org/drawingml/2006/main" l="10938" t="0" r="10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192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20CD1-4299-41B5-98AB-60CB8FDE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Después: de pie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C4059-F366-431C-B314-13FBD8F3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095375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18A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D366C-C9E5-4FA6-B706-CE44ACBB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LEVANTAR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CBA9C-9288-4648-B846-B069A8C7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F37C9-7757-4789-93DA-769F5B85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00700"/>
            <a:ext cx="701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72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“Ya está listo, ya estoy listo.”</a:t>
            </a:r>
          </a:p>
        </p:txBody>
      </p:sp>
    </p:spTree>
    <p:extLst>
      <p:ext uri="{BB962C8B-B14F-4D97-AF65-F5344CB8AC3E}">
        <p14:creationId xmlns:p14="http://schemas.microsoft.com/office/powerpoint/2010/main" val="10082434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F7E0D-EC33-4FBC-87AD-171BE26E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11424-DBAC-43A7-95F3-8A9F769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2494D-4BE4-4A54-93E0-9526319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CB7D5-DBDA-40C7-BC54-018FA9A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gesto también hace trabajo cognitivo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77393-E281-427D-A1C7-2824157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Mover las manos no es solo acompañar una idea: puede ayudar a sostenerla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9729-5373-4530-BB1B-B19C0AA1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95750" cy="2857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DC00B-4670-4CB0-8B85-E3B4242B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HALLAZGO CITADO EN EL GUION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1529C-1CC6-4885-BE39-9BB86E1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Goldin-Meadow, Nusbaum, Kelly y Wagner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(2001, Psychological Science)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A0BB8-C1A9-4EF8-B451-BB7EE23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En tareas de explicación y memoria, el gesto se relacionó con una menor carga de procesamiento. El guion lo usa como puente para comprender el movimiento de la figura.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95CFF-5EE7-49E0-99FA-D33273B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MOVIMIENTO → ORGANIZACIÓN → 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6FDFE-3BE4-4602-97B5-EC4C55C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DF56B-83D6-4EF3-AE42-3A7AB2AC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48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figura cae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62352-A9A0-4C0B-988D-659A04A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C083F-32A1-4C91-AC8E-FAE96CC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052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mano la levanta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9A5D7-37E3-4A2D-846C-A7835456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3EEDB-BE6F-460E-926C-63E8F14E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 cuerpo verifica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6486C-430D-4DA0-921C-70CBD2E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87630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52941-5F2B-4C7B-84D1-48751C9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80010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2A272-BAF0-4EBD-B482-289EAD9F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75D21-6B39-4352-9A23-B1BF9CD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14950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“Tú mismo eres la autoridad que puede levantarte.”</a:t>
            </a:r>
          </a:p>
        </p:txBody>
      </p:sp>
    </p:spTree>
    <p:extLst>
      <p:ext uri="{BB962C8B-B14F-4D97-AF65-F5344CB8AC3E}">
        <p14:creationId xmlns:p14="http://schemas.microsoft.com/office/powerpoint/2010/main" val="6292729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45674-F8FD-4DDC-B12B-3EC9C154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3 · FRASE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87F1B-200A-4EEA-9DA0-054532F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AA31B-78FD-4D9A-8D48-96333ACD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38FD5-6E78-4AA0-A952-ABAD6775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frase que devuelve autoridad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34B78-AD25-4885-974F-4A73D3F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intervención acompaña el movimiento sin apropiarse de la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C1737-5115-4252-8DC2-34ECA83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figura se levanta porque el consultante la mueve.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3A9AA-7621-411C-81C5-52AD95FF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BF4E9-4D85-40C2-8485-200B98E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9105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22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“Tú mismo eres la autoridad en esto, no soy yo.”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3CE90-062E-4E88-82A3-1525F2D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289E3-B48D-4D88-94F0-3AC00F3A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frase hace tres cosas: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F5631-0221-4B9C-AD83-2BD35EC5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Devuelve agencia a la persona</a:t>
            </a:r>
          </a:p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Nombra lo que ya ocurrió</a:t>
            </a:r>
          </a:p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Deja la decisión en sus manos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18726-098A-4714-9FE5-C30B61C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Frase terapéutica fuera del layout: se proyecta como texto, no se fuerza dentro de una escena.</a:t>
            </a:r>
          </a:p>
        </p:txBody>
      </p:sp>
    </p:spTree>
    <p:extLst>
      <p:ext uri="{BB962C8B-B14F-4D97-AF65-F5344CB8AC3E}">
        <p14:creationId xmlns:p14="http://schemas.microsoft.com/office/powerpoint/2010/main" val="4977646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D836E-D408-4241-AD4F-D49DF8EC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D4C74-C3B9-4F0A-8C8C-AA7D08CA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2C797-63CE-42A7-AE62-6D82F456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D33FE-F29B-41BE-87B1-27FD1CD9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Saber mirar antes de explicar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070EB-34E8-459A-9573-973F4DB6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Los tres casos sostienen la misma disciplina clínica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5CD43-0320-492F-AB06-A608C838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imagen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BF0C3-DC7C-4659-9D7C-D879D512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24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6B46C-D7B8-460F-953A-1154E1C8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33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muestra una relación o una postura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B10C8-BD69-4270-AB1F-1052249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rPr>
              <a:t>La pregunta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118C5-A0AD-4642-BE59-E3943CD8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B594B-0025-48CF-A44D-1CE2537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76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deja que la persona describa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52B61-9172-4177-A07F-C86F931E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La teoría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7CC02-9CFC-4116-8F77-90B58E54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0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F6E4B-E724-4B5C-B0E4-00E8F84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9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ordena sin reemplazar la experiencia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84B30-12D8-4235-90B8-CD62ED1F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9715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28751-5766-4747-95A4-ED1E431B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herramienta abre un diálogo. La historia clínica sigue siendo indispensable.</a:t>
            </a:r>
          </a:p>
        </p:txBody>
      </p:sp>
    </p:spTree>
    <p:extLst>
      <p:ext uri="{BB962C8B-B14F-4D97-AF65-F5344CB8AC3E}">
        <p14:creationId xmlns:p14="http://schemas.microsoft.com/office/powerpoint/2010/main" val="194868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054D33-2428-4F81-AF61-EDA8FBD6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689E5-6086-4ECB-AB58-1CB41D7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4D78-EF7B-4634-A164-403D283B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1A4F1-E038-4D4D-A853-B6BFADFC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secuencia de intervención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314CD-294F-4A60-BE6A-F7CB18D6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protocolo visual breve para sostener la conversación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75A5F-161E-49AD-BA1D-EA97E622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A8D95-A7CA-444D-9FEC-43B2098B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4613D-F972-4157-A491-C81CDEFB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Colocar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429AD-0B68-40B6-BA31-FC03B7EC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Quién y dónde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6B9E1-7AB5-496F-A0BA-181EDC0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F2A54-D83F-42D9-B50B-76A5E10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BB929-B72F-4EB3-BBE6-9344EA7C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EE77F-D0F3-4834-9F34-1B1B17EA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destaca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01A87-E105-4F36-BDB3-56FBE2E2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F7147-7AE1-4A90-A4FA-DFBE845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D97A7-55D0-4A8F-81CE-86A34BF8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15C0C-8FFC-41D9-B28D-45B63EEE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siente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4FC25-8083-4B1E-A16E-1A9BC2FB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35CC0-EE1B-4347-8506-C6953CB5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20448-ECA0-4313-9C7B-405569A1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Profundizar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F621B-204E-4534-8F70-F344BB2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De dónde surge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AF4A2-936B-495C-80F3-FF59747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F074F-DDEF-4FBC-8712-4BC8199F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0A1EC-DA7E-4763-88FB-83E1700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D7342-FB71-4812-8487-FACCF069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cambia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E0C2D-B01B-4F14-84EA-B85DFAE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CC2CF-B75C-40D0-A0D0-DE733CB1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CDE58-7CFF-4958-BEF8-77972FAD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AF942-4185-45F4-88EE-DF2A8906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reconoce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FBFE09-05A2-45F9-B997-4DFEA87A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secuencia es editable y puede convertirse en una diapositiva de apoyo durante Zoom.</a:t>
            </a:r>
          </a:p>
        </p:txBody>
      </p:sp>
    </p:spTree>
    <p:extLst>
      <p:ext uri="{BB962C8B-B14F-4D97-AF65-F5344CB8AC3E}">
        <p14:creationId xmlns:p14="http://schemas.microsoft.com/office/powerpoint/2010/main" val="12730861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23DCC-5FE6-4654-AB02-6A71315E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LÍMITES Y ENCUADRE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A1A9E-0AFB-4FB8-9309-0DE2115C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AD2B-0DAC-4CAC-A2F4-CD273F5D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50C84-832F-4339-A3CF-1F6B486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Límites de uso y encuadre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AFF5F-D85C-4803-8F0D-CB6FF2D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herramienta necesita condiciones de seguridad y criterio clínico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60903-CE19-4E0A-BE34-B471781F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NO 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CC186-892F-4ADF-8DCD-346A141D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 sustituto de la escucha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prueba diagnóstica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interpretación automática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B94FF-0791-456E-929B-AA96A1C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REQUIERE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F0665-2423-42BE-9EBC-D888E82A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Encuadre claro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Historia y contexto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Capacidad de regulación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Criterio profesional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1FEC1-E68E-4DF9-9ED8-3C2EA1D5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990600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539C2-CFD3-44F0-9252-6FFAB36A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No usar como intervención improvisada en psicosis activa o descompensación, duelo agudo reciente, cuadros disociativos o crisis con riesgo.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B2535-AF6C-43A5-AFE5-E5DCF82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Consulta el programa del taller para el encuadre completo.</a:t>
            </a:r>
          </a:p>
        </p:txBody>
      </p:sp>
    </p:spTree>
    <p:extLst>
      <p:ext uri="{BB962C8B-B14F-4D97-AF65-F5344CB8AC3E}">
        <p14:creationId xmlns:p14="http://schemas.microsoft.com/office/powerpoint/2010/main" val="4789075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60EFB-F3B4-408B-AA1A-2AC0D1D1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7F307-2E97-4DDF-A7E1-6BD0F4C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1A944-6CD1-421C-96EF-35ECFC27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6500-4349-48E3-91B6-91A77DD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Módulo 1 empieza mañana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6F8D1-C5F3-4725-9101-151548C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práctica continúa con dos clases intensivas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1CE0F-E63B-451D-B540-7EB7D7F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76250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2304D-96C1-4A74-AF66-C144F3C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MÓDULO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AB425-4A2F-4C72-8E6C-8CC7A0A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Los cuatro caminos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388F9-EFE8-405A-8E4C-59211F5E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5 y 19 de septiembre</a:t>
            </a:r>
          </a:p>
          <a:p xmlns:a="http://schemas.openxmlformats.org/drawingml/2006/main">
            <a:pPr algn="ctr">
              <a:def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10:00 a 18:00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FA14B-ED34-435F-BE3B-BFCFF640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Para terapeutas y profesionales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F2FEF-113A-41C3-A2BF-20C494B6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Trabajo práctico con figuras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Lectura de posiciones y relaciones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Preguntas que abren relato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Criterio de encuadre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7DEDE-5959-4CDC-8016-5991BC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08529-DA41-4392-9BF7-759DB45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imagen puede preceder a la explicación.</a:t>
            </a:r>
          </a:p>
        </p:txBody>
      </p:sp>
    </p:spTree>
    <p:extLst>
      <p:ext uri="{BB962C8B-B14F-4D97-AF65-F5344CB8AC3E}">
        <p14:creationId xmlns:p14="http://schemas.microsoft.com/office/powerpoint/2010/main" val="1021103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67E1A-4AC7-4096-A1EF-CF210D72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E947A-6007-4CA9-84AB-1AB6851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6B433-12E9-4576-BDB5-8C83B44D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CB958-E94F-4FA3-A7DC-FF2AAD69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Preguntas y fuentes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14A9F-C764-4045-A657-CEC7E848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Abrimos conversación sobre el método, el encuadre y los casos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CDB8C-A570-4C87-AD00-073A0268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¿Qué parte de una escena te resultó más difícil de leer?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2BAEA-A148-4080-B9B1-360B2DC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FUENTES DEL GUIÓN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E61E4-09CE-4590-9D17-98AAFA80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238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Sesion_Comentada_Responsabilidad_Heredada.md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Transcripciones/Terapia_Munecos_Mod1_Cap1.json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Transcripciones/Terapia_Munecos_Mod1_Cap3.json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Guion_Teleprompter_Webinar3.md, bloque teórico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Programa_Taller_Dos_Clases.md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080DA-6794-4361-AD9A-C512339A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Moser et al. (2017), Scientific Reports 7:4519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Goldin-Meadow et al. (2001), Psychological Science 12(6)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Margaret Lowenfeld Trust, “The World Technique”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https://lowenfeld.org/the-world-technique/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8F812-EE8C-480C-BE05-92BC9BFC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22C56-7B8D-4718-8F8E-BAABA2C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Gracias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4FC02-9573-41B7-8EEE-B64CB2E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Dr. Miguel Ojeda Rios · Instituto Centrobioenergética</a:t>
            </a:r>
          </a:p>
        </p:txBody>
      </p:sp>
    </p:spTree>
    <p:extLst>
      <p:ext uri="{BB962C8B-B14F-4D97-AF65-F5344CB8AC3E}">
        <p14:creationId xmlns:p14="http://schemas.microsoft.com/office/powerpoint/2010/main" val="1547347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2026-09-04T22:39:23.3220000Z</dcterms:created>
  <dcterms:modified xsi:type="dcterms:W3CDTF">2026-09-04T22:39:23.3220000Z</dcterms:modified>
</coreProperties>
</file>