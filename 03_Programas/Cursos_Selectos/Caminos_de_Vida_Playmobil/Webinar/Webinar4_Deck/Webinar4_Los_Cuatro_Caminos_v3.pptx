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38e0b49f5f43c6" /><Relationship Type="http://schemas.openxmlformats.org/officeDocument/2006/relationships/extended-properties" Target="/docProps/app.xml" Id="Rdc47befff6084ac3" /><Relationship Type="http://schemas.openxmlformats.org/officeDocument/2006/relationships/officeDocument" Target="/ppt/presentation.xml" Id="R32e7b15794e547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5c3801946e4539"/>
  </p:sldMasterIdLst>
  <p:notesMasterIdLst>
    <p:notesMasterId xmlns:r="http://schemas.openxmlformats.org/officeDocument/2006/relationships" r:id="R9166396db4c04937"/>
  </p:notesMasterIdLst>
  <p:sldIdLst>
    <p:sldId xmlns:r="http://schemas.openxmlformats.org/officeDocument/2006/relationships" id="256" r:id="Rc67579ed5faf4088"/>
    <p:sldId xmlns:r="http://schemas.openxmlformats.org/officeDocument/2006/relationships" id="257" r:id="R702483d8820f4fd5"/>
    <p:sldId xmlns:r="http://schemas.openxmlformats.org/officeDocument/2006/relationships" id="258" r:id="Raad1cc3ef9e04665"/>
    <p:sldId xmlns:r="http://schemas.openxmlformats.org/officeDocument/2006/relationships" id="259" r:id="R3dd4edf1f353401d"/>
    <p:sldId xmlns:r="http://schemas.openxmlformats.org/officeDocument/2006/relationships" id="260" r:id="R652aad4d530a4088"/>
    <p:sldId xmlns:r="http://schemas.openxmlformats.org/officeDocument/2006/relationships" id="261" r:id="R6f30867eb8cf4880"/>
    <p:sldId xmlns:r="http://schemas.openxmlformats.org/officeDocument/2006/relationships" id="262" r:id="R9418a5b85c094447"/>
    <p:sldId xmlns:r="http://schemas.openxmlformats.org/officeDocument/2006/relationships" id="263" r:id="R46c75bec31174e2b"/>
    <p:sldId xmlns:r="http://schemas.openxmlformats.org/officeDocument/2006/relationships" id="264" r:id="Rb70dab1ee12b47bc"/>
    <p:sldId xmlns:r="http://schemas.openxmlformats.org/officeDocument/2006/relationships" id="265" r:id="Rd4966736d2624c1a"/>
    <p:sldId xmlns:r="http://schemas.openxmlformats.org/officeDocument/2006/relationships" id="266" r:id="Re66aae8a524e4ca4"/>
    <p:sldId xmlns:r="http://schemas.openxmlformats.org/officeDocument/2006/relationships" id="267" r:id="Redbd425ba4e34271"/>
    <p:sldId xmlns:r="http://schemas.openxmlformats.org/officeDocument/2006/relationships" id="268" r:id="R5bd2f9676f0f4f1e"/>
    <p:sldId xmlns:r="http://schemas.openxmlformats.org/officeDocument/2006/relationships" id="269" r:id="R1335269332644074"/>
    <p:sldId xmlns:r="http://schemas.openxmlformats.org/officeDocument/2006/relationships" id="270" r:id="Rf252685832824cd8"/>
    <p:sldId xmlns:r="http://schemas.openxmlformats.org/officeDocument/2006/relationships" id="271" r:id="Re033d3fbd23d4869"/>
    <p:sldId xmlns:r="http://schemas.openxmlformats.org/officeDocument/2006/relationships" id="272" r:id="Ra8c9ead7235d4c7c"/>
    <p:sldId xmlns:r="http://schemas.openxmlformats.org/officeDocument/2006/relationships" id="273" r:id="R78068ad8d89642ac"/>
    <p:sldId xmlns:r="http://schemas.openxmlformats.org/officeDocument/2006/relationships" id="274" r:id="R4df6567c3fb74e6d"/>
    <p:sldId xmlns:r="http://schemas.openxmlformats.org/officeDocument/2006/relationships" id="275" r:id="Ra91031427af7441b"/>
    <p:sldId xmlns:r="http://schemas.openxmlformats.org/officeDocument/2006/relationships" id="276" r:id="R0d2e833414d043f9"/>
    <p:sldId xmlns:r="http://schemas.openxmlformats.org/officeDocument/2006/relationships" id="277" r:id="Re4d658b1e69a4bb5"/>
    <p:sldId xmlns:r="http://schemas.openxmlformats.org/officeDocument/2006/relationships" id="278" r:id="R68140f94e93543d1"/>
    <p:sldId xmlns:r="http://schemas.openxmlformats.org/officeDocument/2006/relationships" id="279" r:id="Raa6f5a74fb8a4e99"/>
    <p:sldId xmlns:r="http://schemas.openxmlformats.org/officeDocument/2006/relationships" id="280" r:id="Rc0565e9e40f94d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45067e8df643af" /><Relationship Type="http://schemas.openxmlformats.org/officeDocument/2006/relationships/slideMaster" Target="/ppt/slideMasters/slideMaster1.xml" Id="R8f5c3801946e4539" /><Relationship Type="http://schemas.openxmlformats.org/officeDocument/2006/relationships/notesMaster" Target="/ppt/notesMasters/notesMaster1.xml" Id="R9166396db4c04937" /><Relationship Type="http://schemas.openxmlformats.org/officeDocument/2006/relationships/presProps" Target="/ppt/presProps.xml" Id="Rca94ac3685f444f9" /><Relationship Type="http://schemas.openxmlformats.org/officeDocument/2006/relationships/tableStyles" Target="/ppt/tableStyles.xml" Id="R7b2ccbccc8ec42dd" /><Relationship Type="http://schemas.openxmlformats.org/officeDocument/2006/relationships/slide" Target="/ppt/slides/slide1.xml" Id="Rc67579ed5faf4088" /><Relationship Type="http://schemas.openxmlformats.org/officeDocument/2006/relationships/slide" Target="/ppt/slides/slide2.xml" Id="R702483d8820f4fd5" /><Relationship Type="http://schemas.openxmlformats.org/officeDocument/2006/relationships/slide" Target="/ppt/slides/slide3.xml" Id="Raad1cc3ef9e04665" /><Relationship Type="http://schemas.openxmlformats.org/officeDocument/2006/relationships/slide" Target="/ppt/slides/slide4.xml" Id="R3dd4edf1f353401d" /><Relationship Type="http://schemas.openxmlformats.org/officeDocument/2006/relationships/slide" Target="/ppt/slides/slide5.xml" Id="R652aad4d530a4088" /><Relationship Type="http://schemas.openxmlformats.org/officeDocument/2006/relationships/slide" Target="/ppt/slides/slide6.xml" Id="R6f30867eb8cf4880" /><Relationship Type="http://schemas.openxmlformats.org/officeDocument/2006/relationships/slide" Target="/ppt/slides/slide7.xml" Id="R9418a5b85c094447" /><Relationship Type="http://schemas.openxmlformats.org/officeDocument/2006/relationships/slide" Target="/ppt/slides/slide8.xml" Id="R46c75bec31174e2b" /><Relationship Type="http://schemas.openxmlformats.org/officeDocument/2006/relationships/slide" Target="/ppt/slides/slide9.xml" Id="Rb70dab1ee12b47bc" /><Relationship Type="http://schemas.openxmlformats.org/officeDocument/2006/relationships/slide" Target="/ppt/slides/slide10.xml" Id="Rd4966736d2624c1a" /><Relationship Type="http://schemas.openxmlformats.org/officeDocument/2006/relationships/slide" Target="/ppt/slides/slide11.xml" Id="Re66aae8a524e4ca4" /><Relationship Type="http://schemas.openxmlformats.org/officeDocument/2006/relationships/slide" Target="/ppt/slides/slide12.xml" Id="Redbd425ba4e34271" /><Relationship Type="http://schemas.openxmlformats.org/officeDocument/2006/relationships/slide" Target="/ppt/slides/slide13.xml" Id="R5bd2f9676f0f4f1e" /><Relationship Type="http://schemas.openxmlformats.org/officeDocument/2006/relationships/slide" Target="/ppt/slides/slide14.xml" Id="R1335269332644074" /><Relationship Type="http://schemas.openxmlformats.org/officeDocument/2006/relationships/slide" Target="/ppt/slides/slide15.xml" Id="Rf252685832824cd8" /><Relationship Type="http://schemas.openxmlformats.org/officeDocument/2006/relationships/slide" Target="/ppt/slides/slide16.xml" Id="Re033d3fbd23d4869" /><Relationship Type="http://schemas.openxmlformats.org/officeDocument/2006/relationships/slide" Target="/ppt/slides/slide17.xml" Id="Ra8c9ead7235d4c7c" /><Relationship Type="http://schemas.openxmlformats.org/officeDocument/2006/relationships/slide" Target="/ppt/slides/slide18.xml" Id="R78068ad8d89642ac" /><Relationship Type="http://schemas.openxmlformats.org/officeDocument/2006/relationships/slide" Target="/ppt/slides/slide19.xml" Id="R4df6567c3fb74e6d" /><Relationship Type="http://schemas.openxmlformats.org/officeDocument/2006/relationships/slide" Target="/ppt/slides/slide20.xml" Id="Ra91031427af7441b" /><Relationship Type="http://schemas.openxmlformats.org/officeDocument/2006/relationships/slide" Target="/ppt/slides/slide21.xml" Id="R0d2e833414d043f9" /><Relationship Type="http://schemas.openxmlformats.org/officeDocument/2006/relationships/slide" Target="/ppt/slides/slide22.xml" Id="Re4d658b1e69a4bb5" /><Relationship Type="http://schemas.openxmlformats.org/officeDocument/2006/relationships/slide" Target="/ppt/slides/slide23.xml" Id="R68140f94e93543d1" /><Relationship Type="http://schemas.openxmlformats.org/officeDocument/2006/relationships/slide" Target="/ppt/slides/slide24.xml" Id="Raa6f5a74fb8a4e99" /><Relationship Type="http://schemas.openxmlformats.org/officeDocument/2006/relationships/slide" Target="/ppt/slides/slide25.xml" Id="Rc0565e9e40f94d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640c56c4a14e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d5cd9e2f2248b2" /><Relationship Type="http://schemas.openxmlformats.org/officeDocument/2006/relationships/notesMaster" Target="/ppt/notesMasters/notesMaster1.xml" Id="R53487c7e94724b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b5f7e068ca4d89" /><Relationship Type="http://schemas.openxmlformats.org/officeDocument/2006/relationships/notesMaster" Target="/ppt/notesMasters/notesMaster1.xml" Id="Rb79691906dfb4f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72245f69224acf" /><Relationship Type="http://schemas.openxmlformats.org/officeDocument/2006/relationships/notesMaster" Target="/ppt/notesMasters/notesMaster1.xml" Id="R134c38d6421f4f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8e14896eeb45d6" /><Relationship Type="http://schemas.openxmlformats.org/officeDocument/2006/relationships/notesMaster" Target="/ppt/notesMasters/notesMaster1.xml" Id="R6b0823ff5bf748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a39f18c65c4c51" /><Relationship Type="http://schemas.openxmlformats.org/officeDocument/2006/relationships/notesMaster" Target="/ppt/notesMasters/notesMaster1.xml" Id="R669ccfc685b14a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bcea6c7c594ea8" /><Relationship Type="http://schemas.openxmlformats.org/officeDocument/2006/relationships/notesMaster" Target="/ppt/notesMasters/notesMaster1.xml" Id="R469c5698eb3241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e226dcbaac4192" /><Relationship Type="http://schemas.openxmlformats.org/officeDocument/2006/relationships/notesMaster" Target="/ppt/notesMasters/notesMaster1.xml" Id="R4a31e802b5c849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c586d0ef144fa3" /><Relationship Type="http://schemas.openxmlformats.org/officeDocument/2006/relationships/notesMaster" Target="/ppt/notesMasters/notesMaster1.xml" Id="Rcb93cbccdf5e4c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ca7c47d423437b" /><Relationship Type="http://schemas.openxmlformats.org/officeDocument/2006/relationships/notesMaster" Target="/ppt/notesMasters/notesMaster1.xml" Id="Rbd9a4b83207c44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a4ae8046504b1b" /><Relationship Type="http://schemas.openxmlformats.org/officeDocument/2006/relationships/notesMaster" Target="/ppt/notesMasters/notesMaster1.xml" Id="Rf312ea717b164b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491ec59e7445e6" /><Relationship Type="http://schemas.openxmlformats.org/officeDocument/2006/relationships/notesMaster" Target="/ppt/notesMasters/notesMaster1.xml" Id="R1c97e637621742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d1663f222345bd" /><Relationship Type="http://schemas.openxmlformats.org/officeDocument/2006/relationships/notesMaster" Target="/ppt/notesMasters/notesMaster1.xml" Id="R0722d66655d147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a72afac1104e4e" /><Relationship Type="http://schemas.openxmlformats.org/officeDocument/2006/relationships/notesMaster" Target="/ppt/notesMasters/notesMaster1.xml" Id="Rd67494ed89e945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629ae0a3ec4d8a" /><Relationship Type="http://schemas.openxmlformats.org/officeDocument/2006/relationships/notesMaster" Target="/ppt/notesMasters/notesMaster1.xml" Id="Rdc2d089bacf14c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7753fd8f5b4492" /><Relationship Type="http://schemas.openxmlformats.org/officeDocument/2006/relationships/notesMaster" Target="/ppt/notesMasters/notesMaster1.xml" Id="R0a7346c06bb642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d4b22cf29341d4" /><Relationship Type="http://schemas.openxmlformats.org/officeDocument/2006/relationships/notesMaster" Target="/ppt/notesMasters/notesMaster1.xml" Id="Ra3563fbcc54943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c7b2dab42048d0" /><Relationship Type="http://schemas.openxmlformats.org/officeDocument/2006/relationships/notesMaster" Target="/ppt/notesMasters/notesMaster1.xml" Id="Rb6a9920a5c6e4d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789997e1aa4352" /><Relationship Type="http://schemas.openxmlformats.org/officeDocument/2006/relationships/notesMaster" Target="/ppt/notesMasters/notesMaster1.xml" Id="Rafb521dec5194e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053a6482934ea6" /><Relationship Type="http://schemas.openxmlformats.org/officeDocument/2006/relationships/notesMaster" Target="/ppt/notesMasters/notesMaster1.xml" Id="R406f8aaedcac43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42be2d3ed8140a5" /><Relationship Type="http://schemas.openxmlformats.org/officeDocument/2006/relationships/notesMaster" Target="/ppt/notesMasters/notesMaster1.xml" Id="R1dd8039152e742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b4860566294a4d" /><Relationship Type="http://schemas.openxmlformats.org/officeDocument/2006/relationships/notesMaster" Target="/ppt/notesMasters/notesMaster1.xml" Id="R35d457c8c77c4f1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9abe0c615fd4d95" /><Relationship Type="http://schemas.openxmlformats.org/officeDocument/2006/relationships/notesMaster" Target="/ppt/notesMasters/notesMaster1.xml" Id="R5b2c8f5ff658407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f967862f386474f" /><Relationship Type="http://schemas.openxmlformats.org/officeDocument/2006/relationships/notesMaster" Target="/ppt/notesMasters/notesMaster1.xml" Id="R0a5398aedd8f41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023d2520ab045cb" /><Relationship Type="http://schemas.openxmlformats.org/officeDocument/2006/relationships/notesMaster" Target="/ppt/notesMasters/notesMaster1.xml" Id="Racb1908301d14c4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18318c958bc4033" /><Relationship Type="http://schemas.openxmlformats.org/officeDocument/2006/relationships/notesMaster" Target="/ppt/notesMasters/notesMaster1.xml" Id="R5cb5a491f47d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Apertura. Presenta la clase como una demostración observacional: veremos primero la escena, luego la pregunta y por último el puente teórico. La portada usa una imagen editorial generada a partir del estilo visual aprobado.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 que los nombres y detalles identificables se han omitido. La clase muestra una forma de observar y preguntar; no convierte una escena en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los tres mecanismos como hipótesis de trabajo que luego se verán en casos concretos. La teoría entra después de la experiencia, no como una explicación que tape la observación.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el ritmo de la sesión para Zoom. Anticipa que habrá momentos de silencio y preguntas al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el primer caso y pide al grupo que observe el bloqueo sin interpretar todavía.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Datos tomados del guion y de la sesión comentada. Mantén el caso anonimizado y evita convertir el dolor de tobillo en una interpretación causal.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 la pregunta exacta y deja tiempo para respuestas. En la sesión, la consultante señala la orientación de las figuras hacia ella. Ese dato abre la exploración.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Frases de trabajo del caso. Marca que no se trata de repetir una frase como fórmula, sino de observar qué responsabilidad está asumiendo la consultante y qué permiso necesita construir.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escena de familia se exporta del layout y se usa como evidencia visual de la ampliación. Las frases son intervenciones orientativas del guion, no guiones automáticos.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 los cinco hallazgos de la sesión. Enfatiza que la formulación nace del lenguaje de la consultante después de observar la escena.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Muestra la escena completa sin añadir interpretación. Señala la dirección Oeste / Este y la diferencia entre figuras adultas y figura en escala infantil. Nota técnica: el layout exporta la vista cenital con sus ejes visibles.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Puente práctico del caso 1. No atribuir eficacia universal. La idea es que la configuración ofrece otra unidad de observación para dialogar con la persona.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el segundo caso como una demostración de distancia psicológica.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Preguntas textuales del guion. No adelantes la biografía del padre. La escena permite que la emoción se formule antes de explicar el motivo.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Después de la cadena de preguntas, el caso aporta la razón biográfica: el padre se ausentaba por trabajo. Señala que la posición funciona como puerta de entrada, no como explicación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Moser, J. S. et al. (2017). Third-person self-talk facilitates emotion regulation without engaging cognitive control: Converging evidence from ERP and fMRI. Scientific Reports, 7:4519. El guion conecta este hallazgo con la escena del padre lejano; presentarlo como conexión teórica, no como equivalencia experimental de la técnica con figuras.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el tercer caso: la decisión de levantarse aparece primero como movimiento de la figura.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guion especifica que el consultante decide levantarse, mueve la figura y comprueba que su propio cuerpo se modifica. La escena es una secuencia antes / después, no una demostración clínica universal.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Goldin-Meadow, S. et al. (2001). Explaining Math: Gesturing Lightens the Load. Psychological Science, 12(6). Presentar como un puente de comprensión del papel del movimiento, no como prueba directa de la técnica con muñecos.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una diapositiva de frase terapéutica independiente de la escena. Subraya el criterio: describir lo que la persona hizo, devolverle autoridad y no imponer una lectura.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bloque central. Evita presentar la escena como una prueba autónoma. La escucha, la evolución y el contexto siguen formando parte de la evaluación.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secuencia resume los movimientos observados en los tres casos. Úsala como guía de intervención, no como automatismo.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Criterios de exclusión y encuadre tomados del programa del taller citado en el guion. Si alguien pregunta por un caso concreto, devolver la conversación a la evaluación profesional y la seguridad.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promocional basado en el guion. Mantén el tono informativo, sin prometer resultados clínicos.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visibles para preguntas. Mantén disponibles los archivos locales y la referencia de Lowenfeld. La bibliografía de los puentes teóricos procede del guion del Webinar 4 y su tabla de fuentes.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1976e81844e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280445145a4c4d" /><Relationship Type="http://schemas.openxmlformats.org/officeDocument/2006/relationships/slideLayout" Target="/ppt/slideLayouts/slideLayout1.xml" Id="Re9a4877448244a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a4877448244a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b40ddf922455a" /><Relationship Type="http://schemas.openxmlformats.org/officeDocument/2006/relationships/image" Target="/ppt/media/image.png" Id="Rca908dd278f140f8" /><Relationship Type="http://schemas.openxmlformats.org/officeDocument/2006/relationships/notesSlide" Target="/ppt/notesSlides/notesSlide1.xml" Id="R0c1e6addc64d40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4b67c72d34c22" /><Relationship Type="http://schemas.openxmlformats.org/officeDocument/2006/relationships/image" Target="/ppt/media/image2.png" Id="Rb91c6e254db24055" /><Relationship Type="http://schemas.openxmlformats.org/officeDocument/2006/relationships/notesSlide" Target="/ppt/notesSlides/notesSlide2.xml" Id="Re9c9d8c3f1144c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a8881fe674c90" /><Relationship Type="http://schemas.openxmlformats.org/officeDocument/2006/relationships/notesSlide" Target="/ppt/notesSlides/notesSlide3.xml" Id="R32fee889422d4c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bfafe09bd4b88" /><Relationship Type="http://schemas.openxmlformats.org/officeDocument/2006/relationships/notesSlide" Target="/ppt/notesSlides/notesSlide4.xml" Id="R91fde8aacc8347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4bde1d8f84318" /><Relationship Type="http://schemas.openxmlformats.org/officeDocument/2006/relationships/image" Target="/ppt/media/image3.png" Id="Rce0ee8932e974a51" /><Relationship Type="http://schemas.openxmlformats.org/officeDocument/2006/relationships/notesSlide" Target="/ppt/notesSlides/notesSlide5.xml" Id="R72100d976b1e4f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87ecc38bc49a8" /><Relationship Type="http://schemas.openxmlformats.org/officeDocument/2006/relationships/image" Target="/ppt/media/image4.png" Id="Rbc444854aa1247d8" /><Relationship Type="http://schemas.openxmlformats.org/officeDocument/2006/relationships/notesSlide" Target="/ppt/notesSlides/notesSlide6.xml" Id="R9d5d2e3df7e64f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9c812c53749eb" /><Relationship Type="http://schemas.openxmlformats.org/officeDocument/2006/relationships/image" Target="/ppt/media/image5.png" Id="R113b1ed06a3b470e" /><Relationship Type="http://schemas.openxmlformats.org/officeDocument/2006/relationships/notesSlide" Target="/ppt/notesSlides/notesSlide7.xml" Id="Rfea876d1cc5f40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d4ae8f17d44fb" /><Relationship Type="http://schemas.openxmlformats.org/officeDocument/2006/relationships/notesSlide" Target="/ppt/notesSlides/notesSlide8.xml" Id="R5954255373934d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af778a6694c31" /><Relationship Type="http://schemas.openxmlformats.org/officeDocument/2006/relationships/image" Target="/ppt/media/image6.png" Id="Rf37c791cb98146b5" /><Relationship Type="http://schemas.openxmlformats.org/officeDocument/2006/relationships/notesSlide" Target="/ppt/notesSlides/notesSlide9.xml" Id="R7bb0d55b162e4a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8a7db522241cb" /><Relationship Type="http://schemas.openxmlformats.org/officeDocument/2006/relationships/notesSlide" Target="/ppt/notesSlides/notesSlide10.xml" Id="Rafa45508851e43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4347aaa414016" /><Relationship Type="http://schemas.openxmlformats.org/officeDocument/2006/relationships/image" Target="/ppt/media/image7.png" Id="Re34b6dfc1e7d4989" /><Relationship Type="http://schemas.openxmlformats.org/officeDocument/2006/relationships/notesSlide" Target="/ppt/notesSlides/notesSlide11.xml" Id="Rc3c0f3ccaf0140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c96785bf84250" /><Relationship Type="http://schemas.openxmlformats.org/officeDocument/2006/relationships/notesSlide" Target="/ppt/notesSlides/notesSlide12.xml" Id="R6e8abf65166049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08c7177f14d4a" /><Relationship Type="http://schemas.openxmlformats.org/officeDocument/2006/relationships/image" Target="/ppt/media/image8.png" Id="R8338cfb0637842fc" /><Relationship Type="http://schemas.openxmlformats.org/officeDocument/2006/relationships/notesSlide" Target="/ppt/notesSlides/notesSlide13.xml" Id="Rcc4d90da212f43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53173d6bf41d2" /><Relationship Type="http://schemas.openxmlformats.org/officeDocument/2006/relationships/image" Target="/ppt/media/image9.png" Id="Rc80fd7c226144cf7" /><Relationship Type="http://schemas.openxmlformats.org/officeDocument/2006/relationships/notesSlide" Target="/ppt/notesSlides/notesSlide14.xml" Id="R46b3404e503e43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056da04194a5f" /><Relationship Type="http://schemas.openxmlformats.org/officeDocument/2006/relationships/notesSlide" Target="/ppt/notesSlides/notesSlide15.xml" Id="Rcd2ea005a46548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8469bc1fd4207" /><Relationship Type="http://schemas.openxmlformats.org/officeDocument/2006/relationships/notesSlide" Target="/ppt/notesSlides/notesSlide16.xml" Id="Rc135504063f947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1f7bfbd5c474b" /><Relationship Type="http://schemas.openxmlformats.org/officeDocument/2006/relationships/image" Target="/ppt/media/image10.png" Id="Rf20ea02154404a39" /><Relationship Type="http://schemas.openxmlformats.org/officeDocument/2006/relationships/notesSlide" Target="/ppt/notesSlides/notesSlide17.xml" Id="R00d4f77603e845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077ecc2cf43df" /><Relationship Type="http://schemas.openxmlformats.org/officeDocument/2006/relationships/image" Target="/ppt/media/image11.png" Id="R1be1656469224a6d" /><Relationship Type="http://schemas.openxmlformats.org/officeDocument/2006/relationships/image" Target="/ppt/media/image12.png" Id="R4f548b6ab671456e" /><Relationship Type="http://schemas.openxmlformats.org/officeDocument/2006/relationships/notesSlide" Target="/ppt/notesSlides/notesSlide18.xml" Id="R3df02c36778847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ed7abfc12440a" /><Relationship Type="http://schemas.openxmlformats.org/officeDocument/2006/relationships/notesSlide" Target="/ppt/notesSlides/notesSlide19.xml" Id="R73ca7f38ebe943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2eef60b5b4b4e" /><Relationship Type="http://schemas.openxmlformats.org/officeDocument/2006/relationships/notesSlide" Target="/ppt/notesSlides/notesSlide20.xml" Id="R71af2cb0de1b474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aa97fa9014b7f" /><Relationship Type="http://schemas.openxmlformats.org/officeDocument/2006/relationships/notesSlide" Target="/ppt/notesSlides/notesSlide21.xml" Id="Rc111dee86a1443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a59f4018c464e" /><Relationship Type="http://schemas.openxmlformats.org/officeDocument/2006/relationships/notesSlide" Target="/ppt/notesSlides/notesSlide22.xml" Id="R07fed283572f45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a043239ed4b2a" /><Relationship Type="http://schemas.openxmlformats.org/officeDocument/2006/relationships/notesSlide" Target="/ppt/notesSlides/notesSlide23.xml" Id="R5422ac6fe7f947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498b46a174973" /><Relationship Type="http://schemas.openxmlformats.org/officeDocument/2006/relationships/notesSlide" Target="/ppt/notesSlides/notesSlide24.xml" Id="R79f2fa190c92417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18d52a7874e3b" /><Relationship Type="http://schemas.openxmlformats.org/officeDocument/2006/relationships/notesSlide" Target="/ppt/notesSlides/notesSlide25.xml" Id="R11ca8d90ad274a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08dd278f140f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4E7CA-B22E-47FB-B93E-1F106F5A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619FD-8EA0-4B59-9E06-F589BB78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48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5AF22-5EA1-495C-BE29-79F7DC98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▶   WEBINAR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F0337-C05D-472D-81F5-1F83B31A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TERAPIA CON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63008-1EEE-4AAA-AC94-FD5392E6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MUÑECOS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FD971-E120-4737-8CB0-8FAC5C84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1B1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7E0A6-0F89-4CD2-BCE8-55B6DF97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4019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TRES SESIONES REALES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D9DA3-C15E-4633-A36D-DD6EA2D2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HOJA REVELA LO QUE LA</a:t>
            </a:r>
          </a:p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CONVERSACIÓN NO ALCANZA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DB824-BC76-4A66-816B-7D4C98F7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B0CD7-321E-4399-BB4F-1FCBC47D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291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Casos anonimizados · demostración en vivo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5E90F-AF64-428B-BE6E-9B4A9A3A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769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DR. MIGUEL OJEDA 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C1C26-85EF-4D33-B666-8D826BA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INSTITUTO CENTROBIOENERGÉTICA</a:t>
            </a:r>
          </a:p>
        </p:txBody>
      </p:sp>
    </p:spTree>
    <p:extLst>
      <p:ext uri="{BB962C8B-B14F-4D97-AF65-F5344CB8AC3E}">
        <p14:creationId xmlns:p14="http://schemas.microsoft.com/office/powerpoint/2010/main" val="960759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C1E2F-67C5-44E3-9B91-DFDCC57A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ENCUADRE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AF838-0919-43C7-A332-DA52CEE3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CE748-AED5-4C82-A784-AA95B2D7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A5F48-A23F-4DFD-BA9D-B5A8D20F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clase para mirar antes de explicar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B1038-E73B-40BF-B4F5-32D79961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Tres sesiones reales, una misma pregunta: ¿qué aparece cuando la relación ocupa un lugar?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E3A86-49E2-46BB-80A1-E0D6643F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019175"/>
            <a:ext cx="4572000" cy="295275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c6e254db24055"/>
          <a:srcRect xmlns:a="http://schemas.openxmlformats.org/drawingml/2006/main" l="5937" t="0" r="59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066800"/>
            <a:ext cx="447675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76AEF-D1CE-42A2-8C8B-9C6BB1FF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Escena inicial: una figura en el tablero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2FB74-E82E-4434-A301-BBD5F199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DURACIÓN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920D7-3AD3-467F-BF70-639DCCD0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70 min + 10 min de preguntas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7C648-256F-4C1C-98B3-79A40D88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MATERIAL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4DFE5-6F43-44BE-B9F3-1ADFC515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Figuras, hoja, ejes y preguntas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A24D5-1F48-4174-8577-9A148AD0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ENCUADRE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26937-FE71-4007-B993-14AB07B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Casos reales anonimizados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C876B-ABB6-4A81-A7EF-DE3D67EC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B5B21-97B4-4CB8-B8E8-91D3A21F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910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“Hoy no vamos a empezar por la teoría. Vamos a empezar por lo que la escena hace visible.”</a:t>
            </a:r>
          </a:p>
        </p:txBody>
      </p:sp>
    </p:spTree>
    <p:extLst>
      <p:ext uri="{BB962C8B-B14F-4D97-AF65-F5344CB8AC3E}">
        <p14:creationId xmlns:p14="http://schemas.microsoft.com/office/powerpoint/2010/main" val="187116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7DA0A-EA59-4B97-8C88-519AE822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MAPA DE LA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D8E5B-062C-45AC-83D2-C494C6CB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EBC17-DE17-4087-8286-831AB52D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E91F8-3FBD-4645-A921-6280871D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Qué vas a observar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82449-2846-44BD-967A-29F34EAA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El mismo proceso se despliega en tres mecanismos visibles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614EA-D5A7-44C9-A1B1-80A51722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2C058-B6F4-45D4-8A9A-E1578D21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EE9E8-4C5E-43C8-A099-B6DD2372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Externalización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9FE77-34FB-482B-9107-59296070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relación sale del cuerpo y ocupa una posición en la hoja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D9F14-87E3-44BC-AEE2-6F8231F3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810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328EA-20DE-4CFA-8A82-7F9F0A68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147C2-4FD8-467D-A82B-83A7A3C7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D6721-725E-47FC-A430-E199B6A8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Distancia psicológica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ED323-6254-41F5-9EED-B59A9066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separación cambia el acceso a la emoción y a la biografía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713C0-6D82-4B1D-A833-803953B8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810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97C13-8F3C-46B1-A702-2284C900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1FB99-06D5-4048-B697-72017CE7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2F304-B2FB-443D-9731-B6EDE3A2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Gesto y postura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F6C8A-C1A1-44DE-B510-827E2F71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Mover una figura modifica la forma de pensar la 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322B8-A201-4295-B41E-9DC17040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810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08F5D-4527-481F-9DA2-18F3D1DD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secuencia de lectura se mantiene estable: posición → pregunta → relato → verificación.</a:t>
            </a:r>
          </a:p>
        </p:txBody>
      </p:sp>
    </p:spTree>
    <p:extLst>
      <p:ext uri="{BB962C8B-B14F-4D97-AF65-F5344CB8AC3E}">
        <p14:creationId xmlns:p14="http://schemas.microsoft.com/office/powerpoint/2010/main" val="451965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88DA5-5908-4406-A7EA-853E2AFA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MAPA DE LA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61D7B-FD0D-4932-AD03-9C7387D5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4D533-11D5-46B4-9317-CF4D7980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FAB22-00A9-45CC-B27A-0116CD0A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ruta de la demostración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D6821-B142-4E91-891E-29245BD0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Cada bloque agrega una capa: ver, preguntar, comprender, verificar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C635F-238D-4AE2-A41B-38FB938F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000125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9C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C7B9A-D927-49C0-A487-9D388206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957FC-427A-4330-A486-CABF2B47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E9D5C-2096-454D-8C02-0C5B19CC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54F6D-B0EE-4F20-B81B-9FA8C9F0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escena inicial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7674F-B6D5-468E-AD28-F42844D5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32FF3-B644-4700-AED9-060AF044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9BA6E-BA4B-471B-88C9-42B39C10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Preguntar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09A1E-44A3-45E3-BD1D-833355A1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llama la atención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FAF07-FD83-4244-B2CA-3A8A9075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7211D-E850-4CC3-82E7-AD867175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3227F-83F3-49D0-90D6-8B263E79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Comprender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160F6-3B1D-47DE-8D96-3F59D2DA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Biografía y teoría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9E0DE-01F5-458A-AB9F-FCD96FF7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A8FF8-6696-4821-AEB5-936C98AE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42275-6BBF-47FD-8AA7-F97DC8A8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915C1-394F-4B32-A8CF-DBC69FB0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Una nueva posición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7AE9D-FFEE-4A3D-A3DA-BE9A1C2F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91F8D-BBEF-4BE0-A2C4-B0B80D10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E21626-E047-4979-83B9-D9EB2E13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Verificar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02690-AC82-4557-919F-5FB88B3A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cambia en el cuerpo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84879-84FA-4A7F-B5AD-39C1D3D1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E917E5-D179-4F3D-B9CF-778A2655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5901DC-52AE-4455-906E-A1C5862E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Cerrar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E623DA-6791-4902-8A55-409929D3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Límites y encuadre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FD6C3C-E1C3-430C-9BE8-A8BE19C2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8F8D8-EA64-4B62-86D9-D34F2DAF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Primero la imagen. Después la explicación.</a:t>
            </a:r>
          </a:p>
        </p:txBody>
      </p:sp>
    </p:spTree>
    <p:extLst>
      <p:ext uri="{BB962C8B-B14F-4D97-AF65-F5344CB8AC3E}">
        <p14:creationId xmlns:p14="http://schemas.microsoft.com/office/powerpoint/2010/main" val="131302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ee8932e974a5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A44AF-26CB-497F-BCDD-05BD1169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EF69B-95D2-4928-95A6-C1E64858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6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7AC66-0DF9-4EB5-866D-985F6003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CASO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D5CC0-D245-45CF-B62C-F00A9806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El bloqueo</a:t>
            </a:r>
          </a:p>
          <a:p xmlns:a="http://schemas.openxmlformats.org/drawingml/2006/main">
            <a:pPr algn="l">
              <a:def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del camino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91AC5-ACCB-4112-84E7-CA77133B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Responsabilidad heredada, lealtades y permiso para descansar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50A06-413C-40C4-AC81-601905B1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9D135-017F-427E-9176-ECB03A9C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Una escena que comienza con dolor físico</a:t>
            </a:r>
          </a:p>
        </p:txBody>
      </p:sp>
    </p:spTree>
    <p:extLst>
      <p:ext uri="{BB962C8B-B14F-4D97-AF65-F5344CB8AC3E}">
        <p14:creationId xmlns:p14="http://schemas.microsoft.com/office/powerpoint/2010/main" val="2025054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C12CB-4344-43E1-8E48-87D26632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RESPONSABILIDAD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F026D-183E-4BD0-AF76-862551A1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85610-28B9-4BC0-8E02-D14B2F47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58576-FE41-4DAD-9B46-62FDD3BC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El contexto de la consultante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A8753-6E7E-4880-A058-0211B47F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escena llega antes que la explicación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0FE2F-486E-4876-AA22-E9D31B2A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000125"/>
            <a:ext cx="4591050" cy="295275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44854aa1247d8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047750"/>
            <a:ext cx="449580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F426C-5065-45DC-AD7E-FC5240D9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Una mujer de 45 años, sola en el tablero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5EB77-D856-46D2-862C-CA917A1F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40C69-EF56-49DB-8B7F-6761E55B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45 años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3257C-3EF0-44FF-87D8-BD00AAE0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8A79F-51DC-49AF-B7B7-3FF82B50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Casada · dos hijos adultos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4AD08-23BB-48B3-A6F9-D58D34E1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VIDA DIARIA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96AA9-BD3D-4632-8B39-901FB82A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Lleva un negocio de abarrotes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830E0-4899-42E8-8514-99F3BF5F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MOTIVO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0F579-01BB-4438-8275-2620B613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Dolor de tobillo y deuda de la casa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B24A8-3D46-4E4E-85CC-D3E6C1B3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primera decisión clínica es no llenar el silencio demasiado pronto.</a:t>
            </a:r>
          </a:p>
        </p:txBody>
      </p:sp>
    </p:spTree>
    <p:extLst>
      <p:ext uri="{BB962C8B-B14F-4D97-AF65-F5344CB8AC3E}">
        <p14:creationId xmlns:p14="http://schemas.microsoft.com/office/powerpoint/2010/main" val="10720528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BD73D-2165-43BB-84F5-1930F24E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OBSERVACIÓN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42181-D864-4B0B-B749-BEA213D7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440F1-7F24-4C4B-8CE8-D97BB2AD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C5166-F825-4A5C-8195-27C86DB4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Primera escena: el cuerpo en el centro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9BB72-FC47-4CB7-B8F0-36D445C7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pregunta no busca una respuesta correcta; busca una descripción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2D64F-9D32-497B-8E21-8F08A3FA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6667500" cy="4191000"/>
          </a:xfrm>
          <a:prstGeom xmlns:a="http://schemas.openxmlformats.org/drawingml/2006/main" prst="roundRect">
            <a:avLst>
              <a:gd name="adj" fmla="val 90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b1ed06a3b470e"/>
          <a:srcRect xmlns:a="http://schemas.openxmlformats.org/drawingml/2006/main" l="4869" t="0" r="48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66850"/>
            <a:ext cx="657225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C59FF-E80F-49A1-A97A-26336B58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Vista cenital exportada desde layout_caminos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5DB5D-FDAA-42C6-B72B-EFF74B2B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90700"/>
            <a:ext cx="3143250" cy="17526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73E4F-21F4-47C9-8CF1-E0E2617E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PREGUNTA AL GRUPO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D3583-7AB7-4DB2-A2EE-40C37683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0EB0D-1B6C-4CAD-831F-40EB0659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2343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le llama la atención de esta escena?”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DF601-2F58-4CBE-B76B-E5BEEB51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95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93191-17B8-4614-A275-A92E5303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“Que quedaron completamente de frente a mí.”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24F5D-C9B3-4F18-849B-F0651B3B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19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Observación antes de interpretación</a:t>
            </a:r>
          </a:p>
        </p:txBody>
      </p:sp>
    </p:spTree>
    <p:extLst>
      <p:ext uri="{BB962C8B-B14F-4D97-AF65-F5344CB8AC3E}">
        <p14:creationId xmlns:p14="http://schemas.microsoft.com/office/powerpoint/2010/main" val="182550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E21CF-46AC-4E68-BDFA-5B2DF25B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FRASES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869BC-3A71-42ED-B739-3B603276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FD45E-D32A-46CD-B37D-95640E84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D11C3-484C-496D-B1E1-BE9E7AA4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misma escena puede escuchar dos frases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5F983-F8D5-4403-9B89-8413D6E3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El tono relacional cambia lo que la figura representa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CBC44-C1BD-49E2-96E4-4F58A951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Cuando una hija dice: “Mamá, me voy a Francia”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08CAB-3FDC-4048-B4AF-30278038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47625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19050">
            <a:solidFill>
              <a:srgbClr val="B560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02158-2784-4DE5-9A62-581C35EF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RESPUESTA QUE 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16749-006B-4A0A-97F3-1A5D78B5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9E1BD-01B2-4EC5-95AB-20CD7937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3771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“No te preocupes si me enfermo, ¿eh?</a:t>
            </a:r>
          </a:p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Tú ve a disfrutar.”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20F26-9C1A-4FC1-B80E-BD6F5A2C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47625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19050">
            <a:solidFill>
              <a:srgbClr val="6279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94C2B-FFFB-4BF0-A846-2DB5DEE4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RESPUESTA QUE ABRE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9D099-949B-45EC-A7FA-328A2591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5DA5B-76D9-41AA-B066-0F547985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3771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“Que te vaya bien.</a:t>
            </a:r>
          </a:p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Si encuentras algo por ahí, me lo traes.”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B2BFD-6AAC-4534-B2FC-C259A0EB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frase terapéutica no niega el vínculo. Le devuelve a cada quien su lugar.</a:t>
            </a:r>
          </a:p>
        </p:txBody>
      </p:sp>
    </p:spTree>
    <p:extLst>
      <p:ext uri="{BB962C8B-B14F-4D97-AF65-F5344CB8AC3E}">
        <p14:creationId xmlns:p14="http://schemas.microsoft.com/office/powerpoint/2010/main" val="8294940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72991-3B06-4E17-93E3-5AEAEB3A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6EB4B-BFFF-4753-9115-016DDBE4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45DA9-D05E-4407-B6EE-55441A89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D085B-DE66-408F-A4F7-FAB037AA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Cuando aparecen los otros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F29E4-F822-4E9F-87F2-869B8544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escena se amplía y también cambia la pregunta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95C1F-E6CC-46A9-B4CC-51F01D7A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95325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c791cb98146b5"/>
          <a:srcRect xmlns:a="http://schemas.openxmlformats.org/drawingml/2006/main" l="6915" t="0" r="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352550"/>
            <a:ext cx="68580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9D27E-DED9-4355-9C1C-722CD367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Padre, madre y consultante en una primera ampliación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1C14F-6FC8-4308-8EE1-58258C4E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81150"/>
            <a:ext cx="30289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AE217-C33C-4974-A54B-25C05F80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PREGUNTAS DE LECTURA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F96B7-C015-46D5-AECC-0D6C7C57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38375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¿Quién mira a quién?</a:t>
            </a:r>
          </a:p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¿Quién queda doblado?</a:t>
            </a:r>
          </a:p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¿Quién ocupa el centro?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28E6B-9C6B-40EF-9F87-063643BA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EDFDD-9206-472F-89E5-EB3CE5AF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2800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42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“De ti vino la vida para mí, con lo bueno y con lo malo.”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E915-2FDD-43A8-A066-FD0B6C8A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958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B319C-0D6F-4FC5-AEDD-5D4026E1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2800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0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“Yo soy tu hija y tú eres el papá.”</a:t>
            </a:r>
          </a:p>
        </p:txBody>
      </p:sp>
    </p:spTree>
    <p:extLst>
      <p:ext uri="{BB962C8B-B14F-4D97-AF65-F5344CB8AC3E}">
        <p14:creationId xmlns:p14="http://schemas.microsoft.com/office/powerpoint/2010/main" val="7915717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77180-A8CE-4649-9A6A-E69F233D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HALLAZGOS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6CFFF-4973-4B20-8E0C-6E7603E3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A0A6D-5203-462C-AFC5-E38004CF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89B00-604A-4260-82AD-693E91E1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formulación aparece en sus palabras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CD7C5-78EC-4D8C-A86B-3E9136D3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Cinco hallazgos que la consultante puede reconocer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88D15-A564-47D0-BD8B-0E895EEB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31A9F-CCAD-49F0-A17B-D0B0D3A8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66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Mirada familiar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BDD20-02A6-4D6E-8489-AF47DC36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669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Sus padres la miran completamente de frente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262F6-5EFE-4685-B8A2-5C6F853A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4317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3A636-4D2C-4F7B-A27A-BF791B8A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2D5FF-0E57-4644-9738-2D051B15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09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Madre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CD92D-35AB-441F-8B5E-30D54EB3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98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Nombra la diferencia entre dos frases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36618-D38A-4F2D-B996-4F742881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861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22FA4-6A34-469A-9C41-98FBB183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B45CD-A609-4104-B6EA-26C7F33D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528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Hijo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2525D-7F1E-4ED8-BF07-B2686719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528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Mira hacia su abuela, no hacia ella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FCB43-6635-42F4-B5E8-02E39CF8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2907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B8B9E-219E-42EC-B379-D7DE8A5F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C058C-D667-4056-8F49-52EAD74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9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Responsabilidad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F99BC-65F9-4435-BB25-0499B8F6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957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Va a la responsabilidad porque así 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9CB28-9964-4914-95B8-EC187C7E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720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93E3AC-C24C-4598-8B19-5970C0EB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EE4DA-5C67-4079-8A83-9D7A40DA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38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Necesidad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DDD649-11F2-41A9-BA72-7074850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387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Para sentirse mejor necesita descanso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B9263E-2338-4DA6-95B0-C303C7E1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1497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540FE-9B09-4BA0-AD0E-72A6B7BF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teoría puede ordenar la experiencia. No tiene que hablar por la persona.</a:t>
            </a:r>
          </a:p>
        </p:txBody>
      </p:sp>
    </p:spTree>
    <p:extLst>
      <p:ext uri="{BB962C8B-B14F-4D97-AF65-F5344CB8AC3E}">
        <p14:creationId xmlns:p14="http://schemas.microsoft.com/office/powerpoint/2010/main" val="807191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00BDF-09D2-49B5-8FF0-27FF1ADE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SISTEMA COMPLETO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45585-0598-4191-BCDE-C6DD7FFA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827F6-760C-4AB6-BC7F-5E1318F1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B10D5-450A-44F4-A6C7-C1C2FAC6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escena completa: una red de lealtades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03F8E-3C5C-4016-AA5B-8DFD7351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El mapa permite ver simultáneamente dirección, distancia y tamaño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A17FA-8334-4370-8E40-1FC5282A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190625"/>
            <a:ext cx="11144250" cy="51435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b6dfc1e7d4989"/>
          <a:srcRect xmlns:a="http://schemas.openxmlformats.org/drawingml/2006/main" l="0" t="9387" r="0" b="93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238250"/>
            <a:ext cx="11049000" cy="5048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B73B1-72A3-4311-8A69-EE58402E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Escena completa exportada desde layout_caminos</a:t>
            </a:r>
          </a:p>
        </p:txBody>
      </p:sp>
    </p:spTree>
    <p:extLst>
      <p:ext uri="{BB962C8B-B14F-4D97-AF65-F5344CB8AC3E}">
        <p14:creationId xmlns:p14="http://schemas.microsoft.com/office/powerpoint/2010/main" val="4329050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A6085-E8C1-4487-95EF-08A54B39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PUENTE TEÓRICO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F1964-21F7-4789-8318-AE93952C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8CB01-0574-46E9-9D69-F2993D47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05A35-EAC0-4F5E-A570-28B92CD7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Externalizar cambia la unidad de observación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C4EFC-E99E-44D1-85E9-7D856378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relación deja de ser solo un relato interno y se vuelve una configuración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F7ADB-48C8-4047-AF44-0B79EC76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15719-105B-4784-A154-CC8139EA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19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FF6C3-CF02-4FF1-B40F-6AC210B3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Separar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8233E-9F51-45AA-95EA-C7C54252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figura representa una relación sin ocupar el cuerpo de la consultante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2CCBC-2231-4597-9EAA-87B4BA1A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24100"/>
            <a:ext cx="24765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87B5D-3B5A-4F30-AA4B-6357A780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A0760-B593-414E-B9D1-66D0CD27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19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034BF-C9FF-4BA3-A9E4-1F1F67CF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Observar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5CC9D-F522-4FF8-BEB2-B88F58F2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480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posición, la distancia y la orientación generan lenguaje descriptivo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E7C73-6DA5-4FE0-BA8F-8C2FF69B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24100"/>
            <a:ext cx="24765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35203-114A-4A9E-90B1-F63CB322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7C2FB-CAFB-4F4D-ACEB-D45E2E8C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19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71A04-D77C-47E3-81C6-71A2B780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Nombrar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79CF4-0C4D-4355-A96F-0AE3EC8A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persona encuentra una formulación propia y comprobable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16058-1BC5-432C-9427-A7F418B7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C6D67-6E22-4A04-9E0A-8FBEC4C0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796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9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“Primero se ve. Después se explica.”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7483C-9801-4CA1-934C-B58E0D62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escena no sustituye la escucha ni la historia clínica.</a:t>
            </a:r>
          </a:p>
        </p:txBody>
      </p:sp>
    </p:spTree>
    <p:extLst>
      <p:ext uri="{BB962C8B-B14F-4D97-AF65-F5344CB8AC3E}">
        <p14:creationId xmlns:p14="http://schemas.microsoft.com/office/powerpoint/2010/main" val="15774956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8cfb0637842f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FE4EB-5110-4945-8333-F5D5B626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2F15C-7FD4-4C65-B360-839EBF4F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6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F3F57-621E-46B8-B35B-CD8A046E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CASO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8C522-467C-47F7-B2E1-51E7354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distancia</a:t>
            </a:r>
          </a:p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que se puede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1F8E3-85FD-49FE-93CF-92537A7B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Un padre lejano, una emoción que aparece antes de la explicación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35A26-83BC-4DFD-87D2-5B8F9BC6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DE38A-8553-4E85-A756-789D0E32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Posición, tristeza y biografía</a:t>
            </a:r>
          </a:p>
        </p:txBody>
      </p:sp>
    </p:spTree>
    <p:extLst>
      <p:ext uri="{BB962C8B-B14F-4D97-AF65-F5344CB8AC3E}">
        <p14:creationId xmlns:p14="http://schemas.microsoft.com/office/powerpoint/2010/main" val="16130947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5F5A2-EC1F-4885-B429-0FF3B5A6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2 · DISTANCIA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8F5FA-4602-405C-9166-D212420E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9FBDF-4182-4FC3-90F2-3181AD83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37C06-6E89-4F9F-9279-F0C2EE7B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Dos figuras y una separación significativa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40758-E618-40F8-992A-D94EB47B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consultante observa antes de saber por qué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D634E-2BCC-4DC7-9706-3F263298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62075"/>
            <a:ext cx="695325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fd7c226144cf7"/>
          <a:srcRect xmlns:a="http://schemas.openxmlformats.org/drawingml/2006/main" l="6915" t="0" r="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09700"/>
            <a:ext cx="68580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0042-5739-4F88-8847-E577B28E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Consultante y padre en posiciones alejadas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D0D27-2734-4098-AC70-FDCADDA1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64ACA-25F8-4999-8BC7-8821D05D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“¿Cómo ves la posición?”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33168-5116-4478-9521-E4960AE7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0A18F-76F5-4646-A44F-5B6CFC46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“Dolorosa. Como forzada.”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EE32B-34D1-4787-BE6C-29970CE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6D05F-70BB-48C1-AA29-E4190F4C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te llama la atención?”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52FFB-718D-4E2D-A826-5F5CDC2E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8D320-81AE-4937-B977-0CC55A0E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7200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“No lo miro. Está lejos.”</a:t>
            </a:r>
          </a:p>
        </p:txBody>
      </p:sp>
    </p:spTree>
    <p:extLst>
      <p:ext uri="{BB962C8B-B14F-4D97-AF65-F5344CB8AC3E}">
        <p14:creationId xmlns:p14="http://schemas.microsoft.com/office/powerpoint/2010/main" val="5422510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F75F6A-019D-4B39-9529-EADD2A30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2 · SECUENCIA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F736E-087A-43A2-8704-84CBEA8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90A63-B759-41CB-8F3E-71C3FAA9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BB0B3-B784-4D8B-A890-1995A2E9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De la posición a la biografía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ADE1D-EDFB-4136-889B-F56F4F48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Cuatro preguntas mantienen el foco en lo que la escena revela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D711A-CDBD-4E38-AB7B-875ED548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27DDC-E9A0-4B1D-9EF5-E91EFB0D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69A0A-A819-46C4-A2E4-D2A919A3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85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Posición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D2D42-EA49-4038-A01C-A8D7BD1D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999C3-AC59-40BD-91D2-2BA3DAF0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81200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“¿Cómo ves la posición?”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BD90F-DD8E-4783-AAF2-798E5B7E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6B7A1-63F7-4F06-A70D-06D0C79B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CA114-39FA-49F9-B376-CE93748D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Atención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0ED45-7DAD-4CB9-BDD4-2CF1AA26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B803D-E5DD-42D2-96C1-8EBB7E8B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81325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te llama la atención?”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03553-430F-4658-B3E3-5E418225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67279-15B3-499C-B58F-E74F45DA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4A223-0EB0-49E4-B51C-D32A479B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862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Emoción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424A0-A834-439D-AF75-D195D164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56A5F-C8D3-402E-BCBA-321A5D0A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sientes?”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38E99-F979-4A85-BCBD-3D511D44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FC40F-7CF6-49DE-974E-7B740D41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292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3CF78-86B4-45D8-B4D7-3479B863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Origen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054CB-A3E4-4B45-A5AC-9DDA2533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0062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46CF3-E6B1-4826-9E1A-3360E91E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81575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“¿De dónde surgirá?”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10880-2119-4423-A0D0-E7CA2B75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En el caso: tristeza → distancia → padre ausente por trabajo.</a:t>
            </a:r>
          </a:p>
        </p:txBody>
      </p:sp>
    </p:spTree>
    <p:extLst>
      <p:ext uri="{BB962C8B-B14F-4D97-AF65-F5344CB8AC3E}">
        <p14:creationId xmlns:p14="http://schemas.microsoft.com/office/powerpoint/2010/main" val="6937425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742F9-16AE-4CA1-B680-0983F5F9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PUENTE TEÓRICO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CBB3D-AB6A-471C-91A6-528D7ECA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CBEF0-6E6B-4D20-A3E4-1522087A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D07ED-1A0C-4196-909D-090E9D21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Distancia psicológica y regulación emocional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E26F9-A864-47D7-884A-09FE8625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Conexión con el Webinar 3: cambiar la posición cambia el punto de vista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AABD0-45B2-4641-8B89-88FA732B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667250" cy="2743200"/>
          </a:xfrm>
          <a:prstGeom xmlns:a="http://schemas.openxmlformats.org/drawingml/2006/main" prst="roundRect">
            <a:avLst>
              <a:gd name="adj" fmla="val 1736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23626-D7C9-45F3-9B28-24EBA372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rPr>
              <a:t>HALLAZGO CITADO EN EL GUION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58349-6EBF-44D9-A963-1AB2A863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Moser, Dougherty, Mattson y colaboradores</a:t>
            </a:r>
          </a:p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(2017, Scientific Reports)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E05EC-B4B3-4A21-8A54-C77463B0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El diálogo en tercera persona se estudió como una forma de distancia psicológica que facilita la regulación emocional sin exigir un esfuerzo consciente de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6DB42-7F37-450D-8D9F-295A24C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EN ESTA ESCENA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5C940-0773-4E6E-A496-9568A96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342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87B18-BA8D-470D-992D-BA124C82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Cuerpo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8FFE7-D9BC-4E3C-8DF5-BB354768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9525" cy="2571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A4A5B-FF4C-418E-892E-83E6A498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342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BC3D7-0417-4759-B4E9-8343E16C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28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Figura del padre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90501-AE53-497D-9726-EE3EC5ED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9525" cy="2571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77FBC-4A46-47F7-AA20-D3A19D0C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342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8EA56-73AF-4560-8026-1E3BF2A1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290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Relato propio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13C8C-3CDB-403B-A9FB-E9CF5E93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E8D8C-A7FC-4F27-B2E4-5C78012D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33950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“La tristeza aparece antes de que la mente tenga tiempo de explicarla.”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77FBA-D538-4F91-8964-CC2BD46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531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Fuente completa en las notas del presentador.</a:t>
            </a:r>
          </a:p>
        </p:txBody>
      </p:sp>
    </p:spTree>
    <p:extLst>
      <p:ext uri="{BB962C8B-B14F-4D97-AF65-F5344CB8AC3E}">
        <p14:creationId xmlns:p14="http://schemas.microsoft.com/office/powerpoint/2010/main" val="6859151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ea02154404a3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28CCE-822F-4340-9B4E-70C25DE0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7F031-5A24-44E9-BDE2-24ECB184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6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73485-D188-4DDC-A047-CEE2FDC0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CASO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9E4D8-CA24-4F2D-852B-334EBC4E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Cuando la figura</a:t>
            </a:r>
          </a:p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se levanta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FF7B1-C88C-4E80-97A7-65BB1661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Postura, gesto y una decisión que encuentra autoridad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9B9EF-8676-495E-B93F-EEB561FE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7CE53-F9E8-45AD-ADCE-24B3452C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El cambio se comprueba en el cuerpo</a:t>
            </a:r>
          </a:p>
        </p:txBody>
      </p:sp>
    </p:spTree>
    <p:extLst>
      <p:ext uri="{BB962C8B-B14F-4D97-AF65-F5344CB8AC3E}">
        <p14:creationId xmlns:p14="http://schemas.microsoft.com/office/powerpoint/2010/main" val="2045667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0DFD4-F2AC-4614-9584-AA6B4478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3 · POSTURA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ABB2D-3D5D-46B1-AB26-494F6533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6197E-03EC-4691-9551-E2D0B15C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6B98D-A8FC-4BF4-AEED-4342398A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Antes y después de una sola acción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DFC09-EE5A-43CA-B451-431AAE16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Un hombre de 62 años mueve su propia figura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A8479-E2BD-4B7A-BB2A-296EF718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857750" cy="352425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1656469224a6d"/>
          <a:srcRect xmlns:a="http://schemas.openxmlformats.org/drawingml/2006/main" l="10938" t="0" r="109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47625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59BD4-AC5C-4CAF-84A7-E7688F82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Antes: boca abajo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2723F-88E3-4730-B5C0-A8B14FD9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4857750" cy="352425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48b6ab671456e"/>
          <a:srcRect xmlns:a="http://schemas.openxmlformats.org/drawingml/2006/main" l="10938" t="0" r="109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619250"/>
            <a:ext cx="4762500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54DF4-70A7-47ED-A4BF-BED94EAC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Después: de pie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33666-E803-4CA8-858D-5D737F71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095375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18A2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F925F-3DC7-49A3-A8C4-37CCD29F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LEVANTAR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ABB92-A939-40D5-9F01-4703F5D7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CBA78-AEAD-49C6-A0D0-0545148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00700"/>
            <a:ext cx="701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72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“Ya está listo, ya estoy listo.”</a:t>
            </a:r>
          </a:p>
        </p:txBody>
      </p:sp>
    </p:spTree>
    <p:extLst>
      <p:ext uri="{BB962C8B-B14F-4D97-AF65-F5344CB8AC3E}">
        <p14:creationId xmlns:p14="http://schemas.microsoft.com/office/powerpoint/2010/main" val="17524097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9037A-F99F-4E49-BC58-57FEB4CA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PUENTE TEÓRICO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A09E3-5DFF-479E-ABBA-A455890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282CF-F85C-48CB-A1B6-834FEDB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A3B56-D2E1-47E6-82C8-7CCD2261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El gesto también hace trabajo cognitivo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FACC6-29F0-4D99-A1A5-D70B4609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Mover las manos no es solo acompañar una idea: puede ayudar a sostenerla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40B40-8620-490D-B39D-99CE9FE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095750" cy="2857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81ABB-57DB-498C-9269-DAE7CC19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HALLAZGO CITADO EN EL GUION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C5100-88D6-4F12-8964-B78F8D38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Goldin-Meadow, Nusbaum, Kelly y Wagner</a:t>
            </a:r>
          </a:p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(2001, Psychological Science)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6D08D-A9BD-40F5-9DA3-33CDE82E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En tareas de explicación y memoria, el gesto se relacionó con una menor carga de procesamiento. El guion lo usa como puente para comprender el movimiento de la figura.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F90E7-3A24-4C99-A625-BA9FAAC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MOVIMIENTO → ORGANIZACIÓN → DECISIÓN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3AEA7-23BB-463C-861B-C6DC3F57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99760-8D5B-4F58-A516-1D403EE9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48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La figura cae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FAA1C-B8CC-47CA-AE62-5134E8B1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0FA6A-87D1-4182-9E22-5247EE4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052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La mano la levanta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3B9F6-61A0-408E-B45E-1F33C88F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CCB68-4CE2-4956-8C8C-F0624B34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El cuerpo verifica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094DD-52A6-4ABE-8B60-BD53C000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87630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7F686-7E4D-449B-A691-CBE01BF9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80010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12FCF-E805-44C9-9864-099E38C4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340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8CE78-5C54-4EB2-A2F3-0E4109D4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14950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“Tú mismo eres la autoridad que puede levantarte.”</a:t>
            </a:r>
          </a:p>
        </p:txBody>
      </p:sp>
    </p:spTree>
    <p:extLst>
      <p:ext uri="{BB962C8B-B14F-4D97-AF65-F5344CB8AC3E}">
        <p14:creationId xmlns:p14="http://schemas.microsoft.com/office/powerpoint/2010/main" val="11103273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05F73-6373-47EA-9949-6F7E6BD1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3 · FRASE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3D7C7-5C95-4D58-BD00-73C6A9CE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9EEFE-4A15-4E2A-9526-5591486B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3A7EF-8B8A-4CEB-8BC5-15DBD150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frase que devuelve autoridad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9081D-4AE7-43F4-8617-C0144984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intervención acompaña el movimiento sin apropiarse de la decisión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6E879-2320-423E-8EA9-5772AB9A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figura se levanta porque el consultante la mueve.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9F2E8-5BB1-4940-AE3E-CD7715E4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D21F2-7BDD-4CEE-A3EF-195260A9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9105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22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“Tú mismo eres la autoridad en esto, no soy yo.”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27293-8C89-4EA2-A903-29E91FD8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4C755-928A-4187-9608-52CE5584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frase hace tres cosas: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B6AA5-6AA1-4209-83B9-693246DB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rPr>
              <a:t>Devuelve agencia a la persona</a:t>
            </a:r>
          </a:p>
          <a:p xmlns:a="http://schemas.openxmlformats.org/drawingml/2006/main">
            <a:pPr algn="l">
              <a:def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rPr>
              <a:t>Nombra lo que ya ocurrió</a:t>
            </a:r>
          </a:p>
          <a:p xmlns:a="http://schemas.openxmlformats.org/drawingml/2006/main">
            <a:pPr algn="l">
              <a:def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rPr>
              <a:t>Deja la decisión en sus manos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63AD3-7139-47FC-9BF7-2D65A1EF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Frase terapéutica fuera del layout: se proyecta como texto, no se fuerza dentro de una escena.</a:t>
            </a:r>
          </a:p>
        </p:txBody>
      </p:sp>
    </p:spTree>
    <p:extLst>
      <p:ext uri="{BB962C8B-B14F-4D97-AF65-F5344CB8AC3E}">
        <p14:creationId xmlns:p14="http://schemas.microsoft.com/office/powerpoint/2010/main" val="9980388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63CFE-E64E-42FF-A7AB-A413730E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SÍNTESIS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FD0CE-7564-4EBC-B268-77A3F341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62151-E3C7-479C-97B3-A2A8F93E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83787-0534-46EE-8A7B-7CB4514E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Saber mirar antes de explicar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DD5DD-F049-4355-8BA0-2DDD6936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Los tres casos sostienen la misma disciplina clínica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955D7-4AF7-4510-80E3-3B722B78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imagen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B3499-93A0-4794-BE7B-92292ED7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24075"/>
            <a:ext cx="10477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7A7D9-24FB-4F56-95BE-A830FF9C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335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muestra una relación o una postura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167A0-FA83-4A8B-9829-6AAD20FD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rPr>
              <a:t>La pregunta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D5896-832F-4E4E-8EF5-446AE37B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67075"/>
            <a:ext cx="10477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AE272-59C0-4614-9E7C-7B173547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765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deja que la persona describa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A233C-2ED8-4F5C-BA7D-6A720E51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La teoría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17639-EA9D-490A-9C72-3B6B8156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0075"/>
            <a:ext cx="10477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041EE-3AC6-48CA-B8F7-46ADA0B8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95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ordena sin reemplazar la experiencia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70AD2-2A10-40E6-A21D-DEDA3DD9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97155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A32F2-7DC2-4311-99E4-32D44938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626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La herramienta abre un diálogo. La historia clínica sigue siendo indispensable.</a:t>
            </a:r>
          </a:p>
        </p:txBody>
      </p:sp>
    </p:spTree>
    <p:extLst>
      <p:ext uri="{BB962C8B-B14F-4D97-AF65-F5344CB8AC3E}">
        <p14:creationId xmlns:p14="http://schemas.microsoft.com/office/powerpoint/2010/main" val="6145399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722F46-CBC7-4FFE-AA42-A0C63681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SÍNTESIS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F7556-1235-4463-84D1-B60137B9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0F3C4-2C47-4A7C-A740-66FEF047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D7031-5DAA-470D-B6FD-B6D895CF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secuencia de intervención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2FCEC-588B-4D1B-8EC9-DBBF90D0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Un protocolo visual breve para sostener la conversación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C033A-2810-47BC-95CF-F5C4A786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98EB9-2384-4BD7-A8FD-27E1E10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95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8459E-7E44-42BC-BDA3-C5B93C0A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Colocar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ACA24-40DB-4ED2-B6CF-560909A6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Quién y dónde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046CE-4A65-4151-A3DC-23068BA6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0B5FE-5268-4373-9BCC-78A73A6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95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9D716-3DC5-4253-BAD1-2CDA2619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Observar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DC6E4-5FC7-4457-9A24-26D1DAA4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destaca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224AE-A353-42A9-B080-FDB0ACC6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68F7D-7B04-47A4-BD48-75B37556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95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57179-4768-4D3F-B00A-E600C221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Preguntar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EAB32-A7E8-49E6-87FD-0D6C68C0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siente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83344-D7C5-40B5-8E4E-A00335B2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9525">
            <a:solidFill>
              <a:srgbClr val="62796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EBC9D-7381-4D3D-A839-EFD6119F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CAB17-69A7-45CD-941D-C78C9D3A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Profundizar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4B23A-AA44-43AC-828C-E0A4B565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De dónde surge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A872B6-8A29-44CC-AE11-5603C790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9525">
            <a:solidFill>
              <a:srgbClr val="62796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B9BEF-FF2A-4BAC-A8A6-A8B44377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052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C28C7-0809-4F8A-92F0-5E7F7A6B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7DED7-DABF-46DB-9D3F-37E39C45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2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cambia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7C85B-BEB2-4BC8-8059-48F7A8DC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9525">
            <a:solidFill>
              <a:srgbClr val="62796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48B8F6-7029-4EF5-9BD6-E014E22C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052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B5649B-6DBE-44B6-B84F-DD4A27C2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Verificar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AB46BF-0C3E-46C1-8C5E-ADB6CCDB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reconoce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E583D7-EAD8-43D6-A732-7F386B85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secuencia es editable y puede convertirse en una diapositiva de apoyo durante Zoom.</a:t>
            </a:r>
          </a:p>
        </p:txBody>
      </p:sp>
    </p:spTree>
    <p:extLst>
      <p:ext uri="{BB962C8B-B14F-4D97-AF65-F5344CB8AC3E}">
        <p14:creationId xmlns:p14="http://schemas.microsoft.com/office/powerpoint/2010/main" val="4079713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6904F-B329-4C1A-9FED-D351591F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LÍMITES Y ENCUADRE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62772-5047-4CEF-930F-E992398A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E3B65-24F8-46FB-A984-982FF806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293EC-52ED-44B4-8C6C-76AF0903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Límites de uso y encuadre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12398-2CA8-4412-AB18-59AF5BFF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herramienta necesita condiciones de seguridad y criterio clínico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4FDFB-84DF-4083-974C-115D30B3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NO 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74295-393F-4748-A099-E25B36F5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 sustituto de la escucha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prueba diagnóstica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interpretación automática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0568A-0FB2-4830-9FD3-EFEE9D8A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REQUIERE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247B9-120E-45A7-B417-099FB54B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Encuadre claro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Historia y contexto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Capacidad de regulación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Criterio profesional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724EA-1F17-4D71-9145-980BB591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9906000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C9469-77F8-441F-B191-2024BB61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No usar como intervención improvisada en psicosis activa o descompensación, duelo agudo reciente, cuadros disociativos o crisis con riesgo.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E578F-4017-4CE0-9EBC-88CF305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Consulta el programa del taller para el encuadre completo.</a:t>
            </a:r>
          </a:p>
        </p:txBody>
      </p:sp>
    </p:spTree>
    <p:extLst>
      <p:ext uri="{BB962C8B-B14F-4D97-AF65-F5344CB8AC3E}">
        <p14:creationId xmlns:p14="http://schemas.microsoft.com/office/powerpoint/2010/main" val="16827826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FB4E4-1C8F-4AB6-A644-B6435068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B2FAF-1DCE-437F-A613-C1A95BB3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A65F8-D166-499D-B585-3AD01477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57F1F-F004-4710-8031-C0DE3FCE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Módulo 1 empieza mañana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5FFE5-D803-47A1-AA93-DAA8C405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práctica continúa con dos clases intensivas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129B5-7AC6-4986-AA66-B0F7E56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76250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52AEB-3372-4D97-AC69-A8CEB573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rPr>
              <a:t>MÓDULO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4803D-BC43-468E-87D9-1BBC978D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Los cuatro caminos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83A6F-8235-4C44-8556-A0990C13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rPr>
              <a:t>5 y 19 de septiembre</a:t>
            </a:r>
          </a:p>
          <a:p xmlns:a="http://schemas.openxmlformats.org/drawingml/2006/main">
            <a:pPr algn="ctr">
              <a:def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rPr>
              <a:t>10:00 a 18:00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4B08C-CAE2-46E1-83B1-ABADF2AD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Para terapeutas y profesionales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939A9-31E4-4E86-9442-4BE72D45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Trabajo práctico con figuras</a:t>
            </a:r>
          </a:p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Lectura de posiciones y relaciones</a:t>
            </a:r>
          </a:p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Preguntas que abren relato</a:t>
            </a:r>
          </a:p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Criterio de encuadre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8E1B9-C867-42E8-9500-CCE22E3F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9B40D-53E3-4489-ACF8-4E0852A4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imagen puede preceder a la explicación.</a:t>
            </a:r>
          </a:p>
        </p:txBody>
      </p:sp>
    </p:spTree>
    <p:extLst>
      <p:ext uri="{BB962C8B-B14F-4D97-AF65-F5344CB8AC3E}">
        <p14:creationId xmlns:p14="http://schemas.microsoft.com/office/powerpoint/2010/main" val="4496491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7832E-D016-437A-9635-747FE10E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PREGUNTAS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85D9F-5ECD-47CE-9B6B-BEBDC4DD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8B46E-F3A8-4632-A9DB-CDDAB675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2506B-B5B1-4FA8-B9D1-CE07E226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Preguntas y fuentes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D6B6D-AA50-4B5D-9890-F8CF3B8B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Abrimos conversación sobre el método, el encuadre y los casos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1781E-3BDE-4F8E-8539-DDFD2FF1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¿Qué parte de una escena te resultó más difícil de leer?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AEC64-90B8-4969-98AA-AC6E2FC9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FUENTES DEL GUIÓN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76415-DB78-485A-A5C8-B5D77BE8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238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Sesion_Comentada_Responsabilidad_Heredada.md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Transcripciones/Terapia_Munecos_Mod1_Cap1.json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Transcripciones/Terapia_Munecos_Mod1_Cap3.json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Guion_Teleprompter_Webinar3.md, bloque teórico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Programa_Taller_Dos_Clases.md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C3156-612D-4E8B-888A-2BFABFC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Moser et al. (2017), Scientific Reports 7:4519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Goldin-Meadow et al. (2001), Psychological Science 12(6)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Margaret Lowenfeld Trust, “The World Technique”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https://lowenfeld.org/the-world-technique/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00191-F19A-40F5-AE61-B5A80552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F95AF-96D3-4E0E-9CAE-CE453602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Gracias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35205-959D-4A87-8D7F-1425D34C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Dr. Miguel Ojeda Rios · Instituto Centrobioenergética</a:t>
            </a:r>
          </a:p>
        </p:txBody>
      </p:sp>
    </p:spTree>
    <p:extLst>
      <p:ext uri="{BB962C8B-B14F-4D97-AF65-F5344CB8AC3E}">
        <p14:creationId xmlns:p14="http://schemas.microsoft.com/office/powerpoint/2010/main" val="1012533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2026-09-04T22:42:00.8110000Z</dcterms:created>
  <dcterms:modified xsi:type="dcterms:W3CDTF">2026-09-04T22:42:00.8110000Z</dcterms:modified>
</coreProperties>
</file>